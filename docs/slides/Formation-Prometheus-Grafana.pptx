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Lst>
  <p:notesMasterIdLst>
    <p:notesMasterId r:id="rId9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notesMaster" Target="notesMasters/notesMaster1.xml"/><Relationship Id="rId100" Type="http://schemas.openxmlformats.org/officeDocument/2006/relationships/presProps" Target="presProps.xml"/><Relationship Id="rId101" Type="http://schemas.openxmlformats.org/officeDocument/2006/relationships/viewProps" Target="viewProps.xml"/><Relationship Id="rId102" Type="http://schemas.openxmlformats.org/officeDocument/2006/relationships/theme" Target="theme/theme1.xml"/><Relationship Id="rId10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projetée à l'arrivée des stagiaires. Ma stack tourne déjà depuis 30 minutes, Grafana ouvert sur le dashboard Boutique dans un autre onglet.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minutes, pas plus. Ce qui compte : la douleur des pannes m'a amené à l'observabilité, pas l'inverse.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note les pannes au paperboard. Trois questions de positionnement : pull vs push, série temporelle, bug infra vs applicatif.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promesse est concrète et mesurable : le war game de mercredi 17h la vérifie.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9h-17h30, déjeuner 12h30-14h, deux pauses. Jamais plus de 20 minutes sans clavier.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le dashboard Boutique tout vert, puis ./lab.sh chaos errors on. À la pause, il sera rouge : voilà ce qu'on saura construire mercredi.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Définition utilisable : un système est observable quand « pourquoi c'est lent ? » a une réponse en moins de cinq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les métriques d'abord : une métrique coûte quelques octets, un log des centaines. Et c'est sur les métriques qu'on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fondatrice : surveiller la machine ne suffit jamais. C'est pour ça que la boutique expose shop_orders_total et shop_revenue_euros_total.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push garde un cas d'usage : les jobs éphémères, via la Pushgateway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dessine au tableau dans cet ordre : cibles, serveur (scraper, stocker, évaluer), Alertmanager, Grafana, découverte de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concept le plus important de la journée. Je le fais reformuler par un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voiture : 150 000 km au compteur, est-ce que je roule vite ? rate() transforme les km en km/h. Histogram &gt; Summary en 2026 ; native histograms à l'horizon.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localhost:5001/metrics en vrai, puis Status → Target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Détail de la TSDB au jour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chose pour Grafana : Helm, Docker, dépôts Grafana Labs (à jour),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docker-compose.yml et je commente les flags de Prometheus : lifecycle, admin-api, remote-write-receiver, external-url.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passe dans les rangs. Erreurs classiques : port pris, Docker pas lancé, politique d'exécution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Trop vite = surcharge, trop lent = pics ratés. 15 s est le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je casse l'indentation, ./lab.sh check refuse, je répare, ./lab.sh reload, Status →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Chemins relatifs au dossier prometheus/ (monté dans /etc/prometheus). Erreur classique : chemin absolu de la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catalogue officiel en liste des centaines. Avant d'en écrire un, on vérifie. De plus en plus de logiciels exposent nativement.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montre localhost:9100/metrics : node_cpu_seconds_total, node_memory_MemAvailable_bytes, node_filesystem_avail_bytes.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localhost:9115/probe?module=http_2xx&amp;target=http://shop-api-1:5000/health → probe_success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La formule CPU est la requête la plus recopiée de l'histoire de Prometheus : j'y passe cinq minutes. Anecdote des sauvegardes fantômes.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J'ouvre apps/shop-api/app.py : les déclarations, le middleware after_request, la route checkout, le TODO du TP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du label customer_id : 15 millions de séries, 60 Go de RAM, redémarrages toutes les heures. Les données à forte cardinalité vont dans les logs et les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À la fin, prometheus.yml compte sept jobs. Le relabeling blackbox se décortique au tableau, règle par règle.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à l'oral, réponses au tableau. Je projette le corrigé de prometheus.yml et chacun compare avec le sien.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PromQL n'est pas SQL : pas de SELECT. On nomme, on filtre, on applique. Ça se lit de l'intérieur vers l'extérieur.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dans l'onglet Query, Table puis Graph, et l'onglet Explain de Prometheus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Seuls, dans Prometheus. Je projette le corrigé de deux exercices toutes les cinq minutes. Les rapides : codes HTTP distincts par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gèrent les remises à zéro. Fenêtre ≥ 4 × scrape_interval, [5m] en pratique, $__rate_interval dans Grafana. Démo rate vs irate avec ./lab.sh traffic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histogram_quantile avec et sans by (le) ; la jointure en Table pour voir arriver le label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L'erreur numéro un : oublier by (le) en 2.15. Vérifier que le chaos est remis à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déborde souvent sur 14h. Une règle non testée sonnera un dimanche pour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avant de construire : on ne fait jamais un panel à l'aveugle.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a changé en 13 : nouvelle édition, rows et tabs, éditeur de variables refait, restauration de dashboards supprimés, Git Sync en OSS, plugin image renderer retiré.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Visite guidée en cinq minutes : Connections, Explore, New dashboard, un panel, Save, Exit edit, le cadenas du dashboard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Le piège de l'étape 2 : diviser par count() sans scalar(). Le dashboard doit finir dans le dossier Formation (le TP 5 y fait un 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projette ce résultat au début du TP et je le laisse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minutes. Export : Model Classic pour le provisioning fichier, V2 Resource pour Git Sync et la nouvelle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Bonne pratique : un dossier par équipe, une team par équipe, la team Editor sur son dossier, dashboards provisionnés en lecture seule dans un dossier Officiel.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réponse honnête : 90 % des entreprises n'ont pas besoin d'Enterprise. On y va pour SAML/SCIM, un connecteur commercial ou les rapports.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soir : recording.yml rempli, TP 4 et TP 5 sauvegardés, tp5-boutique.json provisionné.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SRE : on alerte sur la douleur du client. Trois niveaux suffisent : critical (on réveille), warning (demain matin), info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 : localhost:9093, amtool config routes show, amtool config routes test severity=critical.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démarre le module en arrêtant shop-api-2 : pending, firing, notification dans l'Inbox, resolved au redémarrage.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minutes. Piège garanti : un intervalle 20:00 → 08:00 est refusé, il faut le couper à minuit. Même règle dans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à pas complet en annexe E du guide. Si j'ai un tenant de démo, je crée le flux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Pour tester sans attendre : POST /api/v2/alerts sur Alertmanager.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Grafana-managed (évalué par Grafana) vs Data source-managed (écrit dans Mimir/Loki). On reste sur Grafana-managed.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coexistent très bien. Ce qu'il ne faut pas faire : dupliquer la même alerte des deux côtés.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fichier de provisioning invalide empêche Grafana de démarrer : docker compose logs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tueur après la cardinalité : le churn, des séries qui changent de labels sans arrêt (pods qui redémarrent, label avec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minutes. Un snapshot = liens durs vers les blocs + le head : instantané. Ne jamais copier data/ à chaud sans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signaux : OOM et compactions → trop de séries. &gt; 30-60 jours → longue durée. Multi-sites → central. HA vraie → duo ou stockage distribué.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mode agent ou Alloy sur les sites distants remplace un Prometheus complet quand on ne veut rien stocker localement.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suite logique de cette formation : Loki et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chrono, par binôme. Puis débrief : qui a trouvé quoi avec quel outil, et ce qui manquait (redis_up, panneau par instance, lien vers les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Questionnaire de fin (annexe A), correction à l'oral tout de suite. Rappel du questionnaire de satisfaction Sparks.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A30">
              <a:alpha val="65000"/>
            </a:srgbClr>
          </a:solidFill>
          <a:ln w="12700">
            <a:solidFill>
              <a:srgbClr val="0A1A30">
                <a:alpha val="0"/>
              </a:srgbClr>
            </a:solidFill>
            <a:prstDash val="solid"/>
          </a:ln>
        </p:spPr>
      </p:sp>
      <p:sp>
        <p:nvSpPr>
          <p:cNvPr id="3" name="Shape 1"/>
          <p:cNvSpPr/>
          <p:nvPr/>
        </p:nvSpPr>
        <p:spPr>
          <a:xfrm>
            <a:off x="548640" y="365760"/>
            <a:ext cx="1828800" cy="804672"/>
          </a:xfrm>
          <a:prstGeom prst="roundRect">
            <a:avLst>
              <a:gd name="adj" fmla="val 6818"/>
            </a:avLst>
          </a:prstGeom>
          <a:solidFill>
            <a:srgbClr val="FFFFFF"/>
          </a:solidFill>
          <a:ln w="12700">
            <a:solidFill>
              <a:srgbClr val="FFFFFF"/>
            </a:solidFill>
            <a:prstDash val="solid"/>
          </a:ln>
        </p:spPr>
      </p:sp>
      <p:pic>
        <p:nvPicPr>
          <p:cNvPr id="4" name="Image 0" descr="/home/claude/formation-observabilite-lab/docs/assets/logo-sparks.png">    </p:cNvPr>
          <p:cNvPicPr>
            <a:picLocks noChangeAspect="1"/>
          </p:cNvPicPr>
          <p:nvPr/>
        </p:nvPicPr>
        <p:blipFill>
          <a:blip r:embed="rId2"/>
          <a:stretch>
            <a:fillRect/>
          </a:stretch>
        </p:blipFill>
        <p:spPr>
          <a:xfrm>
            <a:off x="640080" y="438912"/>
            <a:ext cx="1645920" cy="658368"/>
          </a:xfrm>
          <a:prstGeom prst="rect">
            <a:avLst/>
          </a:prstGeom>
        </p:spPr>
      </p:pic>
      <p:sp>
        <p:nvSpPr>
          <p:cNvPr id="5" name="Shape 2"/>
          <p:cNvSpPr/>
          <p:nvPr/>
        </p:nvSpPr>
        <p:spPr>
          <a:xfrm>
            <a:off x="7498080" y="365760"/>
            <a:ext cx="1188720" cy="868680"/>
          </a:xfrm>
          <a:prstGeom prst="roundRect">
            <a:avLst>
              <a:gd name="adj" fmla="val 6316"/>
            </a:avLst>
          </a:prstGeom>
          <a:solidFill>
            <a:srgbClr val="FFFFFF"/>
          </a:solidFill>
          <a:ln w="12700">
            <a:solidFill>
              <a:srgbClr val="FFFFFF"/>
            </a:solidFill>
            <a:prstDash val="solid"/>
          </a:ln>
        </p:spPr>
      </p:sp>
      <p:pic>
        <p:nvPicPr>
          <p:cNvPr id="6" name="Image 1" descr="/home/claude/formation-observabilite-lab/docs/assets/logo-ysycloud.png">    </p:cNvPr>
          <p:cNvPicPr>
            <a:picLocks noChangeAspect="1"/>
          </p:cNvPicPr>
          <p:nvPr/>
        </p:nvPicPr>
        <p:blipFill>
          <a:blip r:embed="rId3"/>
          <a:stretch>
            <a:fillRect/>
          </a:stretch>
        </p:blipFill>
        <p:spPr>
          <a:xfrm>
            <a:off x="7607808" y="429768"/>
            <a:ext cx="969264" cy="731520"/>
          </a:xfrm>
          <a:prstGeom prst="rect">
            <a:avLst/>
          </a:prstGeom>
        </p:spPr>
      </p:pic>
      <p:sp>
        <p:nvSpPr>
          <p:cNvPr id="7" name="Text 3"/>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300" b="1" spc="500" kern="0" dirty="0">
                <a:solidFill>
                  <a:srgbClr val="FFB48F"/>
                </a:solidFill>
                <a:latin typeface="Calibri" pitchFamily="34" charset="0"/>
                <a:ea typeface="Calibri" pitchFamily="34" charset="-122"/>
                <a:cs typeface="Calibri" pitchFamily="34" charset="-120"/>
              </a:rPr>
              <a:t>FORMATION · 3 JOURS</a:t>
            </a:r>
            <a:endParaRPr lang="en-US" sz="1300" dirty="0"/>
          </a:p>
        </p:txBody>
      </p:sp>
      <p:sp>
        <p:nvSpPr>
          <p:cNvPr id="8" name="Text 4"/>
          <p:cNvSpPr txBox="1"/>
          <p:nvPr/>
        </p:nvSpPr>
        <p:spPr>
          <a:xfrm>
            <a:off x="548640" y="2103120"/>
            <a:ext cx="804672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Prometheus &amp; Grafana</a:t>
            </a:r>
            <a:endParaRPr lang="en-US" sz="4600" dirty="0"/>
          </a:p>
        </p:txBody>
      </p:sp>
      <p:sp>
        <p:nvSpPr>
          <p:cNvPr id="9" name="Text 5"/>
          <p:cNvSpPr txBox="1"/>
          <p:nvPr/>
        </p:nvSpPr>
        <p:spPr>
          <a:xfrm>
            <a:off x="548640" y="3017520"/>
            <a:ext cx="7772400" cy="45720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 l'écran noir à la vision rayon X : collecter, comprendre, réagir</a:t>
            </a:r>
            <a:endParaRPr lang="en-US" sz="1800" dirty="0"/>
          </a:p>
        </p:txBody>
      </p:sp>
      <p:sp>
        <p:nvSpPr>
          <p:cNvPr id="10" name="Text 6"/>
          <p:cNvSpPr txBox="1"/>
          <p:nvPr/>
        </p:nvSpPr>
        <p:spPr>
          <a:xfrm>
            <a:off x="548640" y="4343400"/>
            <a:ext cx="7315200" cy="320040"/>
          </a:xfrm>
          <a:prstGeom prst="rect">
            <a:avLst/>
          </a:prstGeom>
          <a:noFill/>
          <a:ln/>
        </p:spPr>
        <p:txBody>
          <a:bodyPr wrap="square" lIns="0" tIns="0" rIns="0" bIns="0" rtlCol="0" anchor="ctr"/>
          <a:lstStyle/>
          <a:p>
            <a:pPr indent="0" marL="0">
              <a:buNone/>
            </a:pPr>
            <a:r>
              <a:rPr lang="en-US" sz="1200" dirty="0">
                <a:solidFill>
                  <a:srgbClr val="DBE6F3"/>
                </a:solidFill>
                <a:latin typeface="Calibri" pitchFamily="34" charset="0"/>
                <a:ea typeface="Calibri" pitchFamily="34" charset="-122"/>
                <a:cs typeface="Calibri" pitchFamily="34" charset="-120"/>
              </a:rPr>
              <a:t>Yohan Parent · Architecte cloud · Édition septembre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Votre formateur</a:t>
            </a:r>
            <a:endParaRPr lang="en-US" sz="2800" dirty="0"/>
          </a:p>
        </p:txBody>
      </p:sp>
      <p:pic>
        <p:nvPicPr>
          <p:cNvPr id="5" name="Image 0" descr="/home/claude/formation-observabilite-lab/docs/slides/yohan.jpg">    </p:cNvPr>
          <p:cNvPicPr>
            <a:picLocks noChangeAspect="1"/>
          </p:cNvPicPr>
          <p:nvPr/>
        </p:nvPicPr>
        <p:blipFill>
          <a:blip r:embed="rId1"/>
          <a:srcRect l="0" r="0" t="0" b="0"/>
          <a:stretch/>
        </p:blipFill>
        <p:spPr>
          <a:xfrm>
            <a:off x="457200" y="1234440"/>
            <a:ext cx="3108960" cy="2926080"/>
          </a:xfrm>
          <a:prstGeom prst="ellipse">
            <a:avLst/>
          </a:prstGeom>
        </p:spPr>
      </p:pic>
      <p:sp>
        <p:nvSpPr>
          <p:cNvPr id="6" name="Text 3"/>
          <p:cNvSpPr txBox="1"/>
          <p:nvPr/>
        </p:nvSpPr>
        <p:spPr>
          <a:xfrm>
            <a:off x="3931920" y="1280160"/>
            <a:ext cx="4754880" cy="457200"/>
          </a:xfrm>
          <a:prstGeom prst="rect">
            <a:avLst/>
          </a:prstGeom>
          <a:noFill/>
          <a:ln/>
        </p:spPr>
        <p:txBody>
          <a:bodyPr wrap="square" lIns="0" tIns="0" rIns="0" bIns="0" rtlCol="0" anchor="ctr"/>
          <a:lstStyle/>
          <a:p>
            <a:pPr indent="0" marL="0">
              <a:buNone/>
            </a:pPr>
            <a:r>
              <a:rPr lang="en-US" sz="2400" b="1" dirty="0">
                <a:solidFill>
                  <a:srgbClr val="0F2A4A"/>
                </a:solidFill>
                <a:latin typeface="Calibri" pitchFamily="34" charset="0"/>
                <a:ea typeface="Calibri" pitchFamily="34" charset="-122"/>
                <a:cs typeface="Calibri" pitchFamily="34" charset="-120"/>
              </a:rPr>
              <a:t>Yohan Parent</a:t>
            </a:r>
            <a:endParaRPr lang="en-US" sz="2400" dirty="0"/>
          </a:p>
        </p:txBody>
      </p:sp>
      <p:sp>
        <p:nvSpPr>
          <p:cNvPr id="7" name="Text 4"/>
          <p:cNvSpPr txBox="1"/>
          <p:nvPr/>
        </p:nvSpPr>
        <p:spPr>
          <a:xfrm>
            <a:off x="3931920" y="1828800"/>
            <a:ext cx="47548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Architecte cloud, 15 ans d'infrastructure, DevOps, Kubernetes et IA</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Banque, santé (HDS), industrie, SecNumCloud, OIV</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Enseignant au CESI et à l'Université de Lorraine</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Certifié CKS (Kubernetes Security Specialist)</a:t>
            </a:r>
            <a:endParaRPr lang="en-US" sz="1400" dirty="0"/>
          </a:p>
          <a:p>
            <a:pPr marL="342900" indent="-342900">
              <a:spcAft>
                <a:spcPts val="800"/>
              </a:spcAft>
              <a:buSzPct val="100000"/>
              <a:buChar char="▪"/>
            </a:pPr>
            <a:r>
              <a:rPr lang="en-US" sz="1400" dirty="0">
                <a:solidFill>
                  <a:srgbClr val="1B1F2A"/>
                </a:solidFill>
                <a:latin typeface="Calibri" pitchFamily="34" charset="0"/>
                <a:ea typeface="Calibri" pitchFamily="34" charset="-122"/>
                <a:cs typeface="Calibri" pitchFamily="34" charset="-120"/>
              </a:rPr>
              <a:t>Et surtout : beaucoup de nuits devant des écrans noirs</a:t>
            </a:r>
            <a:endParaRPr lang="en-US" sz="1400" dirty="0"/>
          </a:p>
        </p:txBody>
      </p:sp>
      <p:sp>
        <p:nvSpPr>
          <p:cNvPr id="8" name="Text 5"/>
          <p:cNvSpPr txBox="1"/>
          <p:nvPr/>
        </p:nvSpPr>
        <p:spPr>
          <a:xfrm>
            <a:off x="3931920" y="4114800"/>
            <a:ext cx="4754880" cy="274320"/>
          </a:xfrm>
          <a:prstGeom prst="rect">
            <a:avLst/>
          </a:prstGeom>
          <a:noFill/>
          <a:ln/>
        </p:spPr>
        <p:txBody>
          <a:bodyPr wrap="square" lIns="0" tIns="0" rIns="0" bIns="0" rtlCol="0" anchor="ctr"/>
          <a:lstStyle/>
          <a:p>
            <a:pPr indent="0" marL="0">
              <a:buNone/>
            </a:pPr>
            <a:r>
              <a:rPr lang="en-US" sz="1200" dirty="0">
                <a:solidFill>
                  <a:srgbClr val="F15A22"/>
                </a:solidFill>
                <a:latin typeface="Calibri" pitchFamily="34" charset="0"/>
                <a:ea typeface="Calibri" pitchFamily="34" charset="-122"/>
                <a:cs typeface="Calibri" pitchFamily="34" charset="-120"/>
              </a:rPr>
              <a:t>linkedin.com/in/yohan-parent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Faisons connaissance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Qui êtes-vous ?</a:t>
            </a:r>
            <a:endParaRPr lang="en-US" sz="1600" dirty="0"/>
          </a:p>
        </p:txBody>
      </p:sp>
      <p:sp>
        <p:nvSpPr>
          <p:cNvPr id="9" name="Text 7"/>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Prénom, poste, équipe. Ce que vous surveillez aujourd'hui, et avec quoi (Zabbix, Centreon, Datadog, rien…).</a:t>
            </a:r>
            <a:endParaRPr lang="en-US" sz="1300" dirty="0"/>
          </a:p>
        </p:txBody>
      </p:sp>
      <p:sp>
        <p:nvSpPr>
          <p:cNvPr id="10" name="Shape 8"/>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11" name="Shape 9"/>
          <p:cNvSpPr/>
          <p:nvPr/>
        </p:nvSpPr>
        <p:spPr>
          <a:xfrm>
            <a:off x="34594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34594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39166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Votre pire panne</a:t>
            </a:r>
            <a:endParaRPr lang="en-US" sz="1600" dirty="0"/>
          </a:p>
        </p:txBody>
      </p:sp>
      <p:sp>
        <p:nvSpPr>
          <p:cNvPr id="14" name="Text 12"/>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moment où vous vous êtes senti le plus seul devant un écran noir. On s'en resservira toute la semaine.</a:t>
            </a:r>
            <a:endParaRPr lang="en-US" sz="1300" dirty="0"/>
          </a:p>
        </p:txBody>
      </p:sp>
      <p:sp>
        <p:nvSpPr>
          <p:cNvPr id="15" name="Shape 13"/>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6" name="Shape 14"/>
          <p:cNvSpPr/>
          <p:nvPr/>
        </p:nvSpPr>
        <p:spPr>
          <a:xfrm>
            <a:off x="6278880" y="14173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2788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6736080" y="1399032"/>
            <a:ext cx="17678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Vos attentes</a:t>
            </a:r>
            <a:endParaRPr lang="en-US" sz="1600" dirty="0"/>
          </a:p>
        </p:txBody>
      </p:sp>
      <p:sp>
        <p:nvSpPr>
          <p:cNvPr id="19" name="Text 17"/>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Ce que vous voulez savoir faire mercredi soir et qui vous manque aujourd'hui.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que je vous promets pour mercredi soir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Voir</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stack complète que vous aurez assemblée vous-même : machine, application, services tiers, sondes externes.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Comprendre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PromQL comme un réflexe, des tableaux de bord qui répondent à de vraies questions, versionnés dans Git.</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Réagir</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Diagnostiquer une panne de la boutique en moins de cinq minutes. Et avoir été prévenu par Teams avant le client.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Trois jours, un fil rouge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463040"/>
                <a:gridCol w="3383280"/>
                <a:gridCol w="3383280"/>
              </a:tblGrid>
              <a:tr h="68580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Matin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Après-midi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1 · Voir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Observabilité, architecture, installation, configuration, service discovery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Exporters, Node Exporter (TP 1), instrumentation et services tiers (TP 2)</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2 · Comprendre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PromQL de A à Z, 22 exercices, recording rules et tests (TP 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Grafana 13, dashboard serveur Linux (TP 4), dashboard boutique + as code (TP 5), 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68580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Jour 3 · Réagir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Alertes, Alertmanager (TP 6), Slack / PagerDuty / Teams / GitHub, alerte CPU → Teams (TP 7)</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Alerting Grafana (TP 8), performances, sauvegarde et remote write (TP 9), échelle, war game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lab : une boutique en ligne qu'on va casser</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Tout en conteneurs · Codespaces, macOS, Windows · rien à installer à part Docker</a:t>
            </a:r>
            <a:endParaRPr lang="en-US" sz="1400" dirty="0"/>
          </a:p>
        </p:txBody>
      </p:sp>
      <p:sp>
        <p:nvSpPr>
          <p:cNvPr id="6" name="Shape 4"/>
          <p:cNvSpPr/>
          <p:nvPr/>
        </p:nvSpPr>
        <p:spPr>
          <a:xfrm>
            <a:off x="457200" y="1600200"/>
            <a:ext cx="1554480" cy="640080"/>
          </a:xfrm>
          <a:prstGeom prst="roundRect">
            <a:avLst>
              <a:gd name="adj" fmla="val 11429"/>
            </a:avLst>
          </a:prstGeom>
          <a:solidFill>
            <a:srgbClr val="5B6270"/>
          </a:solidFill>
          <a:ln w="12700">
            <a:solidFill>
              <a:srgbClr val="5B6270"/>
            </a:solidFill>
            <a:prstDash val="solid"/>
          </a:ln>
        </p:spPr>
      </p:sp>
      <p:sp>
        <p:nvSpPr>
          <p:cNvPr id="7" name="Text 5"/>
          <p:cNvSpPr txBox="1"/>
          <p:nvPr/>
        </p:nvSpPr>
        <p:spPr>
          <a:xfrm>
            <a:off x="457200" y="1600200"/>
            <a:ext cx="1554480" cy="6400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traffic</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(clients simulés)</a:t>
            </a:r>
            <a:endParaRPr lang="en-US" sz="1100" dirty="0"/>
          </a:p>
        </p:txBody>
      </p:sp>
      <p:sp>
        <p:nvSpPr>
          <p:cNvPr id="8" name="Shape 6"/>
          <p:cNvSpPr/>
          <p:nvPr/>
        </p:nvSpPr>
        <p:spPr>
          <a:xfrm>
            <a:off x="2468880" y="1417320"/>
            <a:ext cx="1737360" cy="457200"/>
          </a:xfrm>
          <a:prstGeom prst="roundRect">
            <a:avLst>
              <a:gd name="adj" fmla="val 16000"/>
            </a:avLst>
          </a:prstGeom>
          <a:solidFill>
            <a:srgbClr val="163D6B"/>
          </a:solidFill>
          <a:ln w="12700">
            <a:solidFill>
              <a:srgbClr val="163D6B"/>
            </a:solidFill>
            <a:prstDash val="solid"/>
          </a:ln>
        </p:spPr>
      </p:sp>
      <p:sp>
        <p:nvSpPr>
          <p:cNvPr id="9" name="Text 7"/>
          <p:cNvSpPr txBox="1"/>
          <p:nvPr/>
        </p:nvSpPr>
        <p:spPr>
          <a:xfrm>
            <a:off x="2468880" y="141732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shop-api-1</a:t>
            </a:r>
            <a:endParaRPr lang="en-US" sz="1200" dirty="0"/>
          </a:p>
        </p:txBody>
      </p:sp>
      <p:sp>
        <p:nvSpPr>
          <p:cNvPr id="10" name="Shape 8"/>
          <p:cNvSpPr/>
          <p:nvPr/>
        </p:nvSpPr>
        <p:spPr>
          <a:xfrm>
            <a:off x="2468880" y="1965960"/>
            <a:ext cx="1737360" cy="457200"/>
          </a:xfrm>
          <a:prstGeom prst="roundRect">
            <a:avLst>
              <a:gd name="adj" fmla="val 16000"/>
            </a:avLst>
          </a:prstGeom>
          <a:solidFill>
            <a:srgbClr val="163D6B"/>
          </a:solidFill>
          <a:ln w="12700">
            <a:solidFill>
              <a:srgbClr val="163D6B"/>
            </a:solidFill>
            <a:prstDash val="solid"/>
          </a:ln>
        </p:spPr>
      </p:sp>
      <p:sp>
        <p:nvSpPr>
          <p:cNvPr id="11" name="Text 9"/>
          <p:cNvSpPr txBox="1"/>
          <p:nvPr/>
        </p:nvSpPr>
        <p:spPr>
          <a:xfrm>
            <a:off x="2468880" y="196596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shop-api-2</a:t>
            </a:r>
            <a:endParaRPr lang="en-US" sz="1200" dirty="0"/>
          </a:p>
        </p:txBody>
      </p:sp>
      <p:sp>
        <p:nvSpPr>
          <p:cNvPr id="12" name="Shape 10"/>
          <p:cNvSpPr/>
          <p:nvPr/>
        </p:nvSpPr>
        <p:spPr>
          <a:xfrm>
            <a:off x="2468880" y="2651760"/>
            <a:ext cx="1737360" cy="457200"/>
          </a:xfrm>
          <a:prstGeom prst="roundRect">
            <a:avLst>
              <a:gd name="adj" fmla="val 16000"/>
            </a:avLst>
          </a:prstGeom>
          <a:solidFill>
            <a:srgbClr val="4A6FA5"/>
          </a:solidFill>
          <a:ln w="12700">
            <a:solidFill>
              <a:srgbClr val="4A6FA5"/>
            </a:solidFill>
            <a:prstDash val="solid"/>
          </a:ln>
        </p:spPr>
      </p:sp>
      <p:sp>
        <p:nvSpPr>
          <p:cNvPr id="13" name="Text 11"/>
          <p:cNvSpPr txBox="1"/>
          <p:nvPr/>
        </p:nvSpPr>
        <p:spPr>
          <a:xfrm>
            <a:off x="2468880" y="265176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Redis + exporter</a:t>
            </a:r>
            <a:endParaRPr lang="en-US" sz="1200" dirty="0"/>
          </a:p>
        </p:txBody>
      </p:sp>
      <p:sp>
        <p:nvSpPr>
          <p:cNvPr id="14" name="Shape 12"/>
          <p:cNvSpPr/>
          <p:nvPr/>
        </p:nvSpPr>
        <p:spPr>
          <a:xfrm>
            <a:off x="2468880" y="3200400"/>
            <a:ext cx="1737360" cy="457200"/>
          </a:xfrm>
          <a:prstGeom prst="roundRect">
            <a:avLst>
              <a:gd name="adj" fmla="val 16000"/>
            </a:avLst>
          </a:prstGeom>
          <a:solidFill>
            <a:srgbClr val="4A6FA5"/>
          </a:solidFill>
          <a:ln w="12700">
            <a:solidFill>
              <a:srgbClr val="4A6FA5"/>
            </a:solidFill>
            <a:prstDash val="solid"/>
          </a:ln>
        </p:spPr>
      </p:sp>
      <p:sp>
        <p:nvSpPr>
          <p:cNvPr id="15" name="Text 13"/>
          <p:cNvSpPr txBox="1"/>
          <p:nvPr/>
        </p:nvSpPr>
        <p:spPr>
          <a:xfrm>
            <a:off x="2468880" y="3200400"/>
            <a:ext cx="1737360" cy="4572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Node Exporter</a:t>
            </a:r>
            <a:endParaRPr lang="en-US" sz="1200" dirty="0"/>
          </a:p>
        </p:txBody>
      </p:sp>
      <p:sp>
        <p:nvSpPr>
          <p:cNvPr id="16" name="Shape 14"/>
          <p:cNvSpPr/>
          <p:nvPr/>
        </p:nvSpPr>
        <p:spPr>
          <a:xfrm>
            <a:off x="2468880" y="3749040"/>
            <a:ext cx="1737360" cy="457200"/>
          </a:xfrm>
          <a:prstGeom prst="roundRect">
            <a:avLst>
              <a:gd name="adj" fmla="val 16000"/>
            </a:avLst>
          </a:prstGeom>
          <a:solidFill>
            <a:srgbClr val="4A6FA5"/>
          </a:solidFill>
          <a:ln w="12700">
            <a:solidFill>
              <a:srgbClr val="4A6FA5"/>
            </a:solidFill>
            <a:prstDash val="solid"/>
          </a:ln>
        </p:spPr>
      </p:sp>
      <p:sp>
        <p:nvSpPr>
          <p:cNvPr id="17" name="Text 15"/>
          <p:cNvSpPr txBox="1"/>
          <p:nvPr/>
        </p:nvSpPr>
        <p:spPr>
          <a:xfrm>
            <a:off x="2468880" y="3749040"/>
            <a:ext cx="1737360" cy="45720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Blackbox · Pushgateway</a:t>
            </a:r>
            <a:endParaRPr lang="en-US" sz="1000" dirty="0"/>
          </a:p>
        </p:txBody>
      </p:sp>
      <p:sp>
        <p:nvSpPr>
          <p:cNvPr id="18" name="Shape 16"/>
          <p:cNvSpPr/>
          <p:nvPr/>
        </p:nvSpPr>
        <p:spPr>
          <a:xfrm>
            <a:off x="4846320" y="2103120"/>
            <a:ext cx="1737360" cy="914400"/>
          </a:xfrm>
          <a:prstGeom prst="roundRect">
            <a:avLst>
              <a:gd name="adj" fmla="val 8000"/>
            </a:avLst>
          </a:prstGeom>
          <a:solidFill>
            <a:srgbClr val="F15A22"/>
          </a:solidFill>
          <a:ln w="12700">
            <a:solidFill>
              <a:srgbClr val="F15A22"/>
            </a:solidFill>
            <a:prstDash val="solid"/>
          </a:ln>
        </p:spPr>
      </p:sp>
      <p:sp>
        <p:nvSpPr>
          <p:cNvPr id="19" name="Text 17"/>
          <p:cNvSpPr txBox="1"/>
          <p:nvPr/>
        </p:nvSpPr>
        <p:spPr>
          <a:xfrm>
            <a:off x="4846320" y="2103120"/>
            <a:ext cx="1737360" cy="914400"/>
          </a:xfrm>
          <a:prstGeom prst="rect">
            <a:avLst/>
          </a:prstGeom>
          <a:noFill/>
          <a:ln/>
        </p:spPr>
        <p:txBody>
          <a:bodyPr wrap="square" lIns="635" tIns="635" rIns="635" bIns="635"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Prometheus</a:t>
            </a:r>
            <a:endParaRPr lang="en-US" sz="1500" dirty="0"/>
          </a:p>
        </p:txBody>
      </p:sp>
      <p:sp>
        <p:nvSpPr>
          <p:cNvPr id="20" name="Shape 18"/>
          <p:cNvSpPr/>
          <p:nvPr/>
        </p:nvSpPr>
        <p:spPr>
          <a:xfrm>
            <a:off x="7040880" y="1463040"/>
            <a:ext cx="1645920" cy="731520"/>
          </a:xfrm>
          <a:prstGeom prst="roundRect">
            <a:avLst>
              <a:gd name="adj" fmla="val 10000"/>
            </a:avLst>
          </a:prstGeom>
          <a:solidFill>
            <a:srgbClr val="0F2A4A"/>
          </a:solidFill>
          <a:ln w="12700">
            <a:solidFill>
              <a:srgbClr val="0F2A4A"/>
            </a:solidFill>
            <a:prstDash val="solid"/>
          </a:ln>
        </p:spPr>
      </p:sp>
      <p:sp>
        <p:nvSpPr>
          <p:cNvPr id="21" name="Text 19"/>
          <p:cNvSpPr txBox="1"/>
          <p:nvPr/>
        </p:nvSpPr>
        <p:spPr>
          <a:xfrm>
            <a:off x="7040880" y="1463040"/>
            <a:ext cx="164592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Grafana</a:t>
            </a:r>
            <a:endParaRPr lang="en-US" sz="1400" dirty="0"/>
          </a:p>
        </p:txBody>
      </p:sp>
      <p:sp>
        <p:nvSpPr>
          <p:cNvPr id="22" name="Shape 20"/>
          <p:cNvSpPr/>
          <p:nvPr/>
        </p:nvSpPr>
        <p:spPr>
          <a:xfrm>
            <a:off x="7040880" y="2651760"/>
            <a:ext cx="1645920" cy="731520"/>
          </a:xfrm>
          <a:prstGeom prst="roundRect">
            <a:avLst>
              <a:gd name="adj" fmla="val 10000"/>
            </a:avLst>
          </a:prstGeom>
          <a:solidFill>
            <a:srgbClr val="0F2A4A"/>
          </a:solidFill>
          <a:ln w="12700">
            <a:solidFill>
              <a:srgbClr val="0F2A4A"/>
            </a:solidFill>
            <a:prstDash val="solid"/>
          </a:ln>
        </p:spPr>
      </p:sp>
      <p:sp>
        <p:nvSpPr>
          <p:cNvPr id="23" name="Text 21"/>
          <p:cNvSpPr txBox="1"/>
          <p:nvPr/>
        </p:nvSpPr>
        <p:spPr>
          <a:xfrm>
            <a:off x="7040880" y="2651760"/>
            <a:ext cx="1645920" cy="731520"/>
          </a:xfrm>
          <a:prstGeom prst="rect">
            <a:avLst/>
          </a:prstGeom>
          <a:noFill/>
          <a:ln/>
        </p:spPr>
        <p:txBody>
          <a:bodyPr wrap="square" lIns="635" tIns="635" rIns="635" bIns="635"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p>
        </p:txBody>
      </p:sp>
      <p:sp>
        <p:nvSpPr>
          <p:cNvPr id="24" name="Shape 22"/>
          <p:cNvSpPr/>
          <p:nvPr/>
        </p:nvSpPr>
        <p:spPr>
          <a:xfrm>
            <a:off x="7040880" y="3749040"/>
            <a:ext cx="1645920" cy="548640"/>
          </a:xfrm>
          <a:prstGeom prst="roundRect">
            <a:avLst>
              <a:gd name="adj" fmla="val 13333"/>
            </a:avLst>
          </a:prstGeom>
          <a:solidFill>
            <a:srgbClr val="6264A7"/>
          </a:solidFill>
          <a:ln w="12700">
            <a:solidFill>
              <a:srgbClr val="6264A7"/>
            </a:solidFill>
            <a:prstDash val="solid"/>
          </a:ln>
        </p:spPr>
      </p:sp>
      <p:sp>
        <p:nvSpPr>
          <p:cNvPr id="25" name="Text 23"/>
          <p:cNvSpPr txBox="1"/>
          <p:nvPr/>
        </p:nvSpPr>
        <p:spPr>
          <a:xfrm>
            <a:off x="7040880" y="3749040"/>
            <a:ext cx="1645920" cy="54864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Inbox (Teams / Slack)</a:t>
            </a:r>
            <a:endParaRPr lang="en-US" sz="1000" dirty="0"/>
          </a:p>
        </p:txBody>
      </p:sp>
      <p:sp>
        <p:nvSpPr>
          <p:cNvPr id="26" name="Shape 24"/>
          <p:cNvSpPr/>
          <p:nvPr/>
        </p:nvSpPr>
        <p:spPr>
          <a:xfrm>
            <a:off x="2011680" y="1920240"/>
            <a:ext cx="457200" cy="-91440"/>
          </a:xfrm>
          <a:prstGeom prst="line">
            <a:avLst/>
          </a:prstGeom>
          <a:noFill/>
          <a:ln w="22225">
            <a:solidFill>
              <a:srgbClr val="5B6270"/>
            </a:solidFill>
            <a:prstDash val="solid"/>
            <a:tailEnd type="triangle"/>
          </a:ln>
        </p:spPr>
      </p:sp>
      <p:sp>
        <p:nvSpPr>
          <p:cNvPr id="27" name="Shape 25"/>
          <p:cNvSpPr/>
          <p:nvPr/>
        </p:nvSpPr>
        <p:spPr>
          <a:xfrm>
            <a:off x="4846320" y="2560320"/>
            <a:ext cx="-640080" cy="-868680"/>
          </a:xfrm>
          <a:prstGeom prst="line">
            <a:avLst/>
          </a:prstGeom>
          <a:noFill/>
          <a:ln w="22225">
            <a:solidFill>
              <a:srgbClr val="5B6270"/>
            </a:solidFill>
            <a:prstDash val="solid"/>
            <a:tailEnd type="triangle"/>
          </a:ln>
        </p:spPr>
      </p:sp>
      <p:sp>
        <p:nvSpPr>
          <p:cNvPr id="28" name="Shape 26"/>
          <p:cNvSpPr/>
          <p:nvPr/>
        </p:nvSpPr>
        <p:spPr>
          <a:xfrm>
            <a:off x="4846320" y="2606040"/>
            <a:ext cx="-640080" cy="-411480"/>
          </a:xfrm>
          <a:prstGeom prst="line">
            <a:avLst/>
          </a:prstGeom>
          <a:noFill/>
          <a:ln w="22225">
            <a:solidFill>
              <a:srgbClr val="5B6270"/>
            </a:solidFill>
            <a:prstDash val="solid"/>
            <a:tailEnd type="triangle"/>
          </a:ln>
        </p:spPr>
      </p:sp>
      <p:sp>
        <p:nvSpPr>
          <p:cNvPr id="29" name="Shape 27"/>
          <p:cNvSpPr/>
          <p:nvPr/>
        </p:nvSpPr>
        <p:spPr>
          <a:xfrm>
            <a:off x="4846320" y="2651760"/>
            <a:ext cx="-640080" cy="228600"/>
          </a:xfrm>
          <a:prstGeom prst="line">
            <a:avLst/>
          </a:prstGeom>
          <a:noFill/>
          <a:ln w="22225">
            <a:solidFill>
              <a:srgbClr val="5B6270"/>
            </a:solidFill>
            <a:prstDash val="solid"/>
            <a:tailEnd type="triangle"/>
          </a:ln>
        </p:spPr>
      </p:sp>
      <p:sp>
        <p:nvSpPr>
          <p:cNvPr id="30" name="Shape 28"/>
          <p:cNvSpPr/>
          <p:nvPr/>
        </p:nvSpPr>
        <p:spPr>
          <a:xfrm>
            <a:off x="4846320" y="2697480"/>
            <a:ext cx="-640080" cy="731520"/>
          </a:xfrm>
          <a:prstGeom prst="line">
            <a:avLst/>
          </a:prstGeom>
          <a:noFill/>
          <a:ln w="22225">
            <a:solidFill>
              <a:srgbClr val="5B6270"/>
            </a:solidFill>
            <a:prstDash val="solid"/>
            <a:tailEnd type="triangle"/>
          </a:ln>
        </p:spPr>
      </p:sp>
      <p:sp>
        <p:nvSpPr>
          <p:cNvPr id="31" name="Shape 29"/>
          <p:cNvSpPr/>
          <p:nvPr/>
        </p:nvSpPr>
        <p:spPr>
          <a:xfrm>
            <a:off x="4846320" y="2743200"/>
            <a:ext cx="-640080" cy="1234440"/>
          </a:xfrm>
          <a:prstGeom prst="line">
            <a:avLst/>
          </a:prstGeom>
          <a:noFill/>
          <a:ln w="22225">
            <a:solidFill>
              <a:srgbClr val="5B6270"/>
            </a:solidFill>
            <a:prstDash val="solid"/>
            <a:tailEnd type="triangle"/>
          </a:ln>
        </p:spPr>
      </p:sp>
      <p:sp>
        <p:nvSpPr>
          <p:cNvPr id="32" name="Shape 30"/>
          <p:cNvSpPr/>
          <p:nvPr/>
        </p:nvSpPr>
        <p:spPr>
          <a:xfrm>
            <a:off x="7040880" y="1828800"/>
            <a:ext cx="-457200" cy="548640"/>
          </a:xfrm>
          <a:prstGeom prst="line">
            <a:avLst/>
          </a:prstGeom>
          <a:noFill/>
          <a:ln w="22225">
            <a:solidFill>
              <a:srgbClr val="5B6270"/>
            </a:solidFill>
            <a:prstDash val="solid"/>
            <a:tailEnd type="triangle"/>
          </a:ln>
        </p:spPr>
      </p:sp>
      <p:sp>
        <p:nvSpPr>
          <p:cNvPr id="33" name="Shape 31"/>
          <p:cNvSpPr/>
          <p:nvPr/>
        </p:nvSpPr>
        <p:spPr>
          <a:xfrm>
            <a:off x="6583680" y="2743200"/>
            <a:ext cx="457200" cy="182880"/>
          </a:xfrm>
          <a:prstGeom prst="line">
            <a:avLst/>
          </a:prstGeom>
          <a:noFill/>
          <a:ln w="22225">
            <a:solidFill>
              <a:srgbClr val="5B6270"/>
            </a:solidFill>
            <a:prstDash val="solid"/>
            <a:tailEnd type="triangle"/>
          </a:ln>
        </p:spPr>
      </p:sp>
      <p:sp>
        <p:nvSpPr>
          <p:cNvPr id="34" name="Shape 32"/>
          <p:cNvSpPr/>
          <p:nvPr/>
        </p:nvSpPr>
        <p:spPr>
          <a:xfrm>
            <a:off x="7863840" y="3383280"/>
            <a:ext cx="0" cy="365760"/>
          </a:xfrm>
          <a:prstGeom prst="line">
            <a:avLst/>
          </a:prstGeom>
          <a:noFill/>
          <a:ln w="22225">
            <a:solidFill>
              <a:srgbClr val="5B6270"/>
            </a:solidFill>
            <a:prstDash val="solid"/>
            <a:tailEnd type="triangle"/>
          </a:ln>
        </p:spPr>
      </p:sp>
      <p:sp>
        <p:nvSpPr>
          <p:cNvPr id="35" name="Text 33"/>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rgbClr val="0F2A4A"/>
                </a:solidFill>
                <a:latin typeface="Courier New" pitchFamily="34" charset="0"/>
                <a:ea typeface="Courier New" pitchFamily="34" charset="-122"/>
                <a:cs typeface="Courier New" pitchFamily="34" charset="-120"/>
              </a:rPr>
              <a:t>lab.sh up · status · check · reload · test · chaos · traffic · batch · longterm · snapshot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Voir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Architecture et collecte : à 17h30, votre Prometheus collecte la machine, l'application et les services tiers.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Pourquoi l'observabilité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Monitoring, observabilité, les trois signaux, pull contre push.</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deux pilotes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Pilote A — monitoring</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voyant rouge « MOTEUR » s'allume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sait que c'est grave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ne sait pas pourquoi</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Il panique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Pilote B — observabilité</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écran : pression d'huile −40 %, vibration axe Z</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coupe le moteur concerné</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compense, il se pose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Notre métier : fabriquer l'écran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trois signaux</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Métriques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nombres horodatés. Quelques octets par point, agrégeables, parfaites pour les tendances et les alertes. Notre sujet pendant trois jours.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Logs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événements textuels. Riches, mais chers à stocker et à chercher. Loki côté Grafana.</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Traces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parcours d'une requête à travers les services. Indispensables en microservices. Tempo, OpenTelemetry.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Black Friday. Tous les voyants infra au vert.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Chiffre d'affaires de la journée : zéro.</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Un bug JavaScript sur le bouton « Payer ». Personne n'avait de métrique « commandes par minute ».</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Pull contre push</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 — l'ancien monde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agent envoie ses données au serveur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livreur de pizza : mille serveurs en panne = mille livreurs qui sonnent en même temps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monitoring tombe quand on en a besoin</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Pull — Prometheus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Prometheus va chercher (scrape) les métriques en HTTP, à intervalle fixe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 buffet à volonté : il se sert à son rythme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Une cible qui ne répond pas, c'est une information : up == 0</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Débogage au curl</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 peu d'histoire, vite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2012 — SoundCloud</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Inspiré de Borgmon (Google). Open source en 2015.</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2016 — CNCF</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Deuxième projet accueilli après Kubernetes. Gradué en 2018. Le standard de fait.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2024 — Prometheus 3</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UTF-8, OTLP natif, remote write 2.0, nouvelle interface. On travaille sur la 3.15 (sept. 2026).</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Né en 2014, fork de Kibana 3. N'importe quelle source, ne stocke rien. Version 13 depuis avril 2026, on utilise la 13.2.</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Architecture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composants, le modèle de données, les quatre types de métriques.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composants</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Un journaliste qui fait sa tournée toutes les 15 secondes, un rédacteur en chef, une maquette</a:t>
            </a:r>
            <a:endParaRPr lang="en-US" sz="1400" dirty="0"/>
          </a:p>
        </p:txBody>
      </p:sp>
      <p:sp>
        <p:nvSpPr>
          <p:cNvPr id="6" name="Shape 4"/>
          <p:cNvSpPr/>
          <p:nvPr/>
        </p:nvSpPr>
        <p:spPr>
          <a:xfrm>
            <a:off x="457200" y="2011680"/>
            <a:ext cx="1554480" cy="822960"/>
          </a:xfrm>
          <a:prstGeom prst="roundRect">
            <a:avLst>
              <a:gd name="adj" fmla="val 8889"/>
            </a:avLst>
          </a:prstGeom>
          <a:solidFill>
            <a:srgbClr val="4A6FA5"/>
          </a:solidFill>
          <a:ln w="12700">
            <a:solidFill>
              <a:srgbClr val="4A6FA5"/>
            </a:solidFill>
            <a:prstDash val="solid"/>
          </a:ln>
        </p:spPr>
      </p:sp>
      <p:sp>
        <p:nvSpPr>
          <p:cNvPr id="7" name="Text 5"/>
          <p:cNvSpPr txBox="1"/>
          <p:nvPr/>
        </p:nvSpPr>
        <p:spPr>
          <a:xfrm>
            <a:off x="457200" y="2011680"/>
            <a:ext cx="1554480" cy="82296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Cibles</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/metrics</a:t>
            </a:r>
            <a:endParaRPr lang="en-US" sz="1200" dirty="0"/>
          </a:p>
        </p:txBody>
      </p:sp>
      <p:sp>
        <p:nvSpPr>
          <p:cNvPr id="8" name="Shape 6"/>
          <p:cNvSpPr/>
          <p:nvPr/>
        </p:nvSpPr>
        <p:spPr>
          <a:xfrm>
            <a:off x="457200" y="3108960"/>
            <a:ext cx="1554480" cy="640080"/>
          </a:xfrm>
          <a:prstGeom prst="roundRect">
            <a:avLst>
              <a:gd name="adj" fmla="val 11429"/>
            </a:avLst>
          </a:prstGeom>
          <a:solidFill>
            <a:srgbClr val="5B6270"/>
          </a:solidFill>
          <a:ln w="12700">
            <a:solidFill>
              <a:srgbClr val="5B6270"/>
            </a:solidFill>
            <a:prstDash val="solid"/>
          </a:ln>
        </p:spPr>
      </p:sp>
      <p:sp>
        <p:nvSpPr>
          <p:cNvPr id="9" name="Text 7"/>
          <p:cNvSpPr txBox="1"/>
          <p:nvPr/>
        </p:nvSpPr>
        <p:spPr>
          <a:xfrm>
            <a:off x="457200" y="3108960"/>
            <a:ext cx="1554480" cy="6400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Service</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discovery</a:t>
            </a:r>
            <a:endParaRPr lang="en-US" sz="1100" dirty="0"/>
          </a:p>
        </p:txBody>
      </p:sp>
      <p:sp>
        <p:nvSpPr>
          <p:cNvPr id="10" name="Shape 8"/>
          <p:cNvSpPr/>
          <p:nvPr/>
        </p:nvSpPr>
        <p:spPr>
          <a:xfrm>
            <a:off x="2926080" y="1737360"/>
            <a:ext cx="2377440" cy="1463040"/>
          </a:xfrm>
          <a:prstGeom prst="roundRect">
            <a:avLst>
              <a:gd name="adj" fmla="val 5000"/>
            </a:avLst>
          </a:prstGeom>
          <a:solidFill>
            <a:srgbClr val="F15A22"/>
          </a:solidFill>
          <a:ln w="12700">
            <a:solidFill>
              <a:srgbClr val="F15A22"/>
            </a:solidFill>
            <a:prstDash val="solid"/>
          </a:ln>
        </p:spPr>
      </p:sp>
      <p:sp>
        <p:nvSpPr>
          <p:cNvPr id="11" name="Text 9"/>
          <p:cNvSpPr txBox="1"/>
          <p:nvPr/>
        </p:nvSpPr>
        <p:spPr>
          <a:xfrm>
            <a:off x="2926080" y="1737360"/>
            <a:ext cx="2377440" cy="146304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Prometheus</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scrape · TSDB · règles</a:t>
            </a:r>
            <a:endParaRPr lang="en-US" sz="1400" dirty="0"/>
          </a:p>
        </p:txBody>
      </p:sp>
      <p:sp>
        <p:nvSpPr>
          <p:cNvPr id="12" name="Shape 10"/>
          <p:cNvSpPr/>
          <p:nvPr/>
        </p:nvSpPr>
        <p:spPr>
          <a:xfrm>
            <a:off x="6309360" y="1554480"/>
            <a:ext cx="2194560" cy="731520"/>
          </a:xfrm>
          <a:prstGeom prst="roundRect">
            <a:avLst>
              <a:gd name="adj" fmla="val 10000"/>
            </a:avLst>
          </a:prstGeom>
          <a:solidFill>
            <a:srgbClr val="0F2A4A"/>
          </a:solidFill>
          <a:ln w="12700">
            <a:solidFill>
              <a:srgbClr val="0F2A4A"/>
            </a:solidFill>
            <a:prstDash val="solid"/>
          </a:ln>
        </p:spPr>
      </p:sp>
      <p:sp>
        <p:nvSpPr>
          <p:cNvPr id="13" name="Text 11"/>
          <p:cNvSpPr txBox="1"/>
          <p:nvPr/>
        </p:nvSpPr>
        <p:spPr>
          <a:xfrm>
            <a:off x="6309360" y="1554480"/>
            <a:ext cx="219456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Grafana</a:t>
            </a:r>
            <a:endParaRPr lang="en-US" sz="1400" dirty="0"/>
          </a:p>
        </p:txBody>
      </p:sp>
      <p:sp>
        <p:nvSpPr>
          <p:cNvPr id="14" name="Shape 12"/>
          <p:cNvSpPr/>
          <p:nvPr/>
        </p:nvSpPr>
        <p:spPr>
          <a:xfrm>
            <a:off x="6309360" y="2743200"/>
            <a:ext cx="2194560" cy="731520"/>
          </a:xfrm>
          <a:prstGeom prst="roundRect">
            <a:avLst>
              <a:gd name="adj" fmla="val 10000"/>
            </a:avLst>
          </a:prstGeom>
          <a:solidFill>
            <a:srgbClr val="0F2A4A"/>
          </a:solidFill>
          <a:ln w="12700">
            <a:solidFill>
              <a:srgbClr val="0F2A4A"/>
            </a:solidFill>
            <a:prstDash val="solid"/>
          </a:ln>
        </p:spPr>
      </p:sp>
      <p:sp>
        <p:nvSpPr>
          <p:cNvPr id="15" name="Text 13"/>
          <p:cNvSpPr txBox="1"/>
          <p:nvPr/>
        </p:nvSpPr>
        <p:spPr>
          <a:xfrm>
            <a:off x="6309360" y="2743200"/>
            <a:ext cx="2194560" cy="73152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Alertmanager</a:t>
            </a:r>
            <a:endParaRPr lang="en-US" sz="1400" dirty="0"/>
          </a:p>
        </p:txBody>
      </p:sp>
      <p:sp>
        <p:nvSpPr>
          <p:cNvPr id="16" name="Shape 14"/>
          <p:cNvSpPr/>
          <p:nvPr/>
        </p:nvSpPr>
        <p:spPr>
          <a:xfrm>
            <a:off x="6309360" y="3749040"/>
            <a:ext cx="2194560" cy="548640"/>
          </a:xfrm>
          <a:prstGeom prst="roundRect">
            <a:avLst>
              <a:gd name="adj" fmla="val 13333"/>
            </a:avLst>
          </a:prstGeom>
          <a:solidFill>
            <a:srgbClr val="5B6270"/>
          </a:solidFill>
          <a:ln w="12700">
            <a:solidFill>
              <a:srgbClr val="5B6270"/>
            </a:solidFill>
            <a:prstDash val="solid"/>
          </a:ln>
        </p:spPr>
      </p:sp>
      <p:sp>
        <p:nvSpPr>
          <p:cNvPr id="17" name="Text 15"/>
          <p:cNvSpPr txBox="1"/>
          <p:nvPr/>
        </p:nvSpPr>
        <p:spPr>
          <a:xfrm>
            <a:off x="6309360" y="3749040"/>
            <a:ext cx="219456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Slack · Teams · PagerDuty</a:t>
            </a:r>
            <a:endParaRPr lang="en-US" sz="1100" dirty="0"/>
          </a:p>
        </p:txBody>
      </p:sp>
      <p:sp>
        <p:nvSpPr>
          <p:cNvPr id="18" name="Shape 16"/>
          <p:cNvSpPr/>
          <p:nvPr/>
        </p:nvSpPr>
        <p:spPr>
          <a:xfrm>
            <a:off x="2926080" y="2423160"/>
            <a:ext cx="-914400" cy="0"/>
          </a:xfrm>
          <a:prstGeom prst="line">
            <a:avLst/>
          </a:prstGeom>
          <a:noFill/>
          <a:ln w="22225">
            <a:solidFill>
              <a:srgbClr val="5B6270"/>
            </a:solidFill>
            <a:prstDash val="solid"/>
            <a:tailEnd type="triangle"/>
          </a:ln>
        </p:spPr>
      </p:sp>
      <p:sp>
        <p:nvSpPr>
          <p:cNvPr id="19" name="Shape 17"/>
          <p:cNvSpPr/>
          <p:nvPr/>
        </p:nvSpPr>
        <p:spPr>
          <a:xfrm>
            <a:off x="2011680" y="3429000"/>
            <a:ext cx="914400" cy="-502920"/>
          </a:xfrm>
          <a:prstGeom prst="line">
            <a:avLst/>
          </a:prstGeom>
          <a:noFill/>
          <a:ln w="22225">
            <a:solidFill>
              <a:srgbClr val="5B6270"/>
            </a:solidFill>
            <a:prstDash val="solid"/>
            <a:tailEnd type="triangle"/>
          </a:ln>
        </p:spPr>
      </p:sp>
      <p:sp>
        <p:nvSpPr>
          <p:cNvPr id="20" name="Shape 18"/>
          <p:cNvSpPr/>
          <p:nvPr/>
        </p:nvSpPr>
        <p:spPr>
          <a:xfrm>
            <a:off x="6309360" y="1920240"/>
            <a:ext cx="-1005840" cy="274320"/>
          </a:xfrm>
          <a:prstGeom prst="line">
            <a:avLst/>
          </a:prstGeom>
          <a:noFill/>
          <a:ln w="22225">
            <a:solidFill>
              <a:srgbClr val="5B6270"/>
            </a:solidFill>
            <a:prstDash val="solid"/>
            <a:tailEnd type="triangle"/>
          </a:ln>
        </p:spPr>
      </p:sp>
      <p:sp>
        <p:nvSpPr>
          <p:cNvPr id="21" name="Shape 19"/>
          <p:cNvSpPr/>
          <p:nvPr/>
        </p:nvSpPr>
        <p:spPr>
          <a:xfrm>
            <a:off x="5303520" y="2834640"/>
            <a:ext cx="1005840" cy="274320"/>
          </a:xfrm>
          <a:prstGeom prst="line">
            <a:avLst/>
          </a:prstGeom>
          <a:noFill/>
          <a:ln w="22225">
            <a:solidFill>
              <a:srgbClr val="5B6270"/>
            </a:solidFill>
            <a:prstDash val="solid"/>
            <a:tailEnd type="triangle"/>
          </a:ln>
        </p:spPr>
      </p:sp>
      <p:sp>
        <p:nvSpPr>
          <p:cNvPr id="22" name="Shape 20"/>
          <p:cNvSpPr/>
          <p:nvPr/>
        </p:nvSpPr>
        <p:spPr>
          <a:xfrm>
            <a:off x="7406640" y="3474720"/>
            <a:ext cx="0" cy="274320"/>
          </a:xfrm>
          <a:prstGeom prst="line">
            <a:avLst/>
          </a:prstGeom>
          <a:noFill/>
          <a:ln w="22225">
            <a:solidFill>
              <a:srgbClr val="5B6270"/>
            </a:solidFill>
            <a:prstDash val="solid"/>
            <a:tailEnd type="triangle"/>
          </a:ln>
        </p:spPr>
      </p:sp>
      <p:sp>
        <p:nvSpPr>
          <p:cNvPr id="23" name="Text 21"/>
          <p:cNvSpPr txBox="1"/>
          <p:nvPr/>
        </p:nvSpPr>
        <p:spPr>
          <a:xfrm>
            <a:off x="5394960" y="1691640"/>
            <a:ext cx="8229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PromQL</a:t>
            </a:r>
            <a:endParaRPr lang="en-US" sz="1000" dirty="0"/>
          </a:p>
        </p:txBody>
      </p:sp>
      <p:sp>
        <p:nvSpPr>
          <p:cNvPr id="24" name="Text 22"/>
          <p:cNvSpPr txBox="1"/>
          <p:nvPr/>
        </p:nvSpPr>
        <p:spPr>
          <a:xfrm>
            <a:off x="5394960" y="2971800"/>
            <a:ext cx="8229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alertes</a:t>
            </a:r>
            <a:endParaRPr lang="en-US" sz="1000" dirty="0"/>
          </a:p>
        </p:txBody>
      </p:sp>
      <p:sp>
        <p:nvSpPr>
          <p:cNvPr id="25" name="Text 23"/>
          <p:cNvSpPr txBox="1"/>
          <p:nvPr/>
        </p:nvSpPr>
        <p:spPr>
          <a:xfrm>
            <a:off x="2057400" y="1874520"/>
            <a:ext cx="868680" cy="457200"/>
          </a:xfrm>
          <a:prstGeom prst="rect">
            <a:avLst/>
          </a:prstGeom>
          <a:noFill/>
          <a:ln/>
        </p:spPr>
        <p:txBody>
          <a:bodyPr wrap="square" lIns="0" tIns="0" rIns="0" bIns="0" rtlCol="0" anchor="ctr"/>
          <a:lstStyle/>
          <a:p>
            <a:pPr indent="0" marL="0">
              <a:buNone/>
            </a:pPr>
            <a:r>
              <a:rPr lang="en-US" sz="900" dirty="0">
                <a:solidFill>
                  <a:srgbClr val="5B6270"/>
                </a:solidFill>
                <a:latin typeface="Calibri" pitchFamily="34" charset="0"/>
                <a:ea typeface="Calibri" pitchFamily="34" charset="-122"/>
                <a:cs typeface="Calibri" pitchFamily="34" charset="-120"/>
              </a:rPr>
              <a:t>pull HTTP</a:t>
            </a:r>
            <a:endParaRPr lang="en-US" sz="900" dirty="0"/>
          </a:p>
          <a:p>
            <a:pPr indent="0" marL="0">
              <a:buNone/>
            </a:pPr>
            <a:r>
              <a:rPr lang="en-US" sz="900" dirty="0">
                <a:solidFill>
                  <a:srgbClr val="5B6270"/>
                </a:solidFill>
                <a:latin typeface="Calibri" pitchFamily="34" charset="0"/>
                <a:ea typeface="Calibri" pitchFamily="34" charset="-122"/>
                <a:cs typeface="Calibri" pitchFamily="34" charset="-120"/>
              </a:rPr>
              <a:t>toutes les 15 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données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 route="/api/products", status="200"} 51</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métrique : http_requests_total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   : method, route, status   (les dimensions)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valeur   : 51                      (+ un timestamp en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Une série = un nom + un jeu de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Un échantillon = une valeur + un timestamp (ms).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Labels réservés : job, 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Internes : tout ce qui commence par __</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Chaque combinaison de valeurs de labels crée une série distincte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Puissant : on découpe par n'importe quelle dimension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Dangereux : la cardinalité (module 6)</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types</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2011680"/>
                <a:gridCol w="2194560"/>
                <a:gridCol w="2743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 fait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Exemples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qu'on en fait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Counter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Ne fait que monter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erreurs, commandes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rate(), increase() — jamais brut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Monte et descend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mémoire, stock, connexions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valeur brute, *_over_time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Compte par tranches (buckets)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tailles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histogram_quantile() → p95</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Summary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Quantiles côté client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latences (ancienne école)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lecture directe, non agrégeable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format d'exposition : du texte, lisible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HELP http_requests_total Nombre total de requêtes HTTP reçues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http_requests_total counter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http_requests_total{method="GET",route="/api/products",status="200"} 51.0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http_requests_total{method="POST",route="/api/checkout",status="201"} 17.0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TYPE http_request_duration_seconds histogram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http_request_duration_seconds_bucket{route="/api/checkout",le="0.1"} 12</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http_request_duration_seconds_bucket{route="/api/checkout",le="0.25"}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http_request_duration_seconds_bucket{route="/api/checkout",le="+Inf"} 17</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http_request_duration_seconds_sum{route="/api/checkout"} 1.83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http_request_duration_seconds_count{route="/api/checkout"} 17</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HELP, TYPE, puis une ligne par série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N'importe quel langage peut produire ça avec un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Les buckets sont cumulatifs : le="0.25" compte tout ce qui est sous 250 ms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 TSDB en deux mots</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Head (mémoire)</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échantillons arrivent dans un bloc en mémoire, journalisés dans le WAL pour survivre à un crash.</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Blocs (disque)</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Toutes les deux heures, un bloc immuable. Compression : 1 à 2 octets par échantillon. Rétention par défaut 15 jours.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Grafana</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Ne voit jamais les cibles. Il interroge Prometheus en PromQL. « No data » ? On teste la requête dans Prometheus d'abord.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Installation et prise en main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Comment on installe pour de vrai, et l'environnement du lab.</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Cinq façons d'installer Prometheus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103120"/>
                <a:gridCol w="2560320"/>
                <a:gridCol w="3566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Méthode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Quand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Note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Kubernetes + opérateur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Le cas majoritaire en production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kube-prometheus-stack, ServiceMonitor, PrometheusRule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 Docker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Labs, petits sites, notre cas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prom/prometheus:v3.15.0 + un YAML monté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Binaire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Pour comprendre</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Un exécutable Go, un YAML, un dossier data/</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Paquet distribution</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À éviter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Souvent plusieurs versions de retard</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Managé</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Quand on ne veut pas opérer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Grafana Cloud, AMP, GMP, Mimir/Thanos/VictoriaMetrics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fichiers et dossiers qui comptent</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prometheus.yml : la configuration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--storage.tsdb.path (data/) : la base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--storage.tsdb.retention.time (15d)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--web.enable-lifecycle : reload par HTTP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9090, pas d'authentification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grafana.ini ou variables GF_SECTION_CLE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/var/lib/grafana : grafana.db (SQLite), plugins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/etc/grafana/provisioning : datasources, dashboards, alerting en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Port 3000, compte admin</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1.1 à 1.4 — prise en main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Démarrer la stack, vérifier les conteneurs, compter les cibles UP</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Lire /metrics : un exemple de chaque type, les buckets, la version</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1.3</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L'interface : configuration, version, TSDB status, première requête</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Filtrer : par instance, par code d'erreur (regex), par méthode et route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Configuration de Prometheus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Lire et modifier prometheus.yml en sécurité.</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de prometheus.yml</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global: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scrape_interval: 15s      # le pouls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evaluation_interval: 15s  # rythme des règles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external_labels: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cluster: formation</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rule_files: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rules/*.yml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alerting: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alertmanagers: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["alertmanager:9093"]</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scrape_configs: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job_name: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static_configs: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targets: ["shop-api-1:5000", "shop-api-2:5000"]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env: formation</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blocs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 job = des cibles de même nature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job et instance ajoutés automatiquement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Fenêtre de rate() ≥ 4 × scrape_interval</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Valider, recharger, découvrir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prometheus.yml. Le nginx -t de Prometheus. Dans le lab : ./lab.sh check.</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Recharger à chaud</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curl -X POST /-/reload. Fichier invalide ? L'ancienne config reste, prometheus_config_last_reload_successful passe à 0.</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discovery</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Kubernetes, Consul, DNS, EC2/Azure/GCE, Docker… et file_sd : un fichier que n'importe quel script écrit, relu sans reload.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Relabeling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videur à l'entrée : relabel_configs avant le scrape (cibles), metric_relabel_configs après (séries). On jette avant que ça coûte.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1.5 à 1.8 — configuration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Passer shop-api à 5 s de scrape, vérifier, puis remettre 15 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1.6</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Casser la config, recharger sans valider, observer la métrique</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1.7</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Ajouter l'Inbox par file_sd sans toucher à la liste des jobs</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1.8</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jeter les métriques Go de l'exporter Redis (drop)</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Les exporters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L'adaptateur de prise universel.</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incontournables</a:t>
            </a:r>
            <a:endParaRPr 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926080"/>
                <a:gridCol w="384048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Pour quoi</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Port</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node_exporter / windows_exporter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Linux, Windows : CPU, mémoire, disque,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9100 / 9182</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blackbox_exporter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Sondes externes : HTTP, TCP, ICMP, DNS, TLS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9115</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cAdvisor, kube-state-metrics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Conteneurs, objets Kubernetes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8080</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postgres, mysqld, redis, mongodb</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Bases de données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9187, 9104, 9121, 9216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snmp_exporter</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Équipements réseau</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9116</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pushgateway</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Pas un exporter : un relais pour les batchs</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50" dirty="0">
                          <a:solidFill>
                            <a:srgbClr val="1B1F2A"/>
                          </a:solidFill>
                          <a:latin typeface="Calibri" pitchFamily="34" charset="0"/>
                          <a:ea typeface="Calibri" pitchFamily="34" charset="-122"/>
                          <a:cs typeface="Calibri" pitchFamily="34" charset="-120"/>
                        </a:rPr>
                        <a:t>9091</a:t>
                      </a:r>
                      <a:endParaRPr lang="en-US" sz="125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Node Exporter et le piège Docker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Node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soixantaine de collectors, une trentaine actifs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--collector.x / --no-collector.x</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textfile : des fichiers .prom déposés par n'importe quel script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La Pushgateway du pauvre, souvent préférable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Le piège Docker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Dans un conteneur nu, il voit le conteneur : 1 CPU, quelques Mo, un overlay</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Monter /proc, /sys, / en lecture seule + --path.*</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Sur Docker Desktop, « l'hôte » est la VM Linux</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En prod Linux : binaire ou paquet sur l'hôte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Blackbox et Pushgateway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Blackbox Exporter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Tous les autres disent « je vais bien » de l'intérieur</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Lui teste de l'extérieur, comme un client : 200 ? certificat ? port ouvert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 l'appelle sur /probe?module=…&amp;target=…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relabeling devient indispensable (TP 2)</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Pushgateway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Pour les jobs trop courts pour être scrapés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batch pousse, la gateway garde, Prometheus scrape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de TTL : elle n'oublie jamais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Uniquement pour des batchs, jamais pour des services</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1</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Node Exporter : de la machine à Prometheus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venez de recevoir un serveur. Avant d'y déployer quoi que ce soit, vous voulez ses signes vitaux dans Prometheus, et pouvoir y ajouter vos propres indicateurs avec un simple script.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Brancher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 job node dans prometheus.yml. Valider, recharger, node_uname_info.</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Indicateurs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mémoire %, disque %, charge, CPU % (la formule à comprendre). Chaos CPU.</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Collectors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Activer processes, désactiver arp, dans docker-compose.yml.</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Textfile</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backup.prom déposé par un script : quand a tourné la dernière sauvegarde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Vue globale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topk, réseau, Explore dans Grafana. Bonus : dashboard 1860.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Instrumenter son application</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Whitebox : mettre les sondes à l'intérieur.</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bibliothèque cliente, quatre objets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from prometheus_client import Counter, Gauge, Histogram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 = Counter("http_requests_total", "Requêtes HTTP",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["method", "route", "status"])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 = Histogram("http_request_duration_seconds", "Durée",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 buckets=(0.005, 0.01, 0.025,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0.1, 0.25, 0.5, 1, 2.5, 5, 10))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 = Counter("shop_orders_total", "Commandes", ["payment_method"])</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  = Gauge("shop_stock_units", "Stock", ["product"])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HTTP_REQUESTS.labels("POST", "/api/checkout", "201").inc()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HTTP_DURATION.labels(route="/api/checkout").observe(0.083)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ORDERS.labels(payment_method="card").inc()</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STOCK.labels(product="clavier").set(84)</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Go, Java/Micrometer, Python, Ruby, Rust officiels ; .NET, Node.js, PHP par la communauté</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Tout en mémoire dans le processus : d'où le compteur remis à zéro au redémarrage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 bibliothèque expose /metrics toute seule</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Nommer, découper, ne pas se tuer</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Nommage</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snake_case, préfixe du domaine (http_, shop_), unité de base en suffixe (_seconds, _bytes), _total pour les counters. Grafana convertit.</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RED et USE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Service : Rate, Errors, Duration. Ressource : Utilisation, Saturation, Errors. Les golden signals de Google SRE.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autorisés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method (5 valeurs), status (10), route en pattern (50). Bornés, stables.</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Labels interdits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user_id, session_id, request_id, IP, email, URL réelle, terme de recherche. Un million d'utilisateurs = un million de séries.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2</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Instrumentation et services tiers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savoir quelles fiches produit sont les plus consultées. L'infra veut surveiller Redis. Le support veut être prévenu si le site est inaccessible de l'extérieur. Et il y a ce batch nocturne…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shop_product_views_total dans le code, rebuild, topk.</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Redis</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 job redis, redis_up, commandes par seconde.</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Blackbox</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sondes HTTP et les trois règles de relabeling. up ne veut plus dire ce qu'on croit.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Batch</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./lab.sh batch, honor_labels: true, ancienneté de la sauvegarde.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Bonus</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Cardinalité : les dix métriques les plus lourdes, et 200 routes × 50 instances ?</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1</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Pull : résilience, up == 0, débogage au curl</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Counter ne se lit jamais brut : rate(), increase()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Une série = nom + labels ; la cardinalité est le seul vrai danger</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promtool check config avant chaque reload</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Exporter = adaptateur ; blackbox : c'est probe_success qui compte, pas up</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honor_labels: true pour la Pushgateway</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Ce soir : sept jobs UP, pas de ./lab.sh reset</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Comprendre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PromQL comme un réflexe le matin ; deux tableaux de bord complets, versionnés, l'après-midi.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7</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les fondations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Sélecteurs, types de résultats, opérateurs, agrégations.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Quatre types de résultats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Instant vector</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valeur par série, à un instant. up, http_requests_total{job="shop-api"}. C'est ce que Grafana dessine.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Range vector</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Pour chaque série, toutes les valeurs sur une fenêtre : http_requests_total[5m]. Ne se dessine pas, nourrit rate().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Scalar</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 nombre. 42, time(), scalar(…).</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String</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Rarissime. On l'oublie.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Sélecteurs et décalages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up{job="shop-api"}                     # égal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http_requests_total{route!="/metrics"}   # différent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http_requests_total{status=~"5.."}      # regex, ancrée : ^5..$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node_network_receive_bytes_total{device!~"lo|veth.*"}  # regex négative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{__name__=~"shop_.*"}                   # le nom est un label</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shop_cart_items offset 1h               # il y a une heure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rate(x[5m]) and rate(x[5m] offset 1d)   # aujourd'hui vs hier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http_requests_total @ end()             # figé sur la fin de la plage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Quatre matchers : = != =~ !~</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Regex ancrées : 5.. matche exactement trois caractères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offset et @ pour voyager dans le temps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Opérateurs et agrégations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node_memory_MemAvailable_bytes / node_memory_MemTotal_bytes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appariement sur labels identiques {instance, job}</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20          # filtre : ne renvoie que les séries sous 20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&lt; bool 20     # 0 ou 1 pour toutes les séries</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by (route) (rate(http_requests_total[5m]))    # une série par route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 without (instance) (…)                        # jette instance, garde le reste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                # un seul nombre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topk(3, shop_stock_units)   count(up)   avg   min   max   quantile(0.9, …)</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comparaison filtre : c'est la base des alertes (au moins une série renvoyée)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by : garder ces labels · without : jeter ceux-là</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tableau croisé dynamique de PromQL</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A — sélection et agrégation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Toutes les cibles, puis celles du job shop-api</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erreurs 4xx/5xx sans /metrics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range vector : combien de points, pourquoi pas de graphe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2.4</a:t>
            </a:r>
            <a:endParaRPr lang="en-US" sz="950" dirty="0"/>
          </a:p>
        </p:txBody>
      </p:sp>
      <p:sp>
        <p:nvSpPr>
          <p:cNvPr id="16" name="Text 14"/>
          <p:cNvSpPr txBox="1"/>
          <p:nvPr/>
        </p:nvSpPr>
        <p:spPr>
          <a:xfrm>
            <a:off x="96012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Mémoire disponible en %</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2.5</a:t>
            </a:r>
            <a:endParaRPr lang="en-US" sz="950" dirty="0"/>
          </a:p>
        </p:txBody>
      </p:sp>
      <p:sp>
        <p:nvSpPr>
          <p:cNvPr id="19" name="Text 17"/>
          <p:cNvSpPr txBox="1"/>
          <p:nvPr/>
        </p:nvSpPr>
        <p:spPr>
          <a:xfrm>
            <a:off x="96012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paniers il y a 10 min, et l'écart</a:t>
            </a:r>
            <a:endParaRPr lang="en-US" sz="1200" dirty="0"/>
          </a:p>
        </p:txBody>
      </p:sp>
      <p:sp>
        <p:nvSpPr>
          <p:cNvPr id="20" name="Shape 18"/>
          <p:cNvSpPr/>
          <p:nvPr/>
        </p:nvSpPr>
        <p:spPr>
          <a:xfrm>
            <a:off x="4663440" y="12801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2.6</a:t>
            </a:r>
            <a:endParaRPr lang="en-US" sz="950" dirty="0"/>
          </a:p>
        </p:txBody>
      </p:sp>
      <p:sp>
        <p:nvSpPr>
          <p:cNvPr id="22" name="Text 20"/>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Total de requêtes par instance : est-ce un débit ?</a:t>
            </a:r>
            <a:endParaRPr lang="en-US" sz="1200" dirty="0"/>
          </a:p>
        </p:txBody>
      </p:sp>
      <p:sp>
        <p:nvSpPr>
          <p:cNvPr id="23" name="Shape 21"/>
          <p:cNvSpPr/>
          <p:nvPr/>
        </p:nvSpPr>
        <p:spPr>
          <a:xfrm>
            <a:off x="4663440" y="1938528"/>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2.7</a:t>
            </a:r>
            <a:endParaRPr lang="en-US" sz="950" dirty="0"/>
          </a:p>
        </p:txBody>
      </p:sp>
      <p:sp>
        <p:nvSpPr>
          <p:cNvPr id="25" name="Text 23"/>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without : garder tout sauf method, status, route</a:t>
            </a:r>
            <a:endParaRPr lang="en-US" sz="1200" dirty="0"/>
          </a:p>
        </p:txBody>
      </p:sp>
      <p:sp>
        <p:nvSpPr>
          <p:cNvPr id="26" name="Shape 24"/>
          <p:cNvSpPr/>
          <p:nvPr/>
        </p:nvSpPr>
        <p:spPr>
          <a:xfrm>
            <a:off x="4663440" y="2596896"/>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a:t>
            </a:r>
            <a:endParaRPr lang="en-US" sz="950" dirty="0"/>
          </a:p>
        </p:txBody>
      </p:sp>
      <p:sp>
        <p:nvSpPr>
          <p:cNvPr id="28" name="Text 26"/>
          <p:cNvSpPr txBox="1"/>
          <p:nvPr/>
        </p:nvSpPr>
        <p:spPr>
          <a:xfrm>
            <a:off x="516636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topk / bottomk sur le stock (deux instances !)</a:t>
            </a:r>
            <a:endParaRPr lang="en-US" sz="1200" dirty="0"/>
          </a:p>
        </p:txBody>
      </p:sp>
      <p:sp>
        <p:nvSpPr>
          <p:cNvPr id="29" name="Shape 27"/>
          <p:cNvSpPr/>
          <p:nvPr/>
        </p:nvSpPr>
        <p:spPr>
          <a:xfrm>
            <a:off x="4663440" y="3255264"/>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2.9</a:t>
            </a:r>
            <a:endParaRPr lang="en-US" sz="950" dirty="0"/>
          </a:p>
        </p:txBody>
      </p:sp>
      <p:sp>
        <p:nvSpPr>
          <p:cNvPr id="31" name="Text 29"/>
          <p:cNvSpPr txBox="1"/>
          <p:nvPr/>
        </p:nvSpPr>
        <p:spPr>
          <a:xfrm>
            <a:off x="516636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Stock &lt; 60, puis en bool</a:t>
            </a:r>
            <a:endParaRPr lang="en-US" sz="1200" dirty="0"/>
          </a:p>
        </p:txBody>
      </p:sp>
      <p:sp>
        <p:nvSpPr>
          <p:cNvPr id="32" name="Shape 30"/>
          <p:cNvSpPr/>
          <p:nvPr/>
        </p:nvSpPr>
        <p:spPr>
          <a:xfrm>
            <a:off x="4663440" y="3913632"/>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2.10</a:t>
            </a:r>
            <a:endParaRPr lang="en-US" sz="950" dirty="0"/>
          </a:p>
        </p:txBody>
      </p:sp>
      <p:sp>
        <p:nvSpPr>
          <p:cNvPr id="34" name="Text 32"/>
          <p:cNvSpPr txBox="1"/>
          <p:nvPr/>
        </p:nvSpPr>
        <p:spPr>
          <a:xfrm>
            <a:off x="516636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Routes distinctes : deux agrégations imbriquées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8</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PromQL avancé</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rate et ses cousins, histogrammes, jointures, recording rules, requêtes lentes.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rate, irate, increase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rate(x[5m])</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moyenne par seconde sur 5 min. Lisse, robuste. LA fonction pour les graphiques et les alertes.</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irate(x[5m])</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Pente entre les deux derniers points. Réactif, nerveux. Graphiques haute résolution seulement, jamais une alerte.</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increase(x[1h])</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 combien le compteur a augmenté. rate × durée. Peut donner 5,53 commandes : round() si besoin.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taux d'erreur et le p95</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 Le ratio le plus écrit au monde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Piège : pas de 5xx jamais vue = numérateur VIDE, pas zéro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sum(rate(http_requests_total{status=~"5.."}[5m])) or vector(0)</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Le p95 : rate sur chaque bucket, sum EN GARDANT le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histogram_quantile(0.95,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(le) (rate(http_request_duration_seconds_bucket[5m])))</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Latence moyenne : vraie, jamais utile pour un SLO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rate(x_sum[5m]) / rate(x_count[5m])</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Sans by (le), la fonction ne peut plus rien faire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p95 est borné par la précision des buckets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Native histograms : un échantillon par série, buckets exponentiels, encore en feature flag</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Dans le temps, entre séries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max_over_time(shop_cart_items[1h])              # pic d'une gauge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predict_linear(node_filesystem_avail_bytes[6h], 86400) &lt; 0  # plein demain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changes(shop_chaos_mode[10m])   deriv(…)   avg_over_time(…)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max_over_time(rate(x[1m])[1h:1m])             # sous-requête : pic de débit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Jointure avec une info metric : récupérer version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shop_stock_units * on (instance) group_left(version) shop_app_info</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label_replace(up, "pod", "$1", "instance", "(.*):5000")</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absent(up{job="paiement"})                    # 1 si la série n'existe pas</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_over_time : les gauges dans le temps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Sous-requêtes : puissant, coûteux</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on / ignoring / group_left : quand les labels diffèrent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absent() : la seule façon d'alerter sur une disparition</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Recording rules et requêtes lentes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Recording rules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requête coûteuse ou réutilisée partout se pré-calcule toutes les 15 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Convention niveau:metrique:operations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job:http_requests:rate5m</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Dashboards instantanés, alertes simples, agrégé prêt pour le long terme</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Ce qui rend une requête lente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Séries touchées × points par série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Filtrer par job avant d'agréger, éviter les regex larges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Fenêtres courtes, sous-requêtes avec parcimonie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 Query inspector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Série B — taux, quantiles, jointures (40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2.11</a:t>
            </a:r>
            <a:endParaRPr lang="en-US" sz="950" dirty="0"/>
          </a:p>
        </p:txBody>
      </p:sp>
      <p:sp>
        <p:nvSpPr>
          <p:cNvPr id="7" name="Text 5"/>
          <p:cNvSpPr txBox="1"/>
          <p:nvPr/>
        </p:nvSpPr>
        <p:spPr>
          <a:xfrm>
            <a:off x="96012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Débit par route</a:t>
            </a:r>
            <a:endParaRPr lang="en-US" sz="1100" dirty="0"/>
          </a:p>
        </p:txBody>
      </p:sp>
      <p:sp>
        <p:nvSpPr>
          <p:cNvPr id="8" name="Shape 6"/>
          <p:cNvSpPr/>
          <p:nvPr/>
        </p:nvSpPr>
        <p:spPr>
          <a:xfrm>
            <a:off x="457200" y="1828800"/>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2.12</a:t>
            </a:r>
            <a:endParaRPr lang="en-US" sz="950" dirty="0"/>
          </a:p>
        </p:txBody>
      </p:sp>
      <p:sp>
        <p:nvSpPr>
          <p:cNvPr id="10" name="Text 8"/>
          <p:cNvSpPr txBox="1"/>
          <p:nvPr/>
        </p:nvSpPr>
        <p:spPr>
          <a:xfrm>
            <a:off x="96012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Commandes sur 1 h, par moyen de paiement</a:t>
            </a:r>
            <a:endParaRPr lang="en-US" sz="1100" dirty="0"/>
          </a:p>
        </p:txBody>
      </p:sp>
      <p:sp>
        <p:nvSpPr>
          <p:cNvPr id="11" name="Shape 9"/>
          <p:cNvSpPr/>
          <p:nvPr/>
        </p:nvSpPr>
        <p:spPr>
          <a:xfrm>
            <a:off x="457200" y="237744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2.13</a:t>
            </a:r>
            <a:endParaRPr lang="en-US" sz="950" dirty="0"/>
          </a:p>
        </p:txBody>
      </p:sp>
      <p:sp>
        <p:nvSpPr>
          <p:cNvPr id="13" name="Text 11"/>
          <p:cNvSpPr txBox="1"/>
          <p:nvPr/>
        </p:nvSpPr>
        <p:spPr>
          <a:xfrm>
            <a:off x="96012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Chiffre d'affaires par heure</a:t>
            </a:r>
            <a:endParaRPr lang="en-US" sz="1100" dirty="0"/>
          </a:p>
        </p:txBody>
      </p:sp>
      <p:sp>
        <p:nvSpPr>
          <p:cNvPr id="14" name="Shape 12"/>
          <p:cNvSpPr/>
          <p:nvPr/>
        </p:nvSpPr>
        <p:spPr>
          <a:xfrm>
            <a:off x="457200" y="292608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2.14</a:t>
            </a:r>
            <a:endParaRPr lang="en-US" sz="950" dirty="0"/>
          </a:p>
        </p:txBody>
      </p:sp>
      <p:sp>
        <p:nvSpPr>
          <p:cNvPr id="16" name="Text 14"/>
          <p:cNvSpPr txBox="1"/>
          <p:nvPr/>
        </p:nvSpPr>
        <p:spPr>
          <a:xfrm>
            <a:off x="96012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Taux d'erreur % + chaos errors</a:t>
            </a:r>
            <a:endParaRPr lang="en-US" sz="1100" dirty="0"/>
          </a:p>
        </p:txBody>
      </p:sp>
      <p:sp>
        <p:nvSpPr>
          <p:cNvPr id="17" name="Shape 15"/>
          <p:cNvSpPr/>
          <p:nvPr/>
        </p:nvSpPr>
        <p:spPr>
          <a:xfrm>
            <a:off x="457200" y="3474720"/>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2.15</a:t>
            </a:r>
            <a:endParaRPr lang="en-US" sz="950" dirty="0"/>
          </a:p>
        </p:txBody>
      </p:sp>
      <p:sp>
        <p:nvSpPr>
          <p:cNvPr id="19" name="Text 17"/>
          <p:cNvSpPr txBox="1"/>
          <p:nvPr/>
        </p:nvSpPr>
        <p:spPr>
          <a:xfrm>
            <a:off x="96012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p50 / p95 / p99, puis checkout seul</a:t>
            </a:r>
            <a:endParaRPr lang="en-US" sz="1100" dirty="0"/>
          </a:p>
        </p:txBody>
      </p:sp>
      <p:sp>
        <p:nvSpPr>
          <p:cNvPr id="20" name="Shape 18"/>
          <p:cNvSpPr/>
          <p:nvPr/>
        </p:nvSpPr>
        <p:spPr>
          <a:xfrm>
            <a:off x="457200" y="40233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5720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2.16</a:t>
            </a:r>
            <a:endParaRPr lang="en-US" sz="950" dirty="0"/>
          </a:p>
        </p:txBody>
      </p:sp>
      <p:sp>
        <p:nvSpPr>
          <p:cNvPr id="22" name="Text 20"/>
          <p:cNvSpPr txBox="1"/>
          <p:nvPr/>
        </p:nvSpPr>
        <p:spPr>
          <a:xfrm>
            <a:off x="96012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Latence moyenne vs p95</a:t>
            </a:r>
            <a:endParaRPr lang="en-US" sz="1100" dirty="0"/>
          </a:p>
        </p:txBody>
      </p:sp>
      <p:sp>
        <p:nvSpPr>
          <p:cNvPr id="23" name="Shape 21"/>
          <p:cNvSpPr/>
          <p:nvPr/>
        </p:nvSpPr>
        <p:spPr>
          <a:xfrm>
            <a:off x="4663440" y="1280160"/>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2.17</a:t>
            </a:r>
            <a:endParaRPr lang="en-US" sz="950" dirty="0"/>
          </a:p>
        </p:txBody>
      </p:sp>
      <p:sp>
        <p:nvSpPr>
          <p:cNvPr id="25" name="Text 23"/>
          <p:cNvSpPr txBox="1"/>
          <p:nvPr/>
        </p:nvSpPr>
        <p:spPr>
          <a:xfrm>
            <a:off x="5166360" y="12344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CPU % par instance, puis par mode</a:t>
            </a:r>
            <a:endParaRPr lang="en-US" sz="1100" dirty="0"/>
          </a:p>
        </p:txBody>
      </p:sp>
      <p:sp>
        <p:nvSpPr>
          <p:cNvPr id="26" name="Shape 24"/>
          <p:cNvSpPr/>
          <p:nvPr/>
        </p:nvSpPr>
        <p:spPr>
          <a:xfrm>
            <a:off x="4663440" y="1828800"/>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182880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2.18</a:t>
            </a:r>
            <a:endParaRPr lang="en-US" sz="950" dirty="0"/>
          </a:p>
        </p:txBody>
      </p:sp>
      <p:sp>
        <p:nvSpPr>
          <p:cNvPr id="28" name="Text 26"/>
          <p:cNvSpPr txBox="1"/>
          <p:nvPr/>
        </p:nvSpPr>
        <p:spPr>
          <a:xfrm>
            <a:off x="5166360" y="178308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Réseau entrant en bits/s</a:t>
            </a:r>
            <a:endParaRPr lang="en-US" sz="1100" dirty="0"/>
          </a:p>
        </p:txBody>
      </p:sp>
      <p:sp>
        <p:nvSpPr>
          <p:cNvPr id="29" name="Shape 27"/>
          <p:cNvSpPr/>
          <p:nvPr/>
        </p:nvSpPr>
        <p:spPr>
          <a:xfrm>
            <a:off x="4663440" y="2377440"/>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237744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2.19</a:t>
            </a:r>
            <a:endParaRPr lang="en-US" sz="950" dirty="0"/>
          </a:p>
        </p:txBody>
      </p:sp>
      <p:sp>
        <p:nvSpPr>
          <p:cNvPr id="31" name="Text 29"/>
          <p:cNvSpPr txBox="1"/>
          <p:nvPr/>
        </p:nvSpPr>
        <p:spPr>
          <a:xfrm>
            <a:off x="5166360" y="233172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Pics sur 1 h (sous-requête)</a:t>
            </a:r>
            <a:endParaRPr lang="en-US" sz="1100" dirty="0"/>
          </a:p>
        </p:txBody>
      </p:sp>
      <p:sp>
        <p:nvSpPr>
          <p:cNvPr id="32" name="Shape 30"/>
          <p:cNvSpPr/>
          <p:nvPr/>
        </p:nvSpPr>
        <p:spPr>
          <a:xfrm>
            <a:off x="4663440" y="2926080"/>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292608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2.20</a:t>
            </a:r>
            <a:endParaRPr lang="en-US" sz="950" dirty="0"/>
          </a:p>
        </p:txBody>
      </p:sp>
      <p:sp>
        <p:nvSpPr>
          <p:cNvPr id="34" name="Text 32"/>
          <p:cNvSpPr txBox="1"/>
          <p:nvPr/>
        </p:nvSpPr>
        <p:spPr>
          <a:xfrm>
            <a:off x="5166360" y="288036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Ajouter le label version (group_left)</a:t>
            </a:r>
            <a:endParaRPr lang="en-US" sz="1100" dirty="0"/>
          </a:p>
        </p:txBody>
      </p:sp>
      <p:sp>
        <p:nvSpPr>
          <p:cNvPr id="35" name="Shape 33"/>
          <p:cNvSpPr/>
          <p:nvPr/>
        </p:nvSpPr>
        <p:spPr>
          <a:xfrm>
            <a:off x="4663440" y="3474720"/>
            <a:ext cx="384048" cy="384048"/>
          </a:xfrm>
          <a:prstGeom prst="ellipse">
            <a:avLst/>
          </a:prstGeom>
          <a:solidFill>
            <a:srgbClr val="F15A22"/>
          </a:solidFill>
          <a:ln w="12700">
            <a:solidFill>
              <a:srgbClr val="F15A22"/>
            </a:solidFill>
            <a:prstDash val="solid"/>
          </a:ln>
        </p:spPr>
      </p:sp>
      <p:sp>
        <p:nvSpPr>
          <p:cNvPr id="36" name="Text 34"/>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2.21</a:t>
            </a:r>
            <a:endParaRPr lang="en-US" sz="950" dirty="0"/>
          </a:p>
        </p:txBody>
      </p:sp>
      <p:sp>
        <p:nvSpPr>
          <p:cNvPr id="37" name="Text 35"/>
          <p:cNvSpPr txBox="1"/>
          <p:nvPr/>
        </p:nvSpPr>
        <p:spPr>
          <a:xfrm>
            <a:off x="5166360" y="342900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Le job paiement existe-t-il ? absent()</a:t>
            </a:r>
            <a:endParaRPr lang="en-US" sz="1100" dirty="0"/>
          </a:p>
        </p:txBody>
      </p:sp>
      <p:sp>
        <p:nvSpPr>
          <p:cNvPr id="38" name="Shape 36"/>
          <p:cNvSpPr/>
          <p:nvPr/>
        </p:nvSpPr>
        <p:spPr>
          <a:xfrm>
            <a:off x="4663440" y="4023360"/>
            <a:ext cx="384048" cy="384048"/>
          </a:xfrm>
          <a:prstGeom prst="ellipse">
            <a:avLst/>
          </a:prstGeom>
          <a:solidFill>
            <a:srgbClr val="F15A22"/>
          </a:solidFill>
          <a:ln w="12700">
            <a:solidFill>
              <a:srgbClr val="F15A22"/>
            </a:solidFill>
            <a:prstDash val="solid"/>
          </a:ln>
        </p:spPr>
      </p:sp>
      <p:sp>
        <p:nvSpPr>
          <p:cNvPr id="39" name="Text 37"/>
          <p:cNvSpPr txBox="1"/>
          <p:nvPr/>
        </p:nvSpPr>
        <p:spPr>
          <a:xfrm>
            <a:off x="4663440" y="40233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2.22</a:t>
            </a:r>
            <a:endParaRPr lang="en-US" sz="950" dirty="0"/>
          </a:p>
        </p:txBody>
      </p:sp>
      <p:sp>
        <p:nvSpPr>
          <p:cNvPr id="40" name="Text 38"/>
          <p:cNvSpPr txBox="1"/>
          <p:nvPr/>
        </p:nvSpPr>
        <p:spPr>
          <a:xfrm>
            <a:off x="5166360" y="3977640"/>
            <a:ext cx="3520440" cy="502920"/>
          </a:xfrm>
          <a:prstGeom prst="rect">
            <a:avLst/>
          </a:prstGeom>
          <a:noFill/>
          <a:ln/>
        </p:spPr>
        <p:txBody>
          <a:bodyPr wrap="square" lIns="0" tIns="0" rIns="0" bIns="0" rtlCol="0" anchor="ctr"/>
          <a:lstStyle/>
          <a:p>
            <a:pPr indent="0" marL="0">
              <a:buNone/>
            </a:pPr>
            <a:r>
              <a:rPr lang="en-US" sz="1100" dirty="0">
                <a:solidFill>
                  <a:srgbClr val="1B1F2A"/>
                </a:solidFill>
                <a:latin typeface="Calibri" pitchFamily="34" charset="0"/>
                <a:ea typeface="Calibri" pitchFamily="34" charset="-122"/>
                <a:cs typeface="Calibri" pitchFamily="34" charset="-120"/>
              </a:rPr>
              <a:t>predict_linear : CA dans 1 h, disque plein quand ?</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3</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Recording rules et tests unitaires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Les panneaux débit, erreurs, p95 et CA par heure vont tourner sur un écran mural 24 h/24. On ne veut pas que Prometheus recalcule les histogrammes en permanence.</a:t>
            </a:r>
            <a:endParaRPr lang="en-US" sz="1500" dirty="0"/>
          </a:p>
        </p:txBody>
      </p:sp>
      <p:sp>
        <p:nvSpPr>
          <p:cNvPr id="7" name="Shape 5"/>
          <p:cNvSpPr/>
          <p:nvPr/>
        </p:nvSpPr>
        <p:spPr>
          <a:xfrm>
            <a:off x="457200" y="2377440"/>
            <a:ext cx="2621280" cy="2194560"/>
          </a:xfrm>
          <a:prstGeom prst="roundRect">
            <a:avLst>
              <a:gd name="adj" fmla="val 3333"/>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Écrire</a:t>
            </a:r>
            <a:endParaRPr lang="en-US" sz="1350" dirty="0"/>
          </a:p>
        </p:txBody>
      </p:sp>
      <p:sp>
        <p:nvSpPr>
          <p:cNvPr id="11" name="Text 9"/>
          <p:cNvSpPr txBox="1"/>
          <p:nvPr/>
        </p:nvSpPr>
        <p:spPr>
          <a:xfrm>
            <a:off x="64008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Sept règles dans recording.yml : débit, erreurs, p95, CA, CPU, mémoire. Ratios 0-1, pas de %.</a:t>
            </a:r>
            <a:endParaRPr lang="en-US" sz="1150" dirty="0"/>
          </a:p>
        </p:txBody>
      </p:sp>
      <p:sp>
        <p:nvSpPr>
          <p:cNvPr id="12" name="Shape 10"/>
          <p:cNvSpPr/>
          <p:nvPr/>
        </p:nvSpPr>
        <p:spPr>
          <a:xfrm>
            <a:off x="3261360" y="2377440"/>
            <a:ext cx="2621280" cy="2194560"/>
          </a:xfrm>
          <a:prstGeom prst="roundRect">
            <a:avLst>
              <a:gd name="adj" fmla="val 3333"/>
            </a:avLst>
          </a:prstGeom>
          <a:solidFill>
            <a:srgbClr val="163D6B"/>
          </a:solidFill>
          <a:ln w="12700">
            <a:solidFill>
              <a:srgbClr val="163D6B"/>
            </a:solidFill>
            <a:prstDash val="solid"/>
          </a:ln>
        </p:spPr>
      </p:sp>
      <p:sp>
        <p:nvSpPr>
          <p:cNvPr id="13" name="Shape 11"/>
          <p:cNvSpPr/>
          <p:nvPr/>
        </p:nvSpPr>
        <p:spPr>
          <a:xfrm>
            <a:off x="344424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34442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88315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Tester</a:t>
            </a:r>
            <a:endParaRPr lang="en-US" sz="1350" dirty="0"/>
          </a:p>
        </p:txBody>
      </p:sp>
      <p:sp>
        <p:nvSpPr>
          <p:cNvPr id="16" name="Text 14"/>
          <p:cNvSpPr txBox="1"/>
          <p:nvPr/>
        </p:nvSpPr>
        <p:spPr>
          <a:xfrm>
            <a:off x="344424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promtool test rules : une série 0+10x40, que vaut job:http_requests:rate5m à 5 min ?</a:t>
            </a:r>
            <a:endParaRPr lang="en-US" sz="1150" dirty="0"/>
          </a:p>
        </p:txBody>
      </p:sp>
      <p:sp>
        <p:nvSpPr>
          <p:cNvPr id="17" name="Shape 15"/>
          <p:cNvSpPr/>
          <p:nvPr/>
        </p:nvSpPr>
        <p:spPr>
          <a:xfrm>
            <a:off x="6065520" y="2377440"/>
            <a:ext cx="2621280" cy="2194560"/>
          </a:xfrm>
          <a:prstGeom prst="roundRect">
            <a:avLst>
              <a:gd name="adj" fmla="val 3333"/>
            </a:avLst>
          </a:prstGeom>
          <a:solidFill>
            <a:srgbClr val="163D6B"/>
          </a:solidFill>
          <a:ln w="12700">
            <a:solidFill>
              <a:srgbClr val="163D6B"/>
            </a:solidFill>
            <a:prstDash val="solid"/>
          </a:ln>
        </p:spPr>
      </p:sp>
      <p:sp>
        <p:nvSpPr>
          <p:cNvPr id="18" name="Shape 16"/>
          <p:cNvSpPr/>
          <p:nvPr/>
        </p:nvSpPr>
        <p:spPr>
          <a:xfrm>
            <a:off x="624840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62484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6687312" y="2542032"/>
            <a:ext cx="184404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Mesurer</a:t>
            </a:r>
            <a:endParaRPr lang="en-US" sz="1350" dirty="0"/>
          </a:p>
        </p:txBody>
      </p:sp>
      <p:sp>
        <p:nvSpPr>
          <p:cNvPr id="21" name="Text 19"/>
          <p:cNvSpPr txBox="1"/>
          <p:nvPr/>
        </p:nvSpPr>
        <p:spPr>
          <a:xfrm>
            <a:off x="6248400" y="3017520"/>
            <a:ext cx="225552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Query inspector, brute contre recording rule.</a:t>
            </a:r>
            <a:endParaRPr lang="en-US" sz="1150" dirty="0"/>
          </a:p>
        </p:txBody>
      </p:sp>
      <p:sp>
        <p:nvSpPr>
          <p:cNvPr id="22" name="Text 2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9</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Sous le capot, les quatre concepts, ce qui rend un dashboard lisible.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sous le capot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 serveur Go</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base SQLite (grafana.db) ou PostgreSQL. Il ne stocke que sa configuration : utilisateurs, sources, dashboards en JSON, règles. Pas une seule métrique.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Data source</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connexion. La nôtre est provisionnée par YAML : personne ne l'a cliquée.</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Panel</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Une requête + une visualisation + des options. Un panel répond à une question.</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Dashboard, folder</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Des panels, des variables, des annotations, des liens. Un dashboard répond à un besoin. Le dossier range et donne les droits.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Grafana 13 : dynamic dashboards</a:t>
            </a:r>
            <a:endParaRPr lang="en-US" sz="2800" dirty="0"/>
          </a:p>
        </p:txBody>
      </p:sp>
      <p:pic>
        <p:nvPicPr>
          <p:cNvPr id="5" name="Image 0" descr="/home/claude/formation-observabilite-lab/docs/formateur/img/grafana-nouveau-dashboard.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Barre latérale Add : Panel, Add row, Add tab, Variable, Annotation query, Link · Custom grid ou Auto grid</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L'éditeur de panel</a:t>
            </a:r>
            <a:endParaRPr lang="en-US" sz="2800" dirty="0"/>
          </a:p>
        </p:txBody>
      </p:sp>
      <p:pic>
        <p:nvPicPr>
          <p:cNvPr id="5" name="Image 0" descr="/home/claude/formation-observabilite-lab/docs/formateur/img/grafana-editeur-pane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Queries / Transformations en bas · Suggestions / All visualizations puis les options à droite</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Choisir la visualisation</a:t>
            </a:r>
            <a:endParaRPr lang="en-US" sz="2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5720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question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visualisation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évolue comment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series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vaut combien, là, maintenant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 (avec sparkline)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À quel niveau sur une échelle bornée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Comparer quelques valeurs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Bar 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liste à plusieurs colonnes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répartition (5 parts max)</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Pie chart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état dans le temps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State timeline, Status history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distribution qui évolue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Heatmap</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rend un dashboard lisible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unités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Jamais un 38491023 brut. bytes → 36,7 MiB, percentunit, reqps, currencyEUR.</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Seuils et couleurs</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Vert / orange / rouge cohérents sur tout le dashboard. Visibles sur Stat, Gauge, Table, Time series.</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Value mappings</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 → UP en vert, 0 → DOWN en rouge. Lisible par quelqu'un qui ne connaît pas Prometheus.</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Légende et ordre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{{route}} plutôt qu'un bloc de labels. En haut : « ça va ? ». En bas : le détail. 10-12 panels maximum.</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Variables, transformations, annotations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Variables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menu déroulant qui filtre tous les panels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 : label_values(node_uname_info,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Multi-valeur + All → =~ et non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Chaînées : $route dépend de $instance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$__rate_interval, $__range, $__interval</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Transformations et annotations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Merge, Organize fields, Sort by, Reduce, Filter, calculs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Indispensables pour les 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Annotation : un trait vertical sur tous les graphiques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changes(shop_chaos_mode[1m]) &gt; 0, ou POST /api/annotations depuis la CI</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4</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Un dashboard paramétrable pour un serveur Linux</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d'exploitation veut un écran par serveur : d'un coup d'œil, savoir s'il va bien ; en dessous, le détail. Le même dashboard pour tous les serveurs, avec une liste déroulante.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$instance multi-valeur avec All, utilisée dans toutes les requêtes.</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Global</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Uptime, CPU et mémoire en Gauge avec seuils, charge, cœurs.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CPU, mémoire</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Time series empilé par mode (scalar !), mémoire avec override.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Disque, réseau</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Bar gauge, Table avec Join by field + Organize + Sort, réseau rx/tx.</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Dispo</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State timeline avec value mappings, Stat coloré avec or vector(0).</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4 — le résultat attendu</a:t>
            </a:r>
            <a:endParaRPr lang="en-US" sz="2800" dirty="0"/>
          </a:p>
        </p:txBody>
      </p:sp>
      <p:pic>
        <p:nvPicPr>
          <p:cNvPr id="5" name="Image 0" descr="/home/claude/formation-observabilite-lab/docs/formateur/img/tp4-serveur-linux.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Dix panels, huit types de visualisation, une variable, des rows</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5</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puis dashboards as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veut le CA, les commandes, les paniers, les stocks. La technique veut débit, erreurs et latence filtrables par instance et par route. Tout le monde veut voir quand on a cassé quelque chose.</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CA/h en Stat, commandes, paniers, pie chart des paiements, stock en bar gauge LCD.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RED</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Débit empilé, taux d'erreur avec seuil, p50/p95/p99, heatmap des latences.</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Détail</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Table Top routes colorée, bar chart par code HTTP, version déployée.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Annotations</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Les bascules chaos annotées, lien vers le TP 4 et vers Prometheus.</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 code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Export as code (Classic, JSON) → grafana/dashboards/. Provisionné, cadenas.</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TP 5 — le résultat attendu</a:t>
            </a:r>
            <a:endParaRPr lang="en-US" sz="2800" dirty="0"/>
          </a:p>
        </p:txBody>
      </p:sp>
      <p:pic>
        <p:nvPicPr>
          <p:cNvPr id="5" name="Image 0" descr="/home/claude/formation-observabilite-lab/docs/formateur/img/tp5-boutiqu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Métier en haut, RED au milieu, détail en bas, deux bascules chaos annotées</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10</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Provisioning, utilisateurs, droits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Tout en fichiers, un modèle de droits propre, OSS ou Enterprise ?</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droits</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Organisation</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Cloisonnement total. Une par client chez un hébergeur, sinon une seule. Pas pour séparer des équipes.</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Utilisateurs et rôles</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Locaux ou OAuth / LDAP / SAML. Admin, Editor, Viewer, None par organisation. Le Server Admin à part.</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Teams et dossiers</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Les droits vont aux teams, pas aux personnes. View / Edit / Admin par dossier ou dashboard.</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Service accounts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Comptes techniques avec token, pour les scripts et la CI. Remplacent les API keys.</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OSS, Enterprise, Cloud</a:t>
            </a:r>
            <a:endParaRPr lang="en-US" sz="28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3291840"/>
                <a:gridCol w="2194560"/>
                <a:gridCol w="2743200"/>
              </a:tblGrid>
              <a:tr h="411480">
                <a:tc>
                  <a:txBody>
                    <a:bodyPr/>
                    <a:lstStyle/>
                    <a:p>
                      <a:pPr indent="0" marL="0">
                        <a:buNone/>
                      </a:pP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OSS (AGPL v3)</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Enterprise / Cloud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Dashboards, alerting, Explore, provisioning, Git Sync</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Sources de données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Toutes les open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Splunk, Datadog, ServiceNow, Oracle, SAP…</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Authentification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OAuth, LDAP, proxy</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SAML, SCIM, sync de teams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Droits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Rôles fixes, permissions dossiers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 RBAC fin, permissions par 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Rapports PDF, white-label, audit, query caching</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Non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Oui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Support, prix</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Communauté, gratuit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Contrat ; licence par utilisateur actif / à l'usage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2.30 à 2.33 — droits (20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2.30</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utilisatrice Viewer : que peut-elle faire ?</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2.31</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dossier Boutique, une team, Edit sur le dossier seulement</a:t>
            </a:r>
            <a:endParaRPr lang="en-US" sz="1200" dirty="0"/>
          </a:p>
        </p:txBody>
      </p:sp>
      <p:sp>
        <p:nvSpPr>
          <p:cNvPr id="11" name="Shape 9"/>
          <p:cNvSpPr/>
          <p:nvPr/>
        </p:nvSpPr>
        <p:spPr>
          <a:xfrm>
            <a:off x="4663440" y="1280160"/>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2.32</a:t>
            </a:r>
            <a:endParaRPr lang="en-US" sz="950" dirty="0"/>
          </a:p>
        </p:txBody>
      </p:sp>
      <p:sp>
        <p:nvSpPr>
          <p:cNvPr id="13" name="Text 11"/>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organisation : que voit-on dedans ?</a:t>
            </a:r>
            <a:endParaRPr lang="en-US" sz="1200" dirty="0"/>
          </a:p>
        </p:txBody>
      </p:sp>
      <p:sp>
        <p:nvSpPr>
          <p:cNvPr id="14" name="Shape 12"/>
          <p:cNvSpPr/>
          <p:nvPr/>
        </p:nvSpPr>
        <p:spPr>
          <a:xfrm>
            <a:off x="4663440" y="1938528"/>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2.33</a:t>
            </a:r>
            <a:endParaRPr lang="en-US" sz="950" dirty="0"/>
          </a:p>
        </p:txBody>
      </p:sp>
      <p:sp>
        <p:nvSpPr>
          <p:cNvPr id="16" name="Text 14"/>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Bonus : service account, token, curl, une annotation par l'API</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Récap du jour 2</a:t>
            </a:r>
            <a:endParaRPr lang="en-US" sz="2800" dirty="0"/>
          </a:p>
        </p:txBody>
      </p:sp>
      <p:sp>
        <p:nvSpPr>
          <p:cNvPr id="5" name="Text 3"/>
          <p:cNvSpPr txBox="1"/>
          <p:nvPr/>
        </p:nvSpPr>
        <p:spPr>
          <a:xfrm>
            <a:off x="457200" y="1188720"/>
            <a:ext cx="822960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rate() sur un counter, jamais brut ; fenêtre ≥ 4 × scrape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histogram_quantile a besoin de by (le)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$__rate_interval partout dans Grafana ; multi-valeur → =~</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Unités, seuils, value mappings : un dashboard lisible par le CEO</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Merge + Organize + Sort : la table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Un dashboard vit dans Git, provisionné ; uid fixe</a:t>
            </a:r>
            <a:endParaRPr lang="en-US" sz="1600" dirty="0"/>
          </a:p>
          <a:p>
            <a:pPr marL="342900" indent="-342900">
              <a:spcAft>
                <a:spcPts val="800"/>
              </a:spcAft>
              <a:buSzPct val="100000"/>
              <a:buChar char="▪"/>
            </a:pPr>
            <a:r>
              <a:rPr lang="en-US" sz="1600" dirty="0">
                <a:solidFill>
                  <a:srgbClr val="1B1F2A"/>
                </a:solidFill>
                <a:latin typeface="Calibri" pitchFamily="34" charset="0"/>
                <a:ea typeface="Calibri" pitchFamily="34" charset="-122"/>
                <a:cs typeface="Calibri" pitchFamily="34" charset="-120"/>
              </a:rPr>
              <a:t>Droits par team et par dossier</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JOUR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Réagir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Des alertes qui ne réveillent que pour de bonnes raisons, l'exploitation, le passage à l'échelle.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Philosophie de l'alerting</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Symptômes, pas causes. Actionnable, ou pas du tout.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69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Mauvaise alerte, bonne alerte</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Cause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CPU &gt; 90 %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Peut-être un problème… ou le serveur qui fait son travail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Réponse quand ça sonne : « je regarde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C'est un panel, pas une alerte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Symptôme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Les clients attendent plus de 3 s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5 % des paiements échouent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Quelqu'un souffre, il faut agir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runbook, un responsable, une sévérité</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400 notifications par jour.</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La nuit où la base est tombée, l'alerte est passée avec les autres.</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Après nettoyage : 12 alertes, toutes sur des symptômes, chacune avec un runbook. La fatigue d'alerte tue plus de systèmes que les pannes.</a:t>
            </a:r>
            <a:endParaRPr lang="en-US"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Anatomie d'une règle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groups: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name: shop-api</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alert: ShopHighErrorRate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expr: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 by (instance) (rate(http_requests_total{status=~"5.."}[5m]))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sum by (instance) (rate(http_requests_total[5m])) &gt; 0.05</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for: 2m               # pending → firing</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keep_firing_for: 3m   # anti-clignotement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labels: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severity: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team: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annotations: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summary: "Taux d'erreur élevé sur {{ $labels.instance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description: "{{ $value | humanizePercentage }} des requêtes échouent."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runbook_url: "https://…/shop-errors.md"</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Une alerte par série renvoyée : by (instance) → une par instance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Labels : pour router. Annotations : pour les humains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Templates Go : $labels, $value, humanize*, printf</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promtool check rules, promtool test rules</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Alertmanager</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Qui prévenir, quand, combien de fois.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route:                       # la racine reçoit tout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inbox-default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group_by: ["alertname", "job"]</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group_wait: 30s            # avant la 1re notification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group_interval: 5m         # avant les nouveautés d'un groupe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repeat_interval: 4h        # si toujours active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routes: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[severity = critical]</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astreinte-teams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continue: true         # évaluer aussi la suite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matchers: [team = boutique]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receiver: boutique-slack</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inhibit_rules:</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 source_matchers: [alertname = TargetDown]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target_matchers: [alertname =~ "ShopHighErrorRate|ShopCheckoutSlow"]</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equal: [instance]</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Première route qui matche, sauf continue: true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Regroupement : 50 instances down = 1 notification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Inhibition : serveur éteint, inutile de dire qu'il est lent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Silences et time_intervals : maintenances, week-ends</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en action</a:t>
            </a:r>
            <a:endParaRPr lang="en-US" sz="2800" dirty="0"/>
          </a:p>
        </p:txBody>
      </p:sp>
      <p:pic>
        <p:nvPicPr>
          <p:cNvPr id="5" name="Image 0" descr="/home/claude/formation-observabilite-lab/docs/formateur/img/alertmanager-alert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Groupes par receiver, silences, inhibitions</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6</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Alertes Prometheus et routage Alertmanager</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boutique veut son canal. L'astreinte veut uniquement le critique, tout de suite. L'infra ne veut rien le week-end sauf le critique. Et personne ne veut « erreurs sur shop-api-2 » quand shop-api-2 est éteint.</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Alertes</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ShopHighErrorRate, ShopCheckoutSlow, ShopNoOrders (and), ShopStockLow, BlackboxProbeFailed.</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Casser</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Chaos errors, chronométrer pending / firing / notification / resolved. Expliquer chaque délai.</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Router</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receivers, quatre routes, continue: true, amtool routes test.</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Inhiber</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TargetDown masque erreurs et latence sur la même instance.</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Taire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Un silence par l'UI et amtool, un time_interval nuit-et-weekend.</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Notifications tierces et ChatOps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Slack, PagerDuty, Teams via Workflows, GitHub, templates.</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Slack et PagerDuty</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Slack</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Incoming webhook (api_url_file) ou application avec token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channel, title, text templatables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Le secret dans un fichier, jamais dans le YAML commité</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PagerDuty</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Events API v2, une integration key par service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routing_key_file, severity, description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Escalade, plannings, acquittement côté PagerDuty</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trigger / resolve avec la même clé de déduplication</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Microsoft Teams, la méthode 2026</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connecteurs Office 365 sont morts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Création bloquée depuis 2024, arrêt définitif fin 2025. msteams_configs est déprécié.</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Workflows (Power Automate)</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Dans le canal : … → Workflows → « Post to a channel when a webhook request is received ». Copier l'URL.</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Alertmanager et Grafana</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msteamsv2_configs: webhook_url_file. Contact point Microsoft Teams, champ URL. La carte adaptative est générée.</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Pièges</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Canal privé : Post as User. Rien n'arrive ? Historique du flux dans Power Automate. L'Inbox du lab imite le flux.</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GitHub et templates</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GitHub (ChatOps)</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alerte ouvre une issue, la commente, la ferme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Webhook → repository_dispatch → workflow Actions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.github/workflows/alert-to-issue.yml dans le dépôt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 : contact point Webhook + payload personnalisé + Authorization</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Templates Alertmanager</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Templates Go, fichiers .tmpl chargés par templates: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template "formation.text"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.Alerts, .CommonLabels, .CommonAnnotations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 bon message : statut, résumé, sévérité, instance, runbook, dashboard. Pas un dump de labels</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7</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Cas pratique : alerte CPU élevé → Teams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L'équipe infra veut être prévenue dans son canal Teams quand un serveur dépasse 80 % de CPU pendant plus de deux minutes, avec un message lisible : le serveur, la valeur, un lien vers le dashboard.</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 règle</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HostHighCpuLoad, rate 2 min, for 2 min, printf. Un test unitaire avec une série idle constante.</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Le routage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Route alertname = HostHighCpuLoad → astreinte-teams, avant team = infra. Vraie URL Workflows ou Inbox.</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Déclencher</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chaos cpu 300. Chronométrer. Ouvrir la carte : que manque-t-il ?</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Personnaliser</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formation.title / formation.text, lien dashboard avec var-instance, amtool template render.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Alerting Grafana</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Les mêmes concepts sous d'autres noms, et quand choisir quoi.</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 Grafana</a:t>
            </a:r>
            <a:endParaRPr lang="en-US" sz="28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3474720"/>
                <a:gridCol w="27432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Alertmanager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Grafana</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receiver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Contact point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où envoyer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policy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qui reçoit quoi</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identique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time_interval</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interval (mute timing)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plages horaires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template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même langage Go</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règle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Alert rule : pending period, keep firing 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requêtes + Reduce / Math / Threshold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Quand utiliser quoi</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 + Alertmanager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Alertes pures métriques, versionnées, testées avec promtool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Évaluées là où sont les données, pas de dépendance à Grafana</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HA triviale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Alerting Grafana</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Multi-sources : un log Loki + une métrique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Alertes SQL, équipes qui vivent dans Grafana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Lien direct règle ↔ panel</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 provisionne aussi en YAML, bouton Export partout</a:t>
            </a:r>
            <a:endParaRPr lang="en-US" sz="13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Une règle Grafana 13</a:t>
            </a:r>
            <a:endParaRPr lang="en-US" sz="2800" dirty="0"/>
          </a:p>
        </p:txBody>
      </p:sp>
      <p:pic>
        <p:nvPicPr>
          <p:cNvPr id="5" name="Image 0" descr="/home/claude/formation-observabilite-lab/docs/formateur/img/grafana-alert-rul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Six étapes : nom, requête et condition, dossier et labels, évaluation, notifications, message</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8</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Alerting Grafana, de l'interface au code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règle multi-dimensionnelle dans l'interface, un contact point Teams, une politique, un test, puis tout exporter et provisionner par fichier.</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Contact points</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inbox-grafana (Webhook), teams-astreinte (Microsoft Teams). Bouton Test.</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Policies</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Default → inbox ; severity = critical → Teams, group wait 10 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Règle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Taux d'erreur par instance, Instant, WHEN A IS ABOVE 5, pending 2 min, lien dashboard/panel.</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As code</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Export YAML, formation.yml dans provisioning/alerting, restart, cadenas. Intervalle nuit en deux morceaux.</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15</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Performances, limites, bonnes pratiques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Dimensionner, diagnostiquer, déployer proprement.</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coûte</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séries actives</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La mémoire. 2 à 4 Ko par série dans le head. Un Prometheus tient 1 à 2 millions de séries confortablement.</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échantillons</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CPU et disque. 1 à 2 octets chacun : 1 M de séries à 15 s ≈ 8,5 Go par jour.</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Les requêtes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Séries touchées × points. rate() sur un an sans filtre = des milliards de points.</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Diagnostiquer et limiter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Diagnostiquer</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Status → TSDB status : top métriques et labels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prometheus_tsdb_head_series, samples_appended_total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process_resident_memory_bytes, scrape_duration_seconds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prometheus_engine_query_duration_seconds, ?stats=all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promtool tsdb analyze sur un bloc</a:t>
            </a:r>
            <a:endParaRPr lang="en-US" sz="1300" dirty="0"/>
          </a:p>
        </p:txBody>
      </p:sp>
      <p:sp>
        <p:nvSpPr>
          <p:cNvPr id="8" name="Shape 6"/>
          <p:cNvSpPr/>
          <p:nvPr/>
        </p:nvSpPr>
        <p:spPr>
          <a:xfrm>
            <a:off x="4709160" y="1234440"/>
            <a:ext cx="3977640" cy="3429000"/>
          </a:xfrm>
          <a:prstGeom prst="roundRect">
            <a:avLst>
              <a:gd name="adj" fmla="val 2133"/>
            </a:avLst>
          </a:prstGeom>
          <a:solidFill>
            <a:srgbClr val="F4F5F7"/>
          </a:solidFill>
          <a:ln w="12700">
            <a:solidFill>
              <a:srgbClr val="F4F5F7"/>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Limiter la casse</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sample_limit, label_limit par job : le scrape est refusé, up passe à 0</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metric_relabel_configs drop</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--query.max-samples, --query.timeout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Recording rules pour tout ce qui est affiché en boucle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Pas d'auto-refresh 5 s sur 24 h</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Déployer proprement</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Text 4"/>
          <p:cNvSpPr txBox="1"/>
          <p:nvPr/>
        </p:nvSpPr>
        <p:spPr>
          <a:xfrm>
            <a:off x="6400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Sécurité</a:t>
            </a:r>
            <a:endParaRPr lang="en-US" sz="1500" dirty="0"/>
          </a:p>
        </p:txBody>
      </p:sp>
      <p:sp>
        <p:nvSpPr>
          <p:cNvPr id="7" name="Text 5"/>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Pas d'auth par défaut. web.config.file (TLS, basic auth bcrypt) ou reverse proxy. Secrets dans des *_file.</a:t>
            </a:r>
            <a:endParaRPr lang="en-US" sz="1200" dirty="0"/>
          </a:p>
        </p:txBody>
      </p:sp>
      <p:sp>
        <p:nvSpPr>
          <p:cNvPr id="8" name="Shape 6"/>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9" name="Text 7"/>
          <p:cNvSpPr txBox="1"/>
          <p:nvPr/>
        </p:nvSpPr>
        <p:spPr>
          <a:xfrm>
            <a:off x="4869180" y="13990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Haute disponibilité</a:t>
            </a:r>
            <a:endParaRPr lang="en-US" sz="1500" dirty="0"/>
          </a:p>
        </p:txBody>
      </p:sp>
      <p:sp>
        <p:nvSpPr>
          <p:cNvPr id="10" name="Text 8"/>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Deux Prometheus identiques (external_labels replica), Alertmanager en cluster qui déduplique. Grafana sur PostgreSQL derrière un LB.</a:t>
            </a:r>
            <a:endParaRPr lang="en-US" sz="1200" dirty="0"/>
          </a:p>
        </p:txBody>
      </p:sp>
      <p:sp>
        <p:nvSpPr>
          <p:cNvPr id="11" name="Shape 9"/>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2" name="Text 10"/>
          <p:cNvSpPr txBox="1"/>
          <p:nvPr/>
        </p:nvSpPr>
        <p:spPr>
          <a:xfrm>
            <a:off x="6400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Mode agent</a:t>
            </a:r>
            <a:endParaRPr lang="en-US" sz="1500" dirty="0"/>
          </a:p>
        </p:txBody>
      </p:sp>
      <p:sp>
        <p:nvSpPr>
          <p:cNvPr id="13" name="Text 11"/>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--agent : scrape et remote_write, sans stockage ni requêtes. Sites distants, edge. Grafana Alloy fait pareil (et logs, traces, OTLP).</a:t>
            </a:r>
            <a:endParaRPr lang="en-US" sz="1200" dirty="0"/>
          </a:p>
        </p:txBody>
      </p:sp>
      <p:sp>
        <p:nvSpPr>
          <p:cNvPr id="14" name="Shape 12"/>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15" name="Text 13"/>
          <p:cNvSpPr txBox="1"/>
          <p:nvPr/>
        </p:nvSpPr>
        <p:spPr>
          <a:xfrm>
            <a:off x="4869180" y="32278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Conventions</a:t>
            </a:r>
            <a:endParaRPr lang="en-US" sz="1500" dirty="0"/>
          </a:p>
        </p:txBody>
      </p:sp>
      <p:sp>
        <p:nvSpPr>
          <p:cNvPr id="16" name="Text 14"/>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Nommage, labels env / team / service partout, un runbook par alerte, tests de règles en CI, tout provisionné.</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Exercices 3.1 à 3.5 — diagnostic (15 min)</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Séries actives, métrique et label les plus lourds</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Échantillons par seconde, mémoire de Prometheus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 job le plus cher, le plus lent</a:t>
            </a:r>
            <a:endParaRPr lang="en-US" sz="1200" dirty="0"/>
          </a:p>
        </p:txBody>
      </p:sp>
      <p:sp>
        <p:nvSpPr>
          <p:cNvPr id="14" name="Shape 12"/>
          <p:cNvSpPr/>
          <p:nvPr/>
        </p:nvSpPr>
        <p:spPr>
          <a:xfrm>
            <a:off x="4663440" y="1280160"/>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3.4</a:t>
            </a:r>
            <a:endParaRPr lang="en-US" sz="950" dirty="0"/>
          </a:p>
        </p:txBody>
      </p:sp>
      <p:sp>
        <p:nvSpPr>
          <p:cNvPr id="16" name="Text 14"/>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sample_limit: 100 sur redis : que devient up ?</a:t>
            </a:r>
            <a:endParaRPr lang="en-US" sz="1200" dirty="0"/>
          </a:p>
        </p:txBody>
      </p:sp>
      <p:sp>
        <p:nvSpPr>
          <p:cNvPr id="17" name="Shape 15"/>
          <p:cNvSpPr/>
          <p:nvPr/>
        </p:nvSpPr>
        <p:spPr>
          <a:xfrm>
            <a:off x="4663440" y="1938528"/>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a:t>
            </a:r>
            <a:endParaRPr lang="en-US" sz="950" dirty="0"/>
          </a:p>
        </p:txBody>
      </p:sp>
      <p:sp>
        <p:nvSpPr>
          <p:cNvPr id="19" name="Text 17"/>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?stats=all : brute contre recording rule</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9</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Sauvegarde, restauration, longue durée, sécurité</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L'audit demande : si le serveur de monitoring brûle, en combien de temps le remettez-vous ? Avez-vous 13 mois d'historique ? Qui peut lire vos métriques ?</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Snapshot</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snapshot, catastrophe simulée, restauration, qu'a-t-on perdu ?</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Grafana</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grafana.db, export de tous les dashboards par l'API. Ce qui n'y est pas. La vraie réponse : Git.</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Remote write</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./lab.sh longterm, ne garder que shop_* et les recording rules, retard de la file.</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Basic auth</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Bonus : web.yml bcrypt, --web.config.file, qu'est-ce qui casse ? Réparer, puis retirer.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MODULE 16</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Mise à l'échelle et écosystème</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Quand un Prometheus ne suffit plus, et où va tout ça.</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options, dans l'ordre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Réduire d'abord (cardinalité, drop, agrégation). Ensuite seulement, agrandir.</a:t>
            </a:r>
            <a:endParaRPr lang="en-US" sz="1400" dirty="0"/>
          </a:p>
        </p:txBody>
      </p:sp>
      <p:sp>
        <p:nvSpPr>
          <p:cNvPr id="6" name="Shape 4"/>
          <p:cNvSpPr/>
          <p:nvPr/>
        </p:nvSpPr>
        <p:spPr>
          <a:xfrm>
            <a:off x="457200" y="1554480"/>
            <a:ext cx="457200" cy="457200"/>
          </a:xfrm>
          <a:prstGeom prst="ellipse">
            <a:avLst/>
          </a:prstGeom>
          <a:solidFill>
            <a:srgbClr val="F15A22"/>
          </a:solidFill>
          <a:ln w="12700">
            <a:solidFill>
              <a:srgbClr val="F15A22"/>
            </a:solidFill>
            <a:prstDash val="solid"/>
          </a:ln>
        </p:spPr>
      </p:sp>
      <p:sp>
        <p:nvSpPr>
          <p:cNvPr id="7" name="Text 5"/>
          <p:cNvSpPr txBox="1"/>
          <p:nvPr/>
        </p:nvSpPr>
        <p:spPr>
          <a:xfrm>
            <a:off x="457200" y="1554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097280" y="150876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Sharding fonctionnel</a:t>
            </a:r>
            <a:endParaRPr lang="en-US" sz="1500" dirty="0"/>
          </a:p>
        </p:txBody>
      </p:sp>
      <p:sp>
        <p:nvSpPr>
          <p:cNvPr id="9" name="Text 7"/>
          <p:cNvSpPr txBox="1"/>
          <p:nvPr/>
        </p:nvSpPr>
        <p:spPr>
          <a:xfrm>
            <a:off x="3383280" y="150876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Un Prometheus par équipe, par cluster, par type. Simple, robuste, vues séparées.</a:t>
            </a:r>
            <a:endParaRPr lang="en-US" sz="1250" dirty="0"/>
          </a:p>
        </p:txBody>
      </p:sp>
      <p:sp>
        <p:nvSpPr>
          <p:cNvPr id="10" name="Shape 8"/>
          <p:cNvSpPr/>
          <p:nvPr/>
        </p:nvSpPr>
        <p:spPr>
          <a:xfrm>
            <a:off x="457200" y="2331720"/>
            <a:ext cx="457200" cy="457200"/>
          </a:xfrm>
          <a:prstGeom prst="ellipse">
            <a:avLst/>
          </a:prstGeom>
          <a:solidFill>
            <a:srgbClr val="F15A22"/>
          </a:solidFill>
          <a:ln w="12700">
            <a:solidFill>
              <a:srgbClr val="F15A22"/>
            </a:solidFill>
            <a:prstDash val="solid"/>
          </a:ln>
        </p:spPr>
      </p:sp>
      <p:sp>
        <p:nvSpPr>
          <p:cNvPr id="11" name="Text 9"/>
          <p:cNvSpPr txBox="1"/>
          <p:nvPr/>
        </p:nvSpPr>
        <p:spPr>
          <a:xfrm>
            <a:off x="457200" y="2331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097280" y="228600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Fédération</a:t>
            </a:r>
            <a:endParaRPr lang="en-US" sz="1500" dirty="0"/>
          </a:p>
        </p:txBody>
      </p:sp>
      <p:sp>
        <p:nvSpPr>
          <p:cNvPr id="13" name="Text 11"/>
          <p:cNvSpPr txBox="1"/>
          <p:nvPr/>
        </p:nvSpPr>
        <p:spPr>
          <a:xfrm>
            <a:off x="3383280" y="228600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Un central scrape /federate des régionaux, sur des recording rules agrégées. Vue globale légère.</a:t>
            </a:r>
            <a:endParaRPr lang="en-US" sz="1250" dirty="0"/>
          </a:p>
        </p:txBody>
      </p:sp>
      <p:sp>
        <p:nvSpPr>
          <p:cNvPr id="14" name="Shape 12"/>
          <p:cNvSpPr/>
          <p:nvPr/>
        </p:nvSpPr>
        <p:spPr>
          <a:xfrm>
            <a:off x="457200" y="3108960"/>
            <a:ext cx="457200" cy="457200"/>
          </a:xfrm>
          <a:prstGeom prst="ellipse">
            <a:avLst/>
          </a:prstGeom>
          <a:solidFill>
            <a:srgbClr val="F15A22"/>
          </a:solidFill>
          <a:ln w="12700">
            <a:solidFill>
              <a:srgbClr val="F15A22"/>
            </a:solidFill>
            <a:prstDash val="solid"/>
          </a:ln>
        </p:spPr>
      </p:sp>
      <p:sp>
        <p:nvSpPr>
          <p:cNvPr id="15" name="Text 13"/>
          <p:cNvSpPr txBox="1"/>
          <p:nvPr/>
        </p:nvSpPr>
        <p:spPr>
          <a:xfrm>
            <a:off x="457200"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097280" y="306324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Remote write</a:t>
            </a:r>
            <a:endParaRPr lang="en-US" sz="1500" dirty="0"/>
          </a:p>
        </p:txBody>
      </p:sp>
      <p:sp>
        <p:nvSpPr>
          <p:cNvPr id="17" name="Text 15"/>
          <p:cNvSpPr txBox="1"/>
          <p:nvPr/>
        </p:nvSpPr>
        <p:spPr>
          <a:xfrm>
            <a:off x="3383280" y="306324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Mimir (le moteur de Grafana Cloud), Thanos (sidecar + stockage objet), VictoriaMetrics (économe). API compatible : Grafana ne voit pas la différence.</a:t>
            </a:r>
            <a:endParaRPr lang="en-US" sz="1250" dirty="0"/>
          </a:p>
        </p:txBody>
      </p:sp>
      <p:sp>
        <p:nvSpPr>
          <p:cNvPr id="18" name="Shape 16"/>
          <p:cNvSpPr/>
          <p:nvPr/>
        </p:nvSpPr>
        <p:spPr>
          <a:xfrm>
            <a:off x="457200" y="3886200"/>
            <a:ext cx="457200" cy="457200"/>
          </a:xfrm>
          <a:prstGeom prst="ellipse">
            <a:avLst/>
          </a:prstGeom>
          <a:solidFill>
            <a:srgbClr val="F15A22"/>
          </a:solidFill>
          <a:ln w="12700">
            <a:solidFill>
              <a:srgbClr val="F15A22"/>
            </a:solidFill>
            <a:prstDash val="solid"/>
          </a:ln>
        </p:spPr>
      </p:sp>
      <p:sp>
        <p:nvSpPr>
          <p:cNvPr id="19" name="Text 17"/>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8"/>
          <p:cNvSpPr txBox="1"/>
          <p:nvPr/>
        </p:nvSpPr>
        <p:spPr>
          <a:xfrm>
            <a:off x="1097280" y="3840480"/>
            <a:ext cx="2194560" cy="54864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Managé</a:t>
            </a:r>
            <a:endParaRPr lang="en-US" sz="1500" dirty="0"/>
          </a:p>
        </p:txBody>
      </p:sp>
      <p:sp>
        <p:nvSpPr>
          <p:cNvPr id="21" name="Text 19"/>
          <p:cNvSpPr txBox="1"/>
          <p:nvPr/>
        </p:nvSpPr>
        <p:spPr>
          <a:xfrm>
            <a:off x="3383280" y="3840480"/>
            <a:ext cx="5303520" cy="64008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Grafana Cloud, Amazon, Google, Azure Monitor managed Prometheus.</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schéma cible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Du brut en local, de l'agrégé au loin, une seule interface pour tout lire</a:t>
            </a:r>
            <a:endParaRPr lang="en-US" sz="1400" dirty="0"/>
          </a:p>
        </p:txBody>
      </p:sp>
      <p:sp>
        <p:nvSpPr>
          <p:cNvPr id="6" name="Shape 4"/>
          <p:cNvSpPr/>
          <p:nvPr/>
        </p:nvSpPr>
        <p:spPr>
          <a:xfrm>
            <a:off x="457200" y="1554480"/>
            <a:ext cx="1737360" cy="685800"/>
          </a:xfrm>
          <a:prstGeom prst="roundRect">
            <a:avLst>
              <a:gd name="adj" fmla="val 10667"/>
            </a:avLst>
          </a:prstGeom>
          <a:solidFill>
            <a:srgbClr val="F15A22"/>
          </a:solidFill>
          <a:ln w="12700">
            <a:solidFill>
              <a:srgbClr val="F15A22"/>
            </a:solidFill>
            <a:prstDash val="solid"/>
          </a:ln>
        </p:spPr>
      </p:sp>
      <p:sp>
        <p:nvSpPr>
          <p:cNvPr id="7" name="Text 5"/>
          <p:cNvSpPr txBox="1"/>
          <p:nvPr/>
        </p:nvSpPr>
        <p:spPr>
          <a:xfrm>
            <a:off x="457200" y="1554480"/>
            <a:ext cx="1737360" cy="6858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Prometheus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Site A</a:t>
            </a:r>
            <a:endParaRPr lang="en-US" sz="1100" dirty="0"/>
          </a:p>
        </p:txBody>
      </p:sp>
      <p:sp>
        <p:nvSpPr>
          <p:cNvPr id="8" name="Shape 6"/>
          <p:cNvSpPr/>
          <p:nvPr/>
        </p:nvSpPr>
        <p:spPr>
          <a:xfrm>
            <a:off x="457200" y="2514600"/>
            <a:ext cx="1737360" cy="685800"/>
          </a:xfrm>
          <a:prstGeom prst="roundRect">
            <a:avLst>
              <a:gd name="adj" fmla="val 10667"/>
            </a:avLst>
          </a:prstGeom>
          <a:solidFill>
            <a:srgbClr val="F15A22"/>
          </a:solidFill>
          <a:ln w="12700">
            <a:solidFill>
              <a:srgbClr val="F15A22"/>
            </a:solidFill>
            <a:prstDash val="solid"/>
          </a:ln>
        </p:spPr>
      </p:sp>
      <p:sp>
        <p:nvSpPr>
          <p:cNvPr id="9" name="Text 7"/>
          <p:cNvSpPr txBox="1"/>
          <p:nvPr/>
        </p:nvSpPr>
        <p:spPr>
          <a:xfrm>
            <a:off x="457200" y="2514600"/>
            <a:ext cx="1737360" cy="6858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Prometheus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Site B</a:t>
            </a:r>
            <a:endParaRPr lang="en-US" sz="1100" dirty="0"/>
          </a:p>
        </p:txBody>
      </p:sp>
      <p:sp>
        <p:nvSpPr>
          <p:cNvPr id="10" name="Shape 8"/>
          <p:cNvSpPr/>
          <p:nvPr/>
        </p:nvSpPr>
        <p:spPr>
          <a:xfrm>
            <a:off x="457200" y="3474720"/>
            <a:ext cx="1737360" cy="685800"/>
          </a:xfrm>
          <a:prstGeom prst="roundRect">
            <a:avLst>
              <a:gd name="adj" fmla="val 10667"/>
            </a:avLst>
          </a:prstGeom>
          <a:solidFill>
            <a:srgbClr val="F15A22"/>
          </a:solidFill>
          <a:ln w="12700">
            <a:solidFill>
              <a:srgbClr val="F15A22"/>
            </a:solidFill>
            <a:prstDash val="solid"/>
          </a:ln>
        </p:spPr>
      </p:sp>
      <p:sp>
        <p:nvSpPr>
          <p:cNvPr id="11" name="Text 9"/>
          <p:cNvSpPr txBox="1"/>
          <p:nvPr/>
        </p:nvSpPr>
        <p:spPr>
          <a:xfrm>
            <a:off x="457200" y="3474720"/>
            <a:ext cx="1737360" cy="6858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Prometheus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Cluster K8s</a:t>
            </a:r>
            <a:endParaRPr lang="en-US" sz="1100" dirty="0"/>
          </a:p>
        </p:txBody>
      </p:sp>
      <p:sp>
        <p:nvSpPr>
          <p:cNvPr id="12" name="Shape 10"/>
          <p:cNvSpPr/>
          <p:nvPr/>
        </p:nvSpPr>
        <p:spPr>
          <a:xfrm>
            <a:off x="3657600" y="1920240"/>
            <a:ext cx="2194560" cy="1188720"/>
          </a:xfrm>
          <a:prstGeom prst="roundRect">
            <a:avLst>
              <a:gd name="adj" fmla="val 6154"/>
            </a:avLst>
          </a:prstGeom>
          <a:solidFill>
            <a:srgbClr val="0F2A4A"/>
          </a:solidFill>
          <a:ln w="12700">
            <a:solidFill>
              <a:srgbClr val="0F2A4A"/>
            </a:solidFill>
            <a:prstDash val="solid"/>
          </a:ln>
        </p:spPr>
      </p:sp>
      <p:sp>
        <p:nvSpPr>
          <p:cNvPr id="13" name="Text 11"/>
          <p:cNvSpPr txBox="1"/>
          <p:nvPr/>
        </p:nvSpPr>
        <p:spPr>
          <a:xfrm>
            <a:off x="3657600" y="1920240"/>
            <a:ext cx="2194560" cy="1188720"/>
          </a:xfrm>
          <a:prstGeom prst="rect">
            <a:avLst/>
          </a:prstGeom>
          <a:noFill/>
          <a:ln/>
        </p:spPr>
        <p:txBody>
          <a:bodyPr wrap="square" lIns="635" tIns="635" rIns="635" bIns="635"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Mimir · Thanos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VictoriaMetrics</a:t>
            </a:r>
            <a:endParaRPr lang="en-US" sz="1300" dirty="0"/>
          </a:p>
        </p:txBody>
      </p:sp>
      <p:sp>
        <p:nvSpPr>
          <p:cNvPr id="14" name="Shape 12"/>
          <p:cNvSpPr/>
          <p:nvPr/>
        </p:nvSpPr>
        <p:spPr>
          <a:xfrm>
            <a:off x="3657600" y="3429000"/>
            <a:ext cx="2194560" cy="548640"/>
          </a:xfrm>
          <a:prstGeom prst="roundRect">
            <a:avLst>
              <a:gd name="adj" fmla="val 13333"/>
            </a:avLst>
          </a:prstGeom>
          <a:solidFill>
            <a:srgbClr val="5B6270"/>
          </a:solidFill>
          <a:ln w="12700">
            <a:solidFill>
              <a:srgbClr val="5B6270"/>
            </a:solidFill>
            <a:prstDash val="solid"/>
          </a:ln>
        </p:spPr>
      </p:sp>
      <p:sp>
        <p:nvSpPr>
          <p:cNvPr id="15" name="Text 13"/>
          <p:cNvSpPr txBox="1"/>
          <p:nvPr/>
        </p:nvSpPr>
        <p:spPr>
          <a:xfrm>
            <a:off x="3657600" y="3429000"/>
            <a:ext cx="219456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Stockage objet (S3)</a:t>
            </a:r>
            <a:endParaRPr lang="en-US" sz="1100" dirty="0"/>
          </a:p>
        </p:txBody>
      </p:sp>
      <p:sp>
        <p:nvSpPr>
          <p:cNvPr id="16" name="Shape 14"/>
          <p:cNvSpPr/>
          <p:nvPr/>
        </p:nvSpPr>
        <p:spPr>
          <a:xfrm>
            <a:off x="6858000" y="2103120"/>
            <a:ext cx="1828800" cy="822960"/>
          </a:xfrm>
          <a:prstGeom prst="roundRect">
            <a:avLst>
              <a:gd name="adj" fmla="val 8889"/>
            </a:avLst>
          </a:prstGeom>
          <a:solidFill>
            <a:srgbClr val="163D6B"/>
          </a:solidFill>
          <a:ln w="12700">
            <a:solidFill>
              <a:srgbClr val="163D6B"/>
            </a:solidFill>
            <a:prstDash val="solid"/>
          </a:ln>
        </p:spPr>
      </p:sp>
      <p:sp>
        <p:nvSpPr>
          <p:cNvPr id="17" name="Text 15"/>
          <p:cNvSpPr txBox="1"/>
          <p:nvPr/>
        </p:nvSpPr>
        <p:spPr>
          <a:xfrm>
            <a:off x="6858000" y="2103120"/>
            <a:ext cx="1828800" cy="822960"/>
          </a:xfrm>
          <a:prstGeom prst="rect">
            <a:avLst/>
          </a:prstGeom>
          <a:noFill/>
          <a:ln/>
        </p:spPr>
        <p:txBody>
          <a:bodyPr wrap="square" lIns="635" tIns="635" rIns="635" bIns="635"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Grafana</a:t>
            </a:r>
            <a:endParaRPr lang="en-US" sz="1400" dirty="0"/>
          </a:p>
        </p:txBody>
      </p:sp>
      <p:sp>
        <p:nvSpPr>
          <p:cNvPr id="18" name="Shape 16"/>
          <p:cNvSpPr/>
          <p:nvPr/>
        </p:nvSpPr>
        <p:spPr>
          <a:xfrm>
            <a:off x="2194560" y="1892808"/>
            <a:ext cx="1463040" cy="621792"/>
          </a:xfrm>
          <a:prstGeom prst="line">
            <a:avLst/>
          </a:prstGeom>
          <a:noFill/>
          <a:ln w="22225">
            <a:solidFill>
              <a:srgbClr val="5B6270"/>
            </a:solidFill>
            <a:prstDash val="solid"/>
            <a:tailEnd type="triangle"/>
          </a:ln>
        </p:spPr>
      </p:sp>
      <p:sp>
        <p:nvSpPr>
          <p:cNvPr id="19" name="Shape 17"/>
          <p:cNvSpPr/>
          <p:nvPr/>
        </p:nvSpPr>
        <p:spPr>
          <a:xfrm>
            <a:off x="2194560" y="2852928"/>
            <a:ext cx="1463040" cy="-338328"/>
          </a:xfrm>
          <a:prstGeom prst="line">
            <a:avLst/>
          </a:prstGeom>
          <a:noFill/>
          <a:ln w="22225">
            <a:solidFill>
              <a:srgbClr val="5B6270"/>
            </a:solidFill>
            <a:prstDash val="solid"/>
            <a:tailEnd type="triangle"/>
          </a:ln>
        </p:spPr>
      </p:sp>
      <p:sp>
        <p:nvSpPr>
          <p:cNvPr id="20" name="Shape 18"/>
          <p:cNvSpPr/>
          <p:nvPr/>
        </p:nvSpPr>
        <p:spPr>
          <a:xfrm>
            <a:off x="2194560" y="3813048"/>
            <a:ext cx="1463040" cy="-1298448"/>
          </a:xfrm>
          <a:prstGeom prst="line">
            <a:avLst/>
          </a:prstGeom>
          <a:noFill/>
          <a:ln w="22225">
            <a:solidFill>
              <a:srgbClr val="5B6270"/>
            </a:solidFill>
            <a:prstDash val="solid"/>
            <a:tailEnd type="triangle"/>
          </a:ln>
        </p:spPr>
      </p:sp>
      <p:sp>
        <p:nvSpPr>
          <p:cNvPr id="21" name="Shape 19"/>
          <p:cNvSpPr/>
          <p:nvPr/>
        </p:nvSpPr>
        <p:spPr>
          <a:xfrm>
            <a:off x="4754880" y="3108960"/>
            <a:ext cx="0" cy="320040"/>
          </a:xfrm>
          <a:prstGeom prst="line">
            <a:avLst/>
          </a:prstGeom>
          <a:noFill/>
          <a:ln w="22225">
            <a:solidFill>
              <a:srgbClr val="5B6270"/>
            </a:solidFill>
            <a:prstDash val="solid"/>
            <a:tailEnd type="triangle"/>
          </a:ln>
        </p:spPr>
      </p:sp>
      <p:sp>
        <p:nvSpPr>
          <p:cNvPr id="22" name="Shape 20"/>
          <p:cNvSpPr/>
          <p:nvPr/>
        </p:nvSpPr>
        <p:spPr>
          <a:xfrm>
            <a:off x="5852160" y="2514600"/>
            <a:ext cx="1005840" cy="0"/>
          </a:xfrm>
          <a:prstGeom prst="line">
            <a:avLst/>
          </a:prstGeom>
          <a:noFill/>
          <a:ln w="22225">
            <a:solidFill>
              <a:srgbClr val="5B6270"/>
            </a:solidFill>
            <a:prstDash val="solid"/>
            <a:tailEnd type="triangle"/>
          </a:ln>
        </p:spPr>
      </p:sp>
      <p:sp>
        <p:nvSpPr>
          <p:cNvPr id="23" name="Text 21"/>
          <p:cNvSpPr txBox="1"/>
          <p:nvPr/>
        </p:nvSpPr>
        <p:spPr>
          <a:xfrm>
            <a:off x="2331720" y="1417320"/>
            <a:ext cx="12801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remote_write</a:t>
            </a:r>
            <a:endParaRPr lang="en-US" sz="1000" dirty="0"/>
          </a:p>
        </p:txBody>
      </p:sp>
      <p:sp>
        <p:nvSpPr>
          <p:cNvPr id="24" name="Text 22"/>
          <p:cNvSpPr txBox="1"/>
          <p:nvPr/>
        </p:nvSpPr>
        <p:spPr>
          <a:xfrm>
            <a:off x="5989320" y="2194560"/>
            <a:ext cx="822960" cy="274320"/>
          </a:xfrm>
          <a:prstGeom prst="rect">
            <a:avLst/>
          </a:prstGeom>
          <a:noFill/>
          <a:ln/>
        </p:spPr>
        <p:txBody>
          <a:bodyPr wrap="square" lIns="0" tIns="0" rIns="0" bIns="0" rtlCol="0" anchor="ctr"/>
          <a:lstStyle/>
          <a:p>
            <a:pPr indent="0" marL="0">
              <a:buNone/>
            </a:pPr>
            <a:r>
              <a:rPr lang="en-US" sz="1000" dirty="0">
                <a:solidFill>
                  <a:srgbClr val="5B6270"/>
                </a:solidFill>
                <a:latin typeface="Calibri" pitchFamily="34" charset="0"/>
                <a:ea typeface="Calibri" pitchFamily="34" charset="-122"/>
                <a:cs typeface="Calibri" pitchFamily="34" charset="-120"/>
              </a:rPr>
              <a:t>PromQL</a:t>
            </a:r>
            <a:endParaRPr lang="en-US" sz="1000" dirty="0"/>
          </a:p>
        </p:txBody>
      </p:sp>
      <p:sp>
        <p:nvSpPr>
          <p:cNvPr id="25" name="Text 23"/>
          <p:cNvSpPr txBox="1"/>
          <p:nvPr/>
        </p:nvSpPr>
        <p:spPr>
          <a:xfrm>
            <a:off x="457200" y="4160520"/>
            <a:ext cx="8229600" cy="502920"/>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Rétention courte (7-15 j) et toutes les séries brutes sur chaque Prometheus · rétention longue (13 mois) et vue globale au centre · les API sont compatibles, Grafana ne voit pas la différence.</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Et autour</a:t>
            </a:r>
            <a:endParaRPr lang="en-US" sz="2800" dirty="0"/>
          </a:p>
        </p:txBody>
      </p:sp>
      <p:sp>
        <p:nvSpPr>
          <p:cNvPr id="5" name="Shape 3"/>
          <p:cNvSpPr/>
          <p:nvPr/>
        </p:nvSpPr>
        <p:spPr>
          <a:xfrm>
            <a:off x="457200" y="1234440"/>
            <a:ext cx="2590800" cy="2468880"/>
          </a:xfrm>
          <a:prstGeom prst="roundRect">
            <a:avLst>
              <a:gd name="adj" fmla="val 2963"/>
            </a:avLst>
          </a:prstGeom>
          <a:solidFill>
            <a:srgbClr val="F4F5F7"/>
          </a:solidFill>
          <a:ln w="12700">
            <a:solidFill>
              <a:srgbClr val="F4F5F7"/>
            </a:solidFill>
            <a:prstDash val="solid"/>
          </a:ln>
        </p:spPr>
      </p:sp>
      <p:sp>
        <p:nvSpPr>
          <p:cNvPr id="6" name="Text 4"/>
          <p:cNvSpPr txBox="1"/>
          <p:nvPr/>
        </p:nvSpPr>
        <p:spPr>
          <a:xfrm>
            <a:off x="6400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OpenTelemetry</a:t>
            </a:r>
            <a:endParaRPr lang="en-US" sz="1600" dirty="0"/>
          </a:p>
        </p:txBody>
      </p:sp>
      <p:sp>
        <p:nvSpPr>
          <p:cNvPr id="7" name="Text 5"/>
          <p:cNvSpPr txBox="1"/>
          <p:nvPr/>
        </p:nvSpPr>
        <p:spPr>
          <a:xfrm>
            <a:off x="6400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 standard d'instrumentation des trois signaux. Prometheus 3 reçoit l'OTLP nativement, noms avec points et UTF-8. Collector / Alloy pour scraper, recevoir, envoyer.</a:t>
            </a:r>
            <a:endParaRPr lang="en-US" sz="1300" dirty="0"/>
          </a:p>
        </p:txBody>
      </p:sp>
      <p:sp>
        <p:nvSpPr>
          <p:cNvPr id="8" name="Shape 6"/>
          <p:cNvSpPr/>
          <p:nvPr/>
        </p:nvSpPr>
        <p:spPr>
          <a:xfrm>
            <a:off x="3276600" y="1234440"/>
            <a:ext cx="2590800" cy="2468880"/>
          </a:xfrm>
          <a:prstGeom prst="roundRect">
            <a:avLst>
              <a:gd name="adj" fmla="val 2963"/>
            </a:avLst>
          </a:prstGeom>
          <a:solidFill>
            <a:srgbClr val="F4F5F7"/>
          </a:solidFill>
          <a:ln w="12700">
            <a:solidFill>
              <a:srgbClr val="F4F5F7"/>
            </a:solidFill>
            <a:prstDash val="solid"/>
          </a:ln>
        </p:spPr>
      </p:sp>
      <p:sp>
        <p:nvSpPr>
          <p:cNvPr id="9" name="Text 7"/>
          <p:cNvSpPr txBox="1"/>
          <p:nvPr/>
        </p:nvSpPr>
        <p:spPr>
          <a:xfrm>
            <a:off x="34594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Loki et Tempo</a:t>
            </a:r>
            <a:endParaRPr lang="en-US" sz="1600" dirty="0"/>
          </a:p>
        </p:txBody>
      </p:sp>
      <p:sp>
        <p:nvSpPr>
          <p:cNvPr id="10" name="Text 8"/>
          <p:cNvSpPr txBox="1"/>
          <p:nvPr/>
        </p:nvSpPr>
        <p:spPr>
          <a:xfrm>
            <a:off x="34594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Les mêmes idées pour les logs et les traces. Grafana les corrèle : d'un pic de latence aux traces (exemplars) aux logs, en trois clics.</a:t>
            </a:r>
            <a:endParaRPr lang="en-US" sz="1300" dirty="0"/>
          </a:p>
        </p:txBody>
      </p:sp>
      <p:sp>
        <p:nvSpPr>
          <p:cNvPr id="11" name="Shape 9"/>
          <p:cNvSpPr/>
          <p:nvPr/>
        </p:nvSpPr>
        <p:spPr>
          <a:xfrm>
            <a:off x="6096000" y="1234440"/>
            <a:ext cx="2590800" cy="2468880"/>
          </a:xfrm>
          <a:prstGeom prst="roundRect">
            <a:avLst>
              <a:gd name="adj" fmla="val 2963"/>
            </a:avLst>
          </a:prstGeom>
          <a:solidFill>
            <a:srgbClr val="F4F5F7"/>
          </a:solidFill>
          <a:ln w="12700">
            <a:solidFill>
              <a:srgbClr val="F4F5F7"/>
            </a:solidFill>
            <a:prstDash val="solid"/>
          </a:ln>
        </p:spPr>
      </p:sp>
      <p:sp>
        <p:nvSpPr>
          <p:cNvPr id="12" name="Text 10"/>
          <p:cNvSpPr txBox="1"/>
          <p:nvPr/>
        </p:nvSpPr>
        <p:spPr>
          <a:xfrm>
            <a:off x="6278880" y="13990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Kubernetes</a:t>
            </a:r>
            <a:endParaRPr lang="en-US" sz="1600" dirty="0"/>
          </a:p>
        </p:txBody>
      </p:sp>
      <p:sp>
        <p:nvSpPr>
          <p:cNvPr id="13" name="Text 11"/>
          <p:cNvSpPr txBox="1"/>
          <p:nvPr/>
        </p:nvSpPr>
        <p:spPr>
          <a:xfrm>
            <a:off x="6278880" y="18928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kube-prometheus-stack : opérateur, ServiceMonitor, PrometheusRule, kube-state-metrics, dashboards. Un helm install, et tout ce qu'on a vu s'applique.</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WAR GAME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Diagnostiquer en moins de cinq minutes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Vous ne touchez plus à la configuration. Je casse la boutique d'une façon que vous ne connaissez pas, sur une seule instance. Vous avez Grafana, Prometheus, Alertmanager et l'Inbox.</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Quoi ?</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Qu'est-ce qui est cassé, exactement ?</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Où ?</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Sur quelle instance, quelle route, quelle dépendance ?</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Depuis quand ?</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L'heure de début, à la minute.</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Qui a sonné ?</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Quelle alerte a sonné, laquelle aurait dû ?</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La première action. Par écrit.</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Lundi matin</a:t>
            </a:r>
            <a:endParaRPr lang="en-US" sz="3200" dirty="0"/>
          </a:p>
        </p:txBody>
      </p:sp>
      <p:sp>
        <p:nvSpPr>
          <p:cNvPr id="3" name="Text 1"/>
          <p:cNvSpPr txBox="1"/>
          <p:nvPr/>
        </p:nvSpPr>
        <p:spPr>
          <a:xfrm>
            <a:off x="640080" y="1554480"/>
            <a:ext cx="7863840" cy="1463040"/>
          </a:xfrm>
          <a:prstGeom prst="rect">
            <a:avLst/>
          </a:prstGeom>
          <a:noFill/>
          <a:ln/>
        </p:spPr>
        <p:txBody>
          <a:bodyPr wrap="square" lIns="0" tIns="0" rIns="0" bIns="0" rtlCol="0" anchor="ctr"/>
          <a:lstStyle/>
          <a:p>
            <a:pPr indent="0" marL="0">
              <a:buNone/>
            </a:pPr>
            <a:r>
              <a:rPr lang="en-US" sz="2000" dirty="0">
                <a:solidFill>
                  <a:srgbClr val="DBE6F3"/>
                </a:solidFill>
                <a:latin typeface="Calibri" pitchFamily="34" charset="0"/>
                <a:ea typeface="Calibri" pitchFamily="34" charset="-122"/>
                <a:cs typeface="Calibri" pitchFamily="34" charset="-120"/>
              </a:rPr>
              <a:t>Choisissez un service. Un seul.</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Instrumentez-le en RED. Un dashboard. Deux alertes symptômes. Un runbook.</a:t>
            </a:r>
            <a:endParaRPr lang="en-US" sz="2000" dirty="0"/>
          </a:p>
          <a:p>
            <a:pPr indent="0" marL="0">
              <a:buNone/>
            </a:pPr>
            <a:r>
              <a:rPr lang="en-US" sz="2000" dirty="0">
                <a:solidFill>
                  <a:srgbClr val="DBE6F3"/>
                </a:solidFill>
                <a:latin typeface="Calibri" pitchFamily="34" charset="0"/>
                <a:ea typeface="Calibri" pitchFamily="34" charset="-122"/>
                <a:cs typeface="Calibri" pitchFamily="34" charset="-120"/>
              </a:rPr>
              <a:t>Pas plus. Le reste viendra.</a:t>
            </a:r>
            <a:endParaRPr lang="en-US" sz="2000" dirty="0"/>
          </a:p>
        </p:txBody>
      </p:sp>
      <p:sp>
        <p:nvSpPr>
          <p:cNvPr id="4" name="Text 2"/>
          <p:cNvSpPr txBox="1"/>
          <p:nvPr/>
        </p:nvSpPr>
        <p:spPr>
          <a:xfrm>
            <a:off x="640080" y="3200400"/>
            <a:ext cx="7863840" cy="822960"/>
          </a:xfrm>
          <a:prstGeom prst="rect">
            <a:avLst/>
          </a:prstGeom>
          <a:noFill/>
          <a:ln/>
        </p:spPr>
        <p:txBody>
          <a:bodyPr wrap="square" lIns="0" tIns="0" rIns="0" bIns="0" rtlCol="0" anchor="ctr"/>
          <a:lstStyle/>
          <a:p>
            <a:pPr indent="0" marL="0">
              <a:buNone/>
            </a:pPr>
            <a:r>
              <a:rPr lang="en-US" sz="1200" dirty="0">
                <a:solidFill>
                  <a:srgbClr val="FFB48F"/>
                </a:solidFill>
                <a:latin typeface="Calibri" pitchFamily="34" charset="0"/>
                <a:ea typeface="Calibri" pitchFamily="34" charset="-122"/>
                <a:cs typeface="Calibri" pitchFamily="34" charset="-120"/>
              </a:rPr>
              <a:t>Le dépôt : github.com/yparent/formation-observabilite-lab (branche formation-2026)</a:t>
            </a:r>
            <a:endParaRPr lang="en-US" sz="1200" dirty="0"/>
          </a:p>
          <a:p>
            <a:pPr indent="0" marL="0">
              <a:buNone/>
            </a:pPr>
            <a:r>
              <a:rPr lang="en-US" sz="1200" dirty="0">
                <a:solidFill>
                  <a:srgbClr val="FFB48F"/>
                </a:solidFill>
                <a:latin typeface="Calibri" pitchFamily="34" charset="0"/>
                <a:ea typeface="Calibri" pitchFamily="34" charset="-122"/>
                <a:cs typeface="Calibri" pitchFamily="34" charset="-120"/>
              </a:rPr>
              <a:t>prometheus.io/docs · grafana.com/docs · samber.github.io/awesome-prometheus-alerts · grafana.com/grafana/dashboards</a:t>
            </a:r>
            <a:endParaRPr lang="en-US" sz="1200" dirty="0"/>
          </a:p>
        </p:txBody>
      </p:sp>
      <p:sp>
        <p:nvSpPr>
          <p:cNvPr id="5" name="Text 3"/>
          <p:cNvSpPr txBox="1"/>
          <p:nvPr/>
        </p:nvSpPr>
        <p:spPr>
          <a:xfrm>
            <a:off x="640080" y="4114800"/>
            <a:ext cx="658368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Merci. Questionnaire d'évaluation, puis je reste pour vos questions.</a:t>
            </a:r>
            <a:endParaRPr lang="en-US" sz="1400" dirty="0"/>
          </a:p>
        </p:txBody>
      </p:sp>
      <p:sp>
        <p:nvSpPr>
          <p:cNvPr id="6" name="Shape 4"/>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7"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97</Slides>
  <Notes>97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97</vt:i4>
      </vt:variant>
    </vt:vector>
  </HeadingPairs>
  <TitlesOfParts>
    <vt:vector size="10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Prometheus &amp; Grafana</dc:title>
  <dc:subject>PptxGenJS Presentation</dc:subject>
  <dc:creator>Yohan Parent</dc:creator>
  <cp:lastModifiedBy>Yohan Parent</cp:lastModifiedBy>
  <cp:revision>1</cp:revision>
  <dcterms:created xsi:type="dcterms:W3CDTF">2026-09-26T09:02:07Z</dcterms:created>
  <dcterms:modified xsi:type="dcterms:W3CDTF">2026-09-26T09:02:07Z</dcterms:modified>
</cp:coreProperties>
</file>