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Lst>
  <p:notesMasterIdLst>
    <p:notesMasterId r:id="rId10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notesMaster" Target="notesMasters/notesMaster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projetée à l'arrivée des stagiaires. Ma stack tourne déjà depuis 30 minutes, Grafana ouvert sur le dashboard Boutique dans un autre onglet.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minutes, pas plus. Ce qui compte : la douleur des pannes m'a amené à l'observabilité, pas l'inverse.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note les pannes au paperboard. Trois questions de positionnement : pull vs push, série temporelle, bug infra vs applicatif.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promesse est concrète et mesurable : le war game de mercredi 17h la vérifie.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9h-17h30, déjeuner 12h30-14h, deux pauses. Jamais plus de 20 minutes sans clavier.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Rien ne tourne au départ : ce schéma, c'est ce qu'on aura construit mercredi. Je montre mon dashboard Boutique tout vert, puis ./lab.sh chaos errors on. À la pause, il sera rouge : voilà ce qu'on saura construire.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règle des trois jours. docker-compose.yml ne contient que des include commentés ; chaque exercice dit lequel décommenter. Le dernier après-midi, on ajoute un Thanos complet.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Définition utilisable : un système est observable quand « pourquoi c'est lent ? » a une réponse en moins de cinq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les métriques d'abord : une métrique coûte quelques octets, un log des centaines. Et c'est sur les métriques qu'on alerte. Logs et traces : Loki et Tempo, la suite logique de cette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fondatrice : surveiller la machine ne suffit jamais. C'est pour ça que la boutique expose shop_orders_total et shop_revenue_euros_total.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 un agent envoie ses données au serveur ; mille serveurs en panne = mille livreurs qui sonnent en même temps, le monitoring tombe quand on en a besoin. Pull : Prometheus va chercher les métriques en HTTP à intervalle fixe, se sert à son rythme, et une cible qui ne répond pas est une information (up == 0) ; on débogue au curl. Le push garde un cas d'usage : les jobs éphémères, via la Pushgateway (TP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dessine au tableau dans cet ordre : cibles, serveur (scraper, stocker, évaluer), Alertmanager, Grafana, découverte de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concept le plus important de la journée. Je le fais reformuler par un stagiaire.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voiture : 150 000 km au compteur, est-ce que je roule vite ? rate() transforme les km en km/h. Histogram &gt; Summary en 2026 ; native histograms à l'horizon.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montre localhost:5001/metrics en vrai, puis Status → Target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 en mémoire + WAL, un bloc immuable toutes les deux heures, compaction, rétention 15 jours. On y revient au jour 3 (snapshot, Thanos envoie ces blocs dans un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chose pour Grafana : Helm, Docker, dépôts Grafana Labs (à jour),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à la salle : qui sait quelle version tourne chez vous ? Anecdote de la 2.37 jamais mise à jour. Le lab tourne en 3.13.3 : c'est un choix, pas un oubli.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Rien avant les exercices : je fais avec eux, terminal projeté, au même rythme.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passe dans les rangs. Erreurs classiques : Gatekeeper sur Mac, chemin ..\..\ sous Windows, Grafana sans --homepath, onglet Ports sur Codespaces.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Trop vite = surcharge, trop lent = pics ratés. 15 s est le standard. Le fichier du dépôt ne contient qu'un job : les autres, c'est nous.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sur mon binaire : je casse l'indentation, promtool check config refuse, je répare, kill -HUP, la ligne Completed loading of configuration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est conservateur en marche, intraitable au démarrage. Tout le monde répare avant le déjeuner, les binaires restent lancés.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après le déjeuner. La seule différence avec ce matin : le binaire, son YAML et ses données sont dans un conteneur, et le reload passe par HTTP. Piège : port already allocated = un binaire qui tourne encore. À partir d'ici, le fichier à modifier est prometheus/prometheus.yml.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catalogue officiel en liste des centaines. Avant d'en écrire un, on vérifie. De plus en plus de logiciels exposent nativement.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montre localhost:9100/metrics : node_cpu_seconds_total, node_memory_MemAvailable_bytes, node_filesystem_avail_bytes.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localhost:9115/probe?module=http_2xx&amp;target=http://shop-api-1:5000/health → probe_success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règles : la cible devient un paramètre d'URL, puis le label instance, et l'adresse scrapée devient celle de l'exporter. Conséquence : up mesure l'exporter, probe_success mesure la 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minutes. La formule CPU est la requête la plus recopiée de l'histoire de Prometheus : j'y passe cinq minutes. Anecdote des sauvegardes fantômes. Bonus 1.8 (relabeling) pour les rapides.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J'ouvre apps/shop-api/app.py : les déclarations existantes, le middleware _observe, la route checkout, et les cinq TODO que le TP 2 va combler.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 est livrée à moitié instrumentée : elle compte les requêtes, il manque la latence, les commandes, le CA, le stock, la version, les vues produit. Cinq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du label customer_id : 15 millions de séries, 60 Go de RAM, redémarrages toutes les heures. Les données à forte cardinalité vont dans les logs et les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minutes. À la fin : cinq briques, six jobs, cinq TODO faits. Bonus : cardinalité (200 routes × 50 instances ?). Piège de la partie 2 : relancer sans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à l'oral, réponses au tableau. Je projette les corrigés prometheus.yml et app.py et chacun compare avec le sien.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PromQL n'est pas SQL : pas de SELECT. On nomme, on filtre, on applique. Ça se lit de l'intérieur vers l'extérieur.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dans l'onglet Query, Table puis Graph, et l'onglet Explain de Prometheus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Seuls, dans Prometheus. Je projette le corrigé de deux exercices toutes les cinq minutes. Les rapides : codes HTTP distincts par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gèrent les remises à zéro. Fenêtre ≥ 4 × scrape_interval, [5m] en pratique, $__rate_interval dans Grafana. Démo rate vs irate avec ./lab.sh traffic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histogram_quantile avec et sans by (le) ; la jointure en Table pour voir arriver le label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L'erreur numéro un : oublier by (le) en 2.15. Vérifier que le chaos est remis à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déborde souvent sur 14h. Une règle non testée sonnera un dimanche pour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Explore avant de construire : on ne fait jamais un panel à l'aveugle.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qui a changé en 13 : nouvelle édition, rows et tabs, éditeur de variables refait, restauration de dashboards supprimés, Git Sync en OSS, plugin image renderer retiré.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Visite guidée en cinq minutes : Connections, Explore, New dashboard, un panel, Save, Exit edit, le cadenas du dashboard provisionné.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minutes. Le piège de l'étape 2 : diviser par count() sans scalar(). Le dashboard doit finir dans le dossier Formation (le TP 5 y fait un lien).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projette ce résultat au début du TP et je le laisse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minutes. Export : Model Classic pour le provisioning fichier, V2 Resource pour Git Sync et la nouvelle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Bonne pratique : un dossier par équipe, une team par équipe, la team Editor sur son dossier, dashboards provisionnés en lecture seule dans un dossier Officiel.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réponse honnête : 90 % des entreprises n'ont pas besoin d'Enterprise. On y va pour SAML/SCIM, un connecteur commercial ou les rapports.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soir : recording.yml rempli, TP 4 et TP 5 sauvegardés, tp5-boutique.json provisionné.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Depuis hier, TargetDown est évaluée mais n'a personne à qui parler : prometheus_notifications_sent_total reste à 0. Ceux qui oublient le reload voient la page 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SRE : on alerte sur la douleur du client. Trois niveaux suffisent : critical (on réveille), warning (demain matin), info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paramètre a un coût en réactivité, et ils s'additionnent. Au TP 6, on chronomètre chaque étape avec le chaos.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localhost:9093, amtool config routes show, amtool config routes test severity=critical.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l'arbre qu'on construit au TP 6 : astreinte en Teams pour le critique, boutique en Slack, infra dans l'Inbox avec un mute le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démarre le module en arrêtant shop-api-2 : pending, firing, notification dans l'Inbox, resolved au redémarrage.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minutes. Piège garanti : un intervalle 20:00 → 08:00 est refusé, il faut le couper à minuit. Même règle dans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à pas complet en annexe E du guide. Si j'ai un tenant de démo, je crée le flux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Pour tester sans attendre : POST /api/v2/alerts sur Alertmanager.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Grafana-managed (évalué par Grafana) vs Data source-managed (écrit dans Mimir/Loki). On reste sur Grafana-managed.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coexistent très bien. Ce qu'il ne faut pas faire : dupliquer la même alerte des deux côtés.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Un fichier de provisioning invalide empêche Grafana de démarrer : docker compose logs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tueur après la cardinalité : le churn, des séries qui changent de labels sans arrêt (pods qui redémarrent, label avec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minutes. Un snapshot = liens durs vers les blocs + le head : instantané. Ne jamais copier data/ à chaud sans snapshot.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signaux : OOM et compactions → trop de séries. &gt; 30-60 jours → longue durée. Multi-sites → central. HA vraie → duo + déduplication. Thanos complète les Prometheus (sidecar) ; Mimir et VictoriaMetrics les remplacent comme stockage (remote write). API compatible : Grafana ne voit pas la différence.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external_labels sont la clé : ils identifient l'origine des blocs, et replica est celui que le Querier ignore pour dédupliquer. Un seul compactor par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minutes. Le piège : oublier les flags block-duration ; sans eux le sidecar A refuse de démarrer (min = max obligatoire), docker compose logs thanos-sidecar-a le dit. La partie 4 attend quinze minutes après le lancement.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suite logique de cette formation : Loki et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chrono, par binôme. Puis débrief : qui a trouvé quoi avec quel outil, et ce qui manquait (redis_up, panneau par instance, lien vers les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Questionnaire de fin (annexe A), correction à l'oral tout de suite. Rappel du questionnaire de satisfaction Sparks.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1A30">
              <a:alpha val="65000"/>
            </a:srgbClr>
          </a:solidFill>
          <a:ln w="12700">
            <a:solidFill>
              <a:srgbClr val="0A1A30">
                <a:alpha val="0"/>
              </a:srgbClr>
            </a:solidFill>
            <a:prstDash val="solid"/>
          </a:ln>
        </p:spPr>
      </p:sp>
      <p:sp>
        <p:nvSpPr>
          <p:cNvPr id="3" name="Shape 1"/>
          <p:cNvSpPr/>
          <p:nvPr/>
        </p:nvSpPr>
        <p:spPr>
          <a:xfrm>
            <a:off x="548640" y="365760"/>
            <a:ext cx="1828800" cy="804672"/>
          </a:xfrm>
          <a:prstGeom prst="roundRect">
            <a:avLst>
              <a:gd name="adj" fmla="val 6818"/>
            </a:avLst>
          </a:prstGeom>
          <a:solidFill>
            <a:srgbClr val="FFFFFF"/>
          </a:solidFill>
          <a:ln w="12700">
            <a:solidFill>
              <a:srgbClr val="FFFFFF"/>
            </a:solidFill>
            <a:prstDash val="solid"/>
          </a:ln>
        </p:spPr>
      </p:sp>
      <p:pic>
        <p:nvPicPr>
          <p:cNvPr id="4" name="Image 0" descr="/home/claude/formation-observabilite-lab/docs/assets/logo-sparks.png">    </p:cNvPr>
          <p:cNvPicPr>
            <a:picLocks noChangeAspect="1"/>
          </p:cNvPicPr>
          <p:nvPr/>
        </p:nvPicPr>
        <p:blipFill>
          <a:blip r:embed="rId2"/>
          <a:stretch>
            <a:fillRect/>
          </a:stretch>
        </p:blipFill>
        <p:spPr>
          <a:xfrm>
            <a:off x="640080" y="438912"/>
            <a:ext cx="1645920" cy="658368"/>
          </a:xfrm>
          <a:prstGeom prst="rect">
            <a:avLst/>
          </a:prstGeom>
        </p:spPr>
      </p:pic>
      <p:sp>
        <p:nvSpPr>
          <p:cNvPr id="5" name="Shape 2"/>
          <p:cNvSpPr/>
          <p:nvPr/>
        </p:nvSpPr>
        <p:spPr>
          <a:xfrm>
            <a:off x="7498080" y="365760"/>
            <a:ext cx="1188720" cy="868680"/>
          </a:xfrm>
          <a:prstGeom prst="roundRect">
            <a:avLst>
              <a:gd name="adj" fmla="val 6316"/>
            </a:avLst>
          </a:prstGeom>
          <a:solidFill>
            <a:srgbClr val="FFFFFF"/>
          </a:solidFill>
          <a:ln w="12700">
            <a:solidFill>
              <a:srgbClr val="FFFFFF"/>
            </a:solidFill>
            <a:prstDash val="solid"/>
          </a:ln>
        </p:spPr>
      </p:sp>
      <p:pic>
        <p:nvPicPr>
          <p:cNvPr id="6" name="Image 1" descr="/home/claude/formation-observabilite-lab/docs/assets/logo-ysycloud.png">    </p:cNvPr>
          <p:cNvPicPr>
            <a:picLocks noChangeAspect="1"/>
          </p:cNvPicPr>
          <p:nvPr/>
        </p:nvPicPr>
        <p:blipFill>
          <a:blip r:embed="rId3"/>
          <a:stretch>
            <a:fillRect/>
          </a:stretch>
        </p:blipFill>
        <p:spPr>
          <a:xfrm>
            <a:off x="7607808" y="429768"/>
            <a:ext cx="969264" cy="731520"/>
          </a:xfrm>
          <a:prstGeom prst="rect">
            <a:avLst/>
          </a:prstGeom>
        </p:spPr>
      </p:pic>
      <p:sp>
        <p:nvSpPr>
          <p:cNvPr id="7" name="Text 3"/>
          <p:cNvSpPr txBox="1"/>
          <p:nvPr/>
        </p:nvSpPr>
        <p:spPr>
          <a:xfrm>
            <a:off x="548640" y="1737360"/>
            <a:ext cx="7315200" cy="365760"/>
          </a:xfrm>
          <a:prstGeom prst="rect">
            <a:avLst/>
          </a:prstGeom>
          <a:noFill/>
          <a:ln/>
        </p:spPr>
        <p:txBody>
          <a:bodyPr wrap="square" lIns="0" tIns="0" rIns="0" bIns="0" rtlCol="0" anchor="ctr"/>
          <a:lstStyle/>
          <a:p>
            <a:pPr indent="0" marL="0">
              <a:buNone/>
            </a:pPr>
            <a:r>
              <a:rPr lang="en-US" sz="1300" b="1" spc="500" kern="0" dirty="0">
                <a:solidFill>
                  <a:srgbClr val="FFB48F"/>
                </a:solidFill>
                <a:latin typeface="Calibri" pitchFamily="34" charset="0"/>
                <a:ea typeface="Calibri" pitchFamily="34" charset="-122"/>
                <a:cs typeface="Calibri" pitchFamily="34" charset="-120"/>
              </a:rPr>
              <a:t>FORMATION · 3 JOURS</a:t>
            </a:r>
            <a:endParaRPr lang="en-US" sz="1300" dirty="0"/>
          </a:p>
        </p:txBody>
      </p:sp>
      <p:sp>
        <p:nvSpPr>
          <p:cNvPr id="8" name="Text 4"/>
          <p:cNvSpPr txBox="1"/>
          <p:nvPr/>
        </p:nvSpPr>
        <p:spPr>
          <a:xfrm>
            <a:off x="548640" y="2103120"/>
            <a:ext cx="8046720" cy="91440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Prometheus &amp; Grafana</a:t>
            </a:r>
            <a:endParaRPr lang="en-US" sz="4600" dirty="0"/>
          </a:p>
        </p:txBody>
      </p:sp>
      <p:sp>
        <p:nvSpPr>
          <p:cNvPr id="9" name="Text 5"/>
          <p:cNvSpPr txBox="1"/>
          <p:nvPr/>
        </p:nvSpPr>
        <p:spPr>
          <a:xfrm>
            <a:off x="548640" y="3017520"/>
            <a:ext cx="7772400" cy="45720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De l'écran noir à la vision rayon X : collecter, comprendre, réagir</a:t>
            </a:r>
            <a:endParaRPr lang="en-US" sz="1800" dirty="0"/>
          </a:p>
        </p:txBody>
      </p:sp>
      <p:sp>
        <p:nvSpPr>
          <p:cNvPr id="10" name="Text 6"/>
          <p:cNvSpPr txBox="1"/>
          <p:nvPr/>
        </p:nvSpPr>
        <p:spPr>
          <a:xfrm>
            <a:off x="548640" y="4343400"/>
            <a:ext cx="7315200" cy="320040"/>
          </a:xfrm>
          <a:prstGeom prst="rect">
            <a:avLst/>
          </a:prstGeom>
          <a:noFill/>
          <a:ln/>
        </p:spPr>
        <p:txBody>
          <a:bodyPr wrap="square" lIns="0" tIns="0" rIns="0" bIns="0" rtlCol="0" anchor="ctr"/>
          <a:lstStyle/>
          <a:p>
            <a:pPr indent="0" marL="0">
              <a:buNone/>
            </a:pPr>
            <a:r>
              <a:rPr lang="en-US" sz="1200" dirty="0">
                <a:solidFill>
                  <a:srgbClr val="DBE6F3"/>
                </a:solidFill>
                <a:latin typeface="Calibri" pitchFamily="34" charset="0"/>
                <a:ea typeface="Calibri" pitchFamily="34" charset="-122"/>
                <a:cs typeface="Calibri" pitchFamily="34" charset="-120"/>
              </a:rPr>
              <a:t>Yohan Parent · Architecte cloud · Édition septembre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Votre formateur</a:t>
            </a:r>
            <a:endParaRPr lang="en-US" sz="2800" dirty="0"/>
          </a:p>
        </p:txBody>
      </p:sp>
      <p:pic>
        <p:nvPicPr>
          <p:cNvPr id="5" name="Image 0" descr="/home/claude/formation-observabilite-lab/docs/slides/yohan.jpg">    </p:cNvPr>
          <p:cNvPicPr>
            <a:picLocks noChangeAspect="1"/>
          </p:cNvPicPr>
          <p:nvPr/>
        </p:nvPicPr>
        <p:blipFill>
          <a:blip r:embed="rId1"/>
          <a:srcRect l="0" r="0" t="0" b="0"/>
          <a:stretch/>
        </p:blipFill>
        <p:spPr>
          <a:xfrm>
            <a:off x="457200" y="1234440"/>
            <a:ext cx="3108960" cy="2926080"/>
          </a:xfrm>
          <a:prstGeom prst="ellipse">
            <a:avLst/>
          </a:prstGeom>
        </p:spPr>
      </p:pic>
      <p:sp>
        <p:nvSpPr>
          <p:cNvPr id="6" name="Text 3"/>
          <p:cNvSpPr txBox="1"/>
          <p:nvPr/>
        </p:nvSpPr>
        <p:spPr>
          <a:xfrm>
            <a:off x="3931920" y="1280160"/>
            <a:ext cx="4754880" cy="457200"/>
          </a:xfrm>
          <a:prstGeom prst="rect">
            <a:avLst/>
          </a:prstGeom>
          <a:noFill/>
          <a:ln/>
        </p:spPr>
        <p:txBody>
          <a:bodyPr wrap="square" lIns="0" tIns="0" rIns="0" bIns="0" rtlCol="0" anchor="ctr"/>
          <a:lstStyle/>
          <a:p>
            <a:pPr indent="0" marL="0">
              <a:buNone/>
            </a:pPr>
            <a:r>
              <a:rPr lang="en-US" sz="2400" b="1" dirty="0">
                <a:solidFill>
                  <a:srgbClr val="0F2A4A"/>
                </a:solidFill>
                <a:latin typeface="Calibri" pitchFamily="34" charset="0"/>
                <a:ea typeface="Calibri" pitchFamily="34" charset="-122"/>
                <a:cs typeface="Calibri" pitchFamily="34" charset="-120"/>
              </a:rPr>
              <a:t>Yohan Parent</a:t>
            </a:r>
            <a:endParaRPr lang="en-US" sz="2400" dirty="0"/>
          </a:p>
        </p:txBody>
      </p:sp>
      <p:sp>
        <p:nvSpPr>
          <p:cNvPr id="7" name="Text 4"/>
          <p:cNvSpPr txBox="1"/>
          <p:nvPr/>
        </p:nvSpPr>
        <p:spPr>
          <a:xfrm>
            <a:off x="3931920" y="1828800"/>
            <a:ext cx="47548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1F2A"/>
                </a:solidFill>
                <a:latin typeface="Calibri" pitchFamily="34" charset="0"/>
                <a:ea typeface="Calibri" pitchFamily="34" charset="-122"/>
                <a:cs typeface="Calibri" pitchFamily="34" charset="-120"/>
              </a:rPr>
              <a:t>Architecte cloud, 15 ans d'infrastructure, DevOps, Kubernetes et IA</a:t>
            </a:r>
            <a:endParaRPr lang="en-US" sz="1400" dirty="0"/>
          </a:p>
          <a:p>
            <a:pPr marL="342900" indent="-342900">
              <a:spcAft>
                <a:spcPts val="800"/>
              </a:spcAft>
              <a:buSzPct val="100000"/>
              <a:buChar char="▪"/>
            </a:pPr>
            <a:r>
              <a:rPr lang="en-US" sz="1400" dirty="0">
                <a:solidFill>
                  <a:srgbClr val="1B1F2A"/>
                </a:solidFill>
                <a:latin typeface="Calibri" pitchFamily="34" charset="0"/>
                <a:ea typeface="Calibri" pitchFamily="34" charset="-122"/>
                <a:cs typeface="Calibri" pitchFamily="34" charset="-120"/>
              </a:rPr>
              <a:t>Banque, santé (HDS), industrie, SecNumCloud, OIV</a:t>
            </a:r>
            <a:endParaRPr lang="en-US" sz="1400" dirty="0"/>
          </a:p>
          <a:p>
            <a:pPr marL="342900" indent="-342900">
              <a:spcAft>
                <a:spcPts val="800"/>
              </a:spcAft>
              <a:buSzPct val="100000"/>
              <a:buChar char="▪"/>
            </a:pPr>
            <a:r>
              <a:rPr lang="en-US" sz="1400" dirty="0">
                <a:solidFill>
                  <a:srgbClr val="1B1F2A"/>
                </a:solidFill>
                <a:latin typeface="Calibri" pitchFamily="34" charset="0"/>
                <a:ea typeface="Calibri" pitchFamily="34" charset="-122"/>
                <a:cs typeface="Calibri" pitchFamily="34" charset="-120"/>
              </a:rPr>
              <a:t>Enseignant au CESI et à l'Université de Lorraine</a:t>
            </a:r>
            <a:endParaRPr lang="en-US" sz="1400" dirty="0"/>
          </a:p>
          <a:p>
            <a:pPr marL="342900" indent="-342900">
              <a:spcAft>
                <a:spcPts val="800"/>
              </a:spcAft>
              <a:buSzPct val="100000"/>
              <a:buChar char="▪"/>
            </a:pPr>
            <a:r>
              <a:rPr lang="en-US" sz="1400" dirty="0">
                <a:solidFill>
                  <a:srgbClr val="1B1F2A"/>
                </a:solidFill>
                <a:latin typeface="Calibri" pitchFamily="34" charset="0"/>
                <a:ea typeface="Calibri" pitchFamily="34" charset="-122"/>
                <a:cs typeface="Calibri" pitchFamily="34" charset="-120"/>
              </a:rPr>
              <a:t>Certifié CKS (Kubernetes Security Specialist)</a:t>
            </a:r>
            <a:endParaRPr lang="en-US" sz="1400" dirty="0"/>
          </a:p>
          <a:p>
            <a:pPr marL="342900" indent="-342900">
              <a:spcAft>
                <a:spcPts val="800"/>
              </a:spcAft>
              <a:buSzPct val="100000"/>
              <a:buChar char="▪"/>
            </a:pPr>
            <a:r>
              <a:rPr lang="en-US" sz="1400" dirty="0">
                <a:solidFill>
                  <a:srgbClr val="1B1F2A"/>
                </a:solidFill>
                <a:latin typeface="Calibri" pitchFamily="34" charset="0"/>
                <a:ea typeface="Calibri" pitchFamily="34" charset="-122"/>
                <a:cs typeface="Calibri" pitchFamily="34" charset="-120"/>
              </a:rPr>
              <a:t>Et surtout : beaucoup de nuits devant des écrans noirs</a:t>
            </a:r>
            <a:endParaRPr lang="en-US" sz="1400" dirty="0"/>
          </a:p>
        </p:txBody>
      </p:sp>
      <p:sp>
        <p:nvSpPr>
          <p:cNvPr id="8" name="Text 5"/>
          <p:cNvSpPr txBox="1"/>
          <p:nvPr/>
        </p:nvSpPr>
        <p:spPr>
          <a:xfrm>
            <a:off x="3931920" y="4114800"/>
            <a:ext cx="4754880" cy="274320"/>
          </a:xfrm>
          <a:prstGeom prst="rect">
            <a:avLst/>
          </a:prstGeom>
          <a:noFill/>
          <a:ln/>
        </p:spPr>
        <p:txBody>
          <a:bodyPr wrap="square" lIns="0" tIns="0" rIns="0" bIns="0" rtlCol="0" anchor="ctr"/>
          <a:lstStyle/>
          <a:p>
            <a:pPr indent="0" marL="0">
              <a:buNone/>
            </a:pPr>
            <a:r>
              <a:rPr lang="en-US" sz="1200" dirty="0">
                <a:solidFill>
                  <a:srgbClr val="F15A22"/>
                </a:solidFill>
                <a:latin typeface="Calibri" pitchFamily="34" charset="0"/>
                <a:ea typeface="Calibri" pitchFamily="34" charset="-122"/>
                <a:cs typeface="Calibri" pitchFamily="34" charset="-120"/>
              </a:rPr>
              <a:t>linkedin.com/in/yohan-parent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Faisons connaissance</a:t>
            </a:r>
            <a:endParaRPr lang="en-US" sz="2800" dirty="0"/>
          </a:p>
        </p:txBody>
      </p:sp>
      <p:sp>
        <p:nvSpPr>
          <p:cNvPr id="5" name="Shape 3"/>
          <p:cNvSpPr/>
          <p:nvPr/>
        </p:nvSpPr>
        <p:spPr>
          <a:xfrm>
            <a:off x="457200" y="1234440"/>
            <a:ext cx="2590800" cy="2468880"/>
          </a:xfrm>
          <a:prstGeom prst="roundRect">
            <a:avLst>
              <a:gd name="adj" fmla="val 2963"/>
            </a:avLst>
          </a:prstGeom>
          <a:solidFill>
            <a:srgbClr val="F4F5F7"/>
          </a:solidFill>
          <a:ln w="12700">
            <a:solidFill>
              <a:srgbClr val="F4F5F7"/>
            </a:solidFill>
            <a:prstDash val="solid"/>
          </a:ln>
        </p:spPr>
      </p:sp>
      <p:sp>
        <p:nvSpPr>
          <p:cNvPr id="6" name="Shape 4"/>
          <p:cNvSpPr/>
          <p:nvPr/>
        </p:nvSpPr>
        <p:spPr>
          <a:xfrm>
            <a:off x="640080" y="1417320"/>
            <a:ext cx="365760" cy="365760"/>
          </a:xfrm>
          <a:prstGeom prst="ellipse">
            <a:avLst/>
          </a:prstGeom>
          <a:solidFill>
            <a:srgbClr val="F15A22"/>
          </a:solidFill>
          <a:ln w="12700">
            <a:solidFill>
              <a:srgbClr val="F15A22"/>
            </a:solidFill>
            <a:prstDash val="solid"/>
          </a:ln>
        </p:spPr>
      </p:sp>
      <p:sp>
        <p:nvSpPr>
          <p:cNvPr id="7" name="Text 5"/>
          <p:cNvSpPr txBox="1"/>
          <p:nvPr/>
        </p:nvSpPr>
        <p:spPr>
          <a:xfrm>
            <a:off x="6400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97280" y="1399032"/>
            <a:ext cx="17678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Qui êtes-vous ?</a:t>
            </a:r>
            <a:endParaRPr lang="en-US" sz="1600" dirty="0"/>
          </a:p>
        </p:txBody>
      </p:sp>
      <p:sp>
        <p:nvSpPr>
          <p:cNvPr id="9" name="Text 7"/>
          <p:cNvSpPr txBox="1"/>
          <p:nvPr/>
        </p:nvSpPr>
        <p:spPr>
          <a:xfrm>
            <a:off x="6400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Prénom, poste, équipe. Ce que vous surveillez aujourd'hui, et avec quoi (Zabbix, Centreon, Datadog, rien…).</a:t>
            </a:r>
            <a:endParaRPr lang="en-US" sz="1300" dirty="0"/>
          </a:p>
        </p:txBody>
      </p:sp>
      <p:sp>
        <p:nvSpPr>
          <p:cNvPr id="10" name="Shape 8"/>
          <p:cNvSpPr/>
          <p:nvPr/>
        </p:nvSpPr>
        <p:spPr>
          <a:xfrm>
            <a:off x="3276600" y="1234440"/>
            <a:ext cx="2590800" cy="2468880"/>
          </a:xfrm>
          <a:prstGeom prst="roundRect">
            <a:avLst>
              <a:gd name="adj" fmla="val 2963"/>
            </a:avLst>
          </a:prstGeom>
          <a:solidFill>
            <a:srgbClr val="F4F5F7"/>
          </a:solidFill>
          <a:ln w="12700">
            <a:solidFill>
              <a:srgbClr val="F4F5F7"/>
            </a:solidFill>
            <a:prstDash val="solid"/>
          </a:ln>
        </p:spPr>
      </p:sp>
      <p:sp>
        <p:nvSpPr>
          <p:cNvPr id="11" name="Shape 9"/>
          <p:cNvSpPr/>
          <p:nvPr/>
        </p:nvSpPr>
        <p:spPr>
          <a:xfrm>
            <a:off x="3459480" y="1417320"/>
            <a:ext cx="365760" cy="365760"/>
          </a:xfrm>
          <a:prstGeom prst="ellipse">
            <a:avLst/>
          </a:prstGeom>
          <a:solidFill>
            <a:srgbClr val="F15A22"/>
          </a:solidFill>
          <a:ln w="12700">
            <a:solidFill>
              <a:srgbClr val="F15A22"/>
            </a:solidFill>
            <a:prstDash val="solid"/>
          </a:ln>
        </p:spPr>
      </p:sp>
      <p:sp>
        <p:nvSpPr>
          <p:cNvPr id="12" name="Text 10"/>
          <p:cNvSpPr txBox="1"/>
          <p:nvPr/>
        </p:nvSpPr>
        <p:spPr>
          <a:xfrm>
            <a:off x="34594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916680" y="1399032"/>
            <a:ext cx="17678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Votre pire panne</a:t>
            </a:r>
            <a:endParaRPr lang="en-US" sz="1600" dirty="0"/>
          </a:p>
        </p:txBody>
      </p:sp>
      <p:sp>
        <p:nvSpPr>
          <p:cNvPr id="14" name="Text 12"/>
          <p:cNvSpPr txBox="1"/>
          <p:nvPr/>
        </p:nvSpPr>
        <p:spPr>
          <a:xfrm>
            <a:off x="34594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Le moment où vous vous êtes senti le plus seul devant un écran noir. On s'en resservira toute la semaine.</a:t>
            </a:r>
            <a:endParaRPr lang="en-US" sz="1300" dirty="0"/>
          </a:p>
        </p:txBody>
      </p:sp>
      <p:sp>
        <p:nvSpPr>
          <p:cNvPr id="15" name="Shape 13"/>
          <p:cNvSpPr/>
          <p:nvPr/>
        </p:nvSpPr>
        <p:spPr>
          <a:xfrm>
            <a:off x="6096000" y="1234440"/>
            <a:ext cx="2590800" cy="2468880"/>
          </a:xfrm>
          <a:prstGeom prst="roundRect">
            <a:avLst>
              <a:gd name="adj" fmla="val 2963"/>
            </a:avLst>
          </a:prstGeom>
          <a:solidFill>
            <a:srgbClr val="F4F5F7"/>
          </a:solidFill>
          <a:ln w="12700">
            <a:solidFill>
              <a:srgbClr val="F4F5F7"/>
            </a:solidFill>
            <a:prstDash val="solid"/>
          </a:ln>
        </p:spPr>
      </p:sp>
      <p:sp>
        <p:nvSpPr>
          <p:cNvPr id="16" name="Shape 14"/>
          <p:cNvSpPr/>
          <p:nvPr/>
        </p:nvSpPr>
        <p:spPr>
          <a:xfrm>
            <a:off x="6278880" y="1417320"/>
            <a:ext cx="365760" cy="365760"/>
          </a:xfrm>
          <a:prstGeom prst="ellipse">
            <a:avLst/>
          </a:prstGeom>
          <a:solidFill>
            <a:srgbClr val="F15A22"/>
          </a:solidFill>
          <a:ln w="12700">
            <a:solidFill>
              <a:srgbClr val="F15A22"/>
            </a:solidFill>
            <a:prstDash val="solid"/>
          </a:ln>
        </p:spPr>
      </p:sp>
      <p:sp>
        <p:nvSpPr>
          <p:cNvPr id="17" name="Text 15"/>
          <p:cNvSpPr txBox="1"/>
          <p:nvPr/>
        </p:nvSpPr>
        <p:spPr>
          <a:xfrm>
            <a:off x="62788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736080" y="1399032"/>
            <a:ext cx="17678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Vos attentes</a:t>
            </a:r>
            <a:endParaRPr lang="en-US" sz="1600" dirty="0"/>
          </a:p>
        </p:txBody>
      </p:sp>
      <p:sp>
        <p:nvSpPr>
          <p:cNvPr id="19" name="Text 17"/>
          <p:cNvSpPr txBox="1"/>
          <p:nvPr/>
        </p:nvSpPr>
        <p:spPr>
          <a:xfrm>
            <a:off x="62788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Ce que vous voulez savoir faire mercredi soir et qui vous manque aujourd'hui.</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Ce que je vous promets pour mercredi soir</a:t>
            </a:r>
            <a:endParaRPr lang="en-US" sz="2800" dirty="0"/>
          </a:p>
        </p:txBody>
      </p:sp>
      <p:sp>
        <p:nvSpPr>
          <p:cNvPr id="5" name="Shape 3"/>
          <p:cNvSpPr/>
          <p:nvPr/>
        </p:nvSpPr>
        <p:spPr>
          <a:xfrm>
            <a:off x="457200" y="1234440"/>
            <a:ext cx="2590800" cy="2468880"/>
          </a:xfrm>
          <a:prstGeom prst="roundRect">
            <a:avLst>
              <a:gd name="adj" fmla="val 2963"/>
            </a:avLst>
          </a:prstGeom>
          <a:solidFill>
            <a:srgbClr val="F4F5F7"/>
          </a:solidFill>
          <a:ln w="12700">
            <a:solidFill>
              <a:srgbClr val="F4F5F7"/>
            </a:solidFill>
            <a:prstDash val="solid"/>
          </a:ln>
        </p:spPr>
      </p:sp>
      <p:sp>
        <p:nvSpPr>
          <p:cNvPr id="6" name="Text 4"/>
          <p:cNvSpPr txBox="1"/>
          <p:nvPr/>
        </p:nvSpPr>
        <p:spPr>
          <a:xfrm>
            <a:off x="6400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Voir</a:t>
            </a:r>
            <a:endParaRPr lang="en-US" sz="1600" dirty="0"/>
          </a:p>
        </p:txBody>
      </p:sp>
      <p:sp>
        <p:nvSpPr>
          <p:cNvPr id="7" name="Text 5"/>
          <p:cNvSpPr txBox="1"/>
          <p:nvPr/>
        </p:nvSpPr>
        <p:spPr>
          <a:xfrm>
            <a:off x="6400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Une stack complète que vous aurez assemblée vous-même : machine, application, services tiers, sondes externes.</a:t>
            </a:r>
            <a:endParaRPr lang="en-US" sz="1300" dirty="0"/>
          </a:p>
        </p:txBody>
      </p:sp>
      <p:sp>
        <p:nvSpPr>
          <p:cNvPr id="8" name="Shape 6"/>
          <p:cNvSpPr/>
          <p:nvPr/>
        </p:nvSpPr>
        <p:spPr>
          <a:xfrm>
            <a:off x="3276600" y="1234440"/>
            <a:ext cx="2590800" cy="2468880"/>
          </a:xfrm>
          <a:prstGeom prst="roundRect">
            <a:avLst>
              <a:gd name="adj" fmla="val 2963"/>
            </a:avLst>
          </a:prstGeom>
          <a:solidFill>
            <a:srgbClr val="F4F5F7"/>
          </a:solidFill>
          <a:ln w="12700">
            <a:solidFill>
              <a:srgbClr val="F4F5F7"/>
            </a:solidFill>
            <a:prstDash val="solid"/>
          </a:ln>
        </p:spPr>
      </p:sp>
      <p:sp>
        <p:nvSpPr>
          <p:cNvPr id="9" name="Text 7"/>
          <p:cNvSpPr txBox="1"/>
          <p:nvPr/>
        </p:nvSpPr>
        <p:spPr>
          <a:xfrm>
            <a:off x="34594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Comprendre</a:t>
            </a:r>
            <a:endParaRPr lang="en-US" sz="1600" dirty="0"/>
          </a:p>
        </p:txBody>
      </p:sp>
      <p:sp>
        <p:nvSpPr>
          <p:cNvPr id="10" name="Text 8"/>
          <p:cNvSpPr txBox="1"/>
          <p:nvPr/>
        </p:nvSpPr>
        <p:spPr>
          <a:xfrm>
            <a:off x="34594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PromQL comme un réflexe, des tableaux de bord qui répondent à de vraies questions, versionnés dans Git.</a:t>
            </a:r>
            <a:endParaRPr lang="en-US" sz="1300" dirty="0"/>
          </a:p>
        </p:txBody>
      </p:sp>
      <p:sp>
        <p:nvSpPr>
          <p:cNvPr id="11" name="Shape 9"/>
          <p:cNvSpPr/>
          <p:nvPr/>
        </p:nvSpPr>
        <p:spPr>
          <a:xfrm>
            <a:off x="6096000" y="1234440"/>
            <a:ext cx="2590800" cy="2468880"/>
          </a:xfrm>
          <a:prstGeom prst="roundRect">
            <a:avLst>
              <a:gd name="adj" fmla="val 2963"/>
            </a:avLst>
          </a:prstGeom>
          <a:solidFill>
            <a:srgbClr val="F4F5F7"/>
          </a:solidFill>
          <a:ln w="12700">
            <a:solidFill>
              <a:srgbClr val="F4F5F7"/>
            </a:solidFill>
            <a:prstDash val="solid"/>
          </a:ln>
        </p:spPr>
      </p:sp>
      <p:sp>
        <p:nvSpPr>
          <p:cNvPr id="12" name="Text 10"/>
          <p:cNvSpPr txBox="1"/>
          <p:nvPr/>
        </p:nvSpPr>
        <p:spPr>
          <a:xfrm>
            <a:off x="62788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Réagir</a:t>
            </a:r>
            <a:endParaRPr lang="en-US" sz="1600" dirty="0"/>
          </a:p>
        </p:txBody>
      </p:sp>
      <p:sp>
        <p:nvSpPr>
          <p:cNvPr id="13" name="Text 11"/>
          <p:cNvSpPr txBox="1"/>
          <p:nvPr/>
        </p:nvSpPr>
        <p:spPr>
          <a:xfrm>
            <a:off x="62788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Diagnostiquer une panne de la boutique en moins de cinq minutes. Et avoir été prévenu par Teams avant le client.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Trois jours, un fil rouge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463040"/>
                <a:gridCol w="3383280"/>
                <a:gridCol w="3383280"/>
              </a:tblGrid>
              <a:tr h="685800">
                <a:tc>
                  <a:txBody>
                    <a:bodyPr/>
                    <a:lstStyle/>
                    <a:p>
                      <a:pPr indent="0" marL="0">
                        <a:buNone/>
                      </a:pP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Matin</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Après-midi</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68580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Jour 1 · Voir</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Observabilité, architecture, Prometheus et Grafana installés à la main, configuration</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Passage aux conteneurs, exporters, Node Exporter (TP 1), instrumentation et services tiers (TP 2)</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68580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Jour 2 · Comprendre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PromQL de A à Z, 22 exercices, recording rules et tests (TP 3)</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Grafana 13, dashboard serveur Linux (TP 4), dashboard boutique + as code (TP 5), droits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68580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Jour 3 · Réagir</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Alertes, Alertmanager (TP 6), Slack / PagerDuty / Teams / GitHub, alerte CPU → Teams (TP 7)</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Alerting Grafana (TP 8), performances, sauvegarde (TP 9), échelle, Thanos (TP 10), war game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lab : une boutique en ligne qu'on va casser</a:t>
            </a:r>
            <a:endParaRPr lang="en-US" sz="2800" dirty="0"/>
          </a:p>
        </p:txBody>
      </p:sp>
      <p:pic>
        <p:nvPicPr>
          <p:cNvPr id="5" name="Image 0" descr="/home/claude/formation-observabilite-lab/docs/diagrams/lab-architectur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Codespaces, macOS, Windows · rien à installer à part Docker · lab.sh up · status · check · reload · test · chaos · traffic · batch · snapshot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Une brique à la fois</a:t>
            </a:r>
            <a:endParaRPr lang="en-US" sz="2800" dirty="0"/>
          </a:p>
        </p:txBody>
      </p:sp>
      <p:pic>
        <p:nvPicPr>
          <p:cNvPr id="5" name="Image 0" descr="/home/claude/formation-observabilite-lab/docs/diagrams/briques.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Le matin en binaire, l'après-midi en conteneur, une brique par exercice. Personne ne reçoit une stack toute faite.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JOUR 1</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Voir</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Architecture et collecte : à 17h30, votre Prometheus collecte la machine, l'application et les services tiers.</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1</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Pourquoi l'observabilité</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Monitoring, observabilité, les trois signaux, pull contre push.</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Les deux pilotes</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Pilote A — monitoring</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Un voyant rouge « MOTEUR » s'allume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Il sait que c'est grave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Il ne sait pas pourquoi</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Il panique</a:t>
            </a:r>
            <a:endParaRPr lang="en-US" sz="1300" dirty="0"/>
          </a:p>
        </p:txBody>
      </p:sp>
      <p:sp>
        <p:nvSpPr>
          <p:cNvPr id="8" name="Shape 6"/>
          <p:cNvSpPr/>
          <p:nvPr/>
        </p:nvSpPr>
        <p:spPr>
          <a:xfrm>
            <a:off x="4709160" y="1234440"/>
            <a:ext cx="3977640" cy="3429000"/>
          </a:xfrm>
          <a:prstGeom prst="roundRect">
            <a:avLst>
              <a:gd name="adj" fmla="val 2133"/>
            </a:avLst>
          </a:prstGeom>
          <a:solidFill>
            <a:srgbClr val="0F2A4A"/>
          </a:solidFill>
          <a:ln w="12700">
            <a:solidFill>
              <a:srgbClr val="0F2A4A"/>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Pilote B — observabilité</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Un écran : pression d'huile −40 %, vibration axe Z</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Il coupe le moteur concerné</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Il compense, il se pose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Notre métier : fabriquer l'écran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Les trois signaux</a:t>
            </a:r>
            <a:endParaRPr lang="en-US" sz="2800" dirty="0"/>
          </a:p>
        </p:txBody>
      </p:sp>
      <p:pic>
        <p:nvPicPr>
          <p:cNvPr id="5" name="Image 0" descr="/home/claude/formation-observabilite-lab/docs/diagrams/trois-signaux.png">    </p:cNvPr>
          <p:cNvPicPr>
            <a:picLocks noChangeAspect="1"/>
          </p:cNvPicPr>
          <p:nvPr/>
        </p:nvPicPr>
        <p:blipFill>
          <a:blip r:embed="rId1"/>
          <a:srcRect l="0" r="0" t="0" b="0"/>
          <a:stretch/>
        </p:blipFill>
        <p:spPr>
          <a:xfrm>
            <a:off x="457200" y="1143000"/>
            <a:ext cx="8229600" cy="3291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731520" y="1371600"/>
            <a:ext cx="7680960" cy="16459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Black Friday. Tous les voyants infra au vert.</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Chiffre d'affaires de la journée : zéro.</a:t>
            </a:r>
            <a:endParaRPr lang="en-US" sz="3400" dirty="0"/>
          </a:p>
        </p:txBody>
      </p:sp>
      <p:sp>
        <p:nvSpPr>
          <p:cNvPr id="3" name="Text 1"/>
          <p:cNvSpPr txBox="1"/>
          <p:nvPr/>
        </p:nvSpPr>
        <p:spPr>
          <a:xfrm>
            <a:off x="731520" y="3108960"/>
            <a:ext cx="7680960" cy="914400"/>
          </a:xfrm>
          <a:prstGeom prst="rect">
            <a:avLst/>
          </a:prstGeom>
          <a:noFill/>
          <a:ln/>
        </p:spPr>
        <p:txBody>
          <a:bodyPr wrap="square" lIns="0" tIns="0" rIns="0" bIns="0" rtlCol="0" anchor="ctr"/>
          <a:lstStyle/>
          <a:p>
            <a:pPr indent="0" marL="0">
              <a:buNone/>
            </a:pPr>
            <a:r>
              <a:rPr lang="en-US" sz="1800" dirty="0">
                <a:solidFill>
                  <a:srgbClr val="FFB48F"/>
                </a:solidFill>
                <a:latin typeface="Calibri" pitchFamily="34" charset="0"/>
                <a:ea typeface="Calibri" pitchFamily="34" charset="-122"/>
                <a:cs typeface="Calibri" pitchFamily="34" charset="-120"/>
              </a:rPr>
              <a:t>Un bug JavaScript sur le bouton « Payer ». Personne n'avait de métrique « commandes par minute ».</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Pull contre push</a:t>
            </a:r>
            <a:endParaRPr lang="en-US" sz="2800" dirty="0"/>
          </a:p>
        </p:txBody>
      </p:sp>
      <p:pic>
        <p:nvPicPr>
          <p:cNvPr id="5" name="Image 0" descr="/home/claude/formation-observabilite-lab/docs/diagrams/pull-push.png">    </p:cNvPr>
          <p:cNvPicPr>
            <a:picLocks noChangeAspect="1"/>
          </p:cNvPicPr>
          <p:nvPr/>
        </p:nvPicPr>
        <p:blipFill>
          <a:blip r:embed="rId1"/>
          <a:srcRect l="0" r="0" t="0" b="0"/>
          <a:stretch/>
        </p:blipFill>
        <p:spPr>
          <a:xfrm>
            <a:off x="457200" y="1143000"/>
            <a:ext cx="8229600" cy="3291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Un peu d'histoire, vite</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Text 4"/>
          <p:cNvSpPr txBox="1"/>
          <p:nvPr/>
        </p:nvSpPr>
        <p:spPr>
          <a:xfrm>
            <a:off x="6400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2012 — SoundCloud</a:t>
            </a:r>
            <a:endParaRPr lang="en-US" sz="1500" dirty="0"/>
          </a:p>
        </p:txBody>
      </p:sp>
      <p:sp>
        <p:nvSpPr>
          <p:cNvPr id="7" name="Text 5"/>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Inspiré de Borgmon (Google). Open source en 2015.</a:t>
            </a:r>
            <a:endParaRPr lang="en-US" sz="1200" dirty="0"/>
          </a:p>
        </p:txBody>
      </p:sp>
      <p:sp>
        <p:nvSpPr>
          <p:cNvPr id="8" name="Shape 6"/>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9" name="Text 7"/>
          <p:cNvSpPr txBox="1"/>
          <p:nvPr/>
        </p:nvSpPr>
        <p:spPr>
          <a:xfrm>
            <a:off x="48691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2016 — CNCF</a:t>
            </a:r>
            <a:endParaRPr lang="en-US" sz="1500" dirty="0"/>
          </a:p>
        </p:txBody>
      </p:sp>
      <p:sp>
        <p:nvSpPr>
          <p:cNvPr id="10" name="Text 8"/>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Deuxième projet accueilli après Kubernetes. Gradué en 2018. Le standard de fait.</a:t>
            </a:r>
            <a:endParaRPr lang="en-US" sz="1200" dirty="0"/>
          </a:p>
        </p:txBody>
      </p:sp>
      <p:sp>
        <p:nvSpPr>
          <p:cNvPr id="11" name="Shape 9"/>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2" name="Text 10"/>
          <p:cNvSpPr txBox="1"/>
          <p:nvPr/>
        </p:nvSpPr>
        <p:spPr>
          <a:xfrm>
            <a:off x="6400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2024 — Prometheus 3</a:t>
            </a:r>
            <a:endParaRPr lang="en-US" sz="1500" dirty="0"/>
          </a:p>
        </p:txBody>
      </p:sp>
      <p:sp>
        <p:nvSpPr>
          <p:cNvPr id="13" name="Text 11"/>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UTF-8, OTLP natif, remote write 2.0, nouvelle interface. On travaille sur la 3.13, la LTS (juillet 2026 → juillet 2027).</a:t>
            </a:r>
            <a:endParaRPr lang="en-US" sz="1200" dirty="0"/>
          </a:p>
        </p:txBody>
      </p:sp>
      <p:sp>
        <p:nvSpPr>
          <p:cNvPr id="14" name="Shape 12"/>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15" name="Text 13"/>
          <p:cNvSpPr txBox="1"/>
          <p:nvPr/>
        </p:nvSpPr>
        <p:spPr>
          <a:xfrm>
            <a:off x="48691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Grafana</a:t>
            </a:r>
            <a:endParaRPr lang="en-US" sz="1500" dirty="0"/>
          </a:p>
        </p:txBody>
      </p:sp>
      <p:sp>
        <p:nvSpPr>
          <p:cNvPr id="16" name="Text 14"/>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Né en 2014, fork de Kibana 3. N'importe quelle source, ne stocke rien. Version 13 depuis avril 2026, on utilise la 13.2.</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2</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Architecture de Prometheus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Les composants, le modèle de données, les quatre types de métriques.</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Les composants</a:t>
            </a:r>
            <a:endParaRPr lang="en-US" sz="2800" dirty="0"/>
          </a:p>
        </p:txBody>
      </p:sp>
      <p:pic>
        <p:nvPicPr>
          <p:cNvPr id="5" name="Image 0" descr="/home/claude/formation-observabilite-lab/docs/diagrams/composants.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Un journaliste qui fait sa tournée toutes les 15 secondes, un rédacteur en chef, une maquette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modèle de données</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http_requests_total{method="GET", route="/api/products", status="200"} 51</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métrique : http_requests_total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labels   : method, route, status   (les dimensions)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valeur   : 51                      (+ un timestamp en ms)</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Une série = un nom + un jeu de labels.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Un échantillon = une valeur + un timestamp (ms).</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Labels réservés : job, instance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Internes : tout ce qui commence par __</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Chaque combinaison de valeurs de labels crée une série distincte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Puissant : on découpe par n'importe quelle dimension</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Dangereux : la cardinalité (module 6)</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Les quatre types</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280160"/>
                <a:gridCol w="2011680"/>
                <a:gridCol w="2194560"/>
                <a:gridCol w="27432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Il fait quoi</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Exemples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Ce qu'on en fait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45720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Counter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Ne fait que monter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requêtes, erreurs, commandes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rate(), increase() — jamais brut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Gauge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Monte et descend</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mémoire, stock, connexions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valeur brute, *_over_time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Histogram</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Compte par tranches (buckets)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latences, tailles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histogram_quantile() → p95</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Summary</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Quantiles côté client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latences (ancienne école)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lecture directe, non agrégeable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19</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format d'exposition : du texte, lisible</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 HELP http_requests_total Nombre total de requêtes HTTP reçues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TYPE http_requests_total counter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http_requests_total{method="GET",route="/api/products",status="200"} 51.0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http_requests_total{method="POST",route="/api/checkout",status="201"} 17.0</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TYPE http_request_duration_seconds histogram</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http_request_duration_seconds_bucket{route="/api/checkout",le="0.1"} 12</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http_request_duration_seconds_bucket{route="/api/checkout",le="0.25"} 17</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http_request_duration_seconds_bucket{route="/api/checkout",le="+Inf"} 17</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http_request_duration_seconds_sum{route="/api/checkout"} 1.83</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http_request_duration_seconds_count{route="/api/checkout"} 17</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HELP, TYPE, puis une ligne par série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N'importe quel langage peut produire ça avec un printf</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Les buckets sont cumulatifs : le="0.25" compte tout ce qui est sous 250 ms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chemin d'un échantillon : la TSDB</a:t>
            </a:r>
            <a:endParaRPr lang="en-US" sz="2800" dirty="0"/>
          </a:p>
        </p:txBody>
      </p:sp>
      <p:pic>
        <p:nvPicPr>
          <p:cNvPr id="5" name="Image 0" descr="/home/claude/formation-observabilite-lab/docs/diagrams/tsdb.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Grafana ne voit jamais les cibles : il interroge Prometheus en PromQL. « No data » ? On teste la requête dans Prometheus d'abord.</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3</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Installer à la main</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Un binaire, un YAML, un dossier de données. Puis Grafana, branché en cliquant.</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Cinq façons d'installer Prometheus</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103120"/>
                <a:gridCol w="2560320"/>
                <a:gridCol w="356616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Méthode</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Quand</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Note</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Kubernetes + opérateur</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Le cas majoritaire en production</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kube-prometheus-stack, ServiceMonitor, PrometheusRule</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Conteneur Docker</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Labs, petits sites : cet après-midi</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quay.io/prometheus/prometheus:v3.13.3 + un YAML monté</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Binaire</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Pour comprendre : maintenant</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Un exécutable Go, un YAML, un dossier data/</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Paquet distribution</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À éviter</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Souvent plusieurs versions de retard</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57200">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Managé</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Quand on ne veut pas opérer</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Grafana Cloud, AMP, GMP, Mimir/Thanos/VictoriaMetrics</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Quelle version ? La question qu'on oublie</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Text 4"/>
          <p:cNvSpPr txBox="1"/>
          <p:nvPr/>
        </p:nvSpPr>
        <p:spPr>
          <a:xfrm>
            <a:off x="6400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Prometheus : une mineure toutes les 6 semaines</a:t>
            </a:r>
            <a:endParaRPr lang="en-US" sz="1500" dirty="0"/>
          </a:p>
        </p:txBody>
      </p:sp>
      <p:sp>
        <p:nvSpPr>
          <p:cNvPr id="7" name="Text 5"/>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3.12 en mai, 3.13 en juillet, 3.14 en août, 3.15 le 24 septembre. Une mineure n'est plus corrigée dès que la suivante sort.</a:t>
            </a:r>
            <a:endParaRPr lang="en-US" sz="1200" dirty="0"/>
          </a:p>
        </p:txBody>
      </p:sp>
      <p:sp>
        <p:nvSpPr>
          <p:cNvPr id="8" name="Shape 6"/>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9" name="Text 7"/>
          <p:cNvSpPr txBox="1"/>
          <p:nvPr/>
        </p:nvSpPr>
        <p:spPr>
          <a:xfrm>
            <a:off x="48691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LTS : une par an, corrigée un an</a:t>
            </a:r>
            <a:endParaRPr lang="en-US" sz="1500" dirty="0"/>
          </a:p>
        </p:txBody>
      </p:sp>
      <p:sp>
        <p:nvSpPr>
          <p:cNvPr id="10" name="Text 8"/>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Sécurité et bugs graves pendant douze mois, un mois de recouvrement. LTS en cours : 3.13 (1er juillet 2026 → 31 juillet 2027), déjà en 3.13.3. Avant : 3.5, fin de vie.</a:t>
            </a:r>
            <a:endParaRPr lang="en-US" sz="1200" dirty="0"/>
          </a:p>
        </p:txBody>
      </p:sp>
      <p:sp>
        <p:nvSpPr>
          <p:cNvPr id="11" name="Shape 9"/>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2" name="Text 10"/>
          <p:cNvSpPr txBox="1"/>
          <p:nvPr/>
        </p:nvSpPr>
        <p:spPr>
          <a:xfrm>
            <a:off x="6400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La règle</a:t>
            </a:r>
            <a:endParaRPr lang="en-US" sz="1500" dirty="0"/>
          </a:p>
        </p:txBody>
      </p:sp>
      <p:sp>
        <p:nvSpPr>
          <p:cNvPr id="13" name="Text 11"/>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Suivre la LTS, appliquer ses patchs dans le mois. Une mineure hors LTS seulement pour une fonctionnalité indispensable. Jamais une version de moins d'un mois.</a:t>
            </a:r>
            <a:endParaRPr lang="en-US" sz="1200" dirty="0"/>
          </a:p>
        </p:txBody>
      </p:sp>
      <p:sp>
        <p:nvSpPr>
          <p:cNvPr id="14" name="Shape 12"/>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15" name="Text 13"/>
          <p:cNvSpPr txBox="1"/>
          <p:nvPr/>
        </p:nvSpPr>
        <p:spPr>
          <a:xfrm>
            <a:off x="48691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Grafana : pas de LTS</a:t>
            </a:r>
            <a:endParaRPr lang="en-US" sz="1500" dirty="0"/>
          </a:p>
        </p:txBody>
      </p:sp>
      <p:sp>
        <p:nvSpPr>
          <p:cNvPr id="16" name="Text 14"/>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Une majeure par an (avril), une mineure tous les deux mois, patchs mensuels (+security). Mineure supportée 9 mois, dernière mineure d'une majeure 15 mois. Suivre les mineures avec un mois de retard.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Les fichiers et dossiers qui comptent</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Prometheus</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prometheus.yml : la configuration</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--storage.tsdb.path (data/) : la base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--storage.tsdb.retention.time (15d)</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--web.enable-lifecycle : reload par HTTP</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Port 9090, pas d'authentification</a:t>
            </a:r>
            <a:endParaRPr lang="en-US" sz="1300" dirty="0"/>
          </a:p>
        </p:txBody>
      </p:sp>
      <p:sp>
        <p:nvSpPr>
          <p:cNvPr id="8" name="Shape 6"/>
          <p:cNvSpPr/>
          <p:nvPr/>
        </p:nvSpPr>
        <p:spPr>
          <a:xfrm>
            <a:off x="4709160" y="1234440"/>
            <a:ext cx="3977640" cy="3429000"/>
          </a:xfrm>
          <a:prstGeom prst="roundRect">
            <a:avLst>
              <a:gd name="adj" fmla="val 2133"/>
            </a:avLst>
          </a:prstGeom>
          <a:solidFill>
            <a:srgbClr val="F4F5F7"/>
          </a:solidFill>
          <a:ln w="12700">
            <a:solidFill>
              <a:srgbClr val="F4F5F7"/>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Grafana</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conf/defaults.ini (jamais modifié), custom.ini ou variables GF_SECTION_CLE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data/ : grafana.db (SQLite), plugins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conf/provisioning : datasources, dashboards, alerting en YAML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Port 3000, compte admin, --homepath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Exercices 1.1 à 1.4 — installer à la main (50 min)</a:t>
            </a:r>
            <a:endParaRPr lang="en-US" sz="2800" dirty="0"/>
          </a:p>
        </p:txBody>
      </p:sp>
      <p:sp>
        <p:nvSpPr>
          <p:cNvPr id="5" name="Shape 3"/>
          <p:cNvSpPr/>
          <p:nvPr/>
        </p:nvSpPr>
        <p:spPr>
          <a:xfrm>
            <a:off x="457200" y="1280160"/>
            <a:ext cx="384048" cy="384048"/>
          </a:xfrm>
          <a:prstGeom prst="ellipse">
            <a:avLst/>
          </a:prstGeom>
          <a:solidFill>
            <a:srgbClr val="F15A22"/>
          </a:solidFill>
          <a:ln w="12700">
            <a:solidFill>
              <a:srgbClr val="F15A22"/>
            </a:solidFill>
            <a:prstDash val="solid"/>
          </a:ln>
        </p:spPr>
      </p:sp>
      <p:sp>
        <p:nvSpPr>
          <p:cNvPr id="6" name="Text 4"/>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1.1</a:t>
            </a:r>
            <a:endParaRPr lang="en-US" sz="950" dirty="0"/>
          </a:p>
        </p:txBody>
      </p:sp>
      <p:sp>
        <p:nvSpPr>
          <p:cNvPr id="7" name="Text 5"/>
          <p:cNvSpPr txBox="1"/>
          <p:nvPr/>
        </p:nvSpPr>
        <p:spPr>
          <a:xfrm>
            <a:off x="96012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Releases GitHub : dernière version, LTS ; install/download.sh, prometheus.yml à un job, ./prometheus, data/</a:t>
            </a:r>
            <a:endParaRPr lang="en-US" sz="1200" dirty="0"/>
          </a:p>
        </p:txBody>
      </p:sp>
      <p:sp>
        <p:nvSpPr>
          <p:cNvPr id="8" name="Shape 6"/>
          <p:cNvSpPr/>
          <p:nvPr/>
        </p:nvSpPr>
        <p:spPr>
          <a:xfrm>
            <a:off x="457200" y="1938528"/>
            <a:ext cx="384048" cy="384048"/>
          </a:xfrm>
          <a:prstGeom prst="ellipse">
            <a:avLst/>
          </a:prstGeom>
          <a:solidFill>
            <a:srgbClr val="F15A22"/>
          </a:solidFill>
          <a:ln w="12700">
            <a:solidFill>
              <a:srgbClr val="F15A22"/>
            </a:solidFill>
            <a:prstDash val="solid"/>
          </a:ln>
        </p:spPr>
      </p:sp>
      <p:sp>
        <p:nvSpPr>
          <p:cNvPr id="9" name="Text 7"/>
          <p:cNvSpPr txBox="1"/>
          <p:nvPr/>
        </p:nvSpPr>
        <p:spPr>
          <a:xfrm>
            <a:off x="45720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1.2</a:t>
            </a:r>
            <a:endParaRPr lang="en-US" sz="950" dirty="0"/>
          </a:p>
        </p:txBody>
      </p:sp>
      <p:sp>
        <p:nvSpPr>
          <p:cNvPr id="10" name="Text 8"/>
          <p:cNvSpPr txBox="1"/>
          <p:nvPr/>
        </p:nvSpPr>
        <p:spPr>
          <a:xfrm>
            <a:off x="96012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Lire localhost:9090/metrics : un exemple de chaque type, les buckets, ~700 séries</a:t>
            </a:r>
            <a:endParaRPr lang="en-US" sz="1200" dirty="0"/>
          </a:p>
        </p:txBody>
      </p:sp>
      <p:sp>
        <p:nvSpPr>
          <p:cNvPr id="11" name="Shape 9"/>
          <p:cNvSpPr/>
          <p:nvPr/>
        </p:nvSpPr>
        <p:spPr>
          <a:xfrm>
            <a:off x="4663440" y="1280160"/>
            <a:ext cx="384048" cy="384048"/>
          </a:xfrm>
          <a:prstGeom prst="ellipse">
            <a:avLst/>
          </a:prstGeom>
          <a:solidFill>
            <a:srgbClr val="F15A22"/>
          </a:solidFill>
          <a:ln w="12700">
            <a:solidFill>
              <a:srgbClr val="F15A22"/>
            </a:solidFill>
            <a:prstDash val="solid"/>
          </a:ln>
        </p:spPr>
      </p:sp>
      <p:sp>
        <p:nvSpPr>
          <p:cNvPr id="12" name="Text 10"/>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1.3</a:t>
            </a:r>
            <a:endParaRPr lang="en-US" sz="950" dirty="0"/>
          </a:p>
        </p:txBody>
      </p:sp>
      <p:sp>
        <p:nvSpPr>
          <p:cNvPr id="13" name="Text 11"/>
          <p:cNvSpPr txBox="1"/>
          <p:nvPr/>
        </p:nvSpPr>
        <p:spPr>
          <a:xfrm>
            <a:off x="516636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L'interface : configuration, version, TSDB status, up, filtres, onglet Explain</a:t>
            </a:r>
            <a:endParaRPr lang="en-US" sz="1200" dirty="0"/>
          </a:p>
        </p:txBody>
      </p:sp>
      <p:sp>
        <p:nvSpPr>
          <p:cNvPr id="14" name="Shape 12"/>
          <p:cNvSpPr/>
          <p:nvPr/>
        </p:nvSpPr>
        <p:spPr>
          <a:xfrm>
            <a:off x="4663440" y="1938528"/>
            <a:ext cx="384048" cy="384048"/>
          </a:xfrm>
          <a:prstGeom prst="ellipse">
            <a:avLst/>
          </a:prstGeom>
          <a:solidFill>
            <a:srgbClr val="F15A22"/>
          </a:solidFill>
          <a:ln w="12700">
            <a:solidFill>
              <a:srgbClr val="F15A22"/>
            </a:solidFill>
            <a:prstDash val="solid"/>
          </a:ln>
        </p:spPr>
      </p:sp>
      <p:sp>
        <p:nvSpPr>
          <p:cNvPr id="15" name="Text 13"/>
          <p:cNvSpPr txBox="1"/>
          <p:nvPr/>
        </p:nvSpPr>
        <p:spPr>
          <a:xfrm>
            <a:off x="466344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1.4</a:t>
            </a:r>
            <a:endParaRPr lang="en-US" sz="950" dirty="0"/>
          </a:p>
        </p:txBody>
      </p:sp>
      <p:sp>
        <p:nvSpPr>
          <p:cNvPr id="16" name="Text 14"/>
          <p:cNvSpPr txBox="1"/>
          <p:nvPr/>
        </p:nvSpPr>
        <p:spPr>
          <a:xfrm>
            <a:off x="516636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Grafana en binaire (--homepath), datasource cliquée, Explore, data/grafana.db</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4</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Configuration de Prometheus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Lire et modifier prometheus.yml en sécurité.</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Anatomie de prometheus.yml</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global: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scrape_interval: 15s      # le pouls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evaluation_interval: 15s  # rythme des règles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external_labels: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cluster: formation</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rule_files: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rules/*.yml</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alerting:                   # commenté jusqu'au jour 3</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alertmanagers: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static_configs: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targets: ["alertmanager:9093"]</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scrape_configs: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job_name: prometheus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static_configs: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targets: ["localhost:9090"]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labels: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env: formation</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Quatre blocs</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Un job = des cibles de même nature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job et instance ajoutés automatiquement</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Fenêtre de rate() ≥ 4 × scrape_interval</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Reload : kill -HUP, ou /-/reload avec --web.enable-lifecycle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Valider, recharger, découvrir</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Text 4"/>
          <p:cNvSpPr txBox="1"/>
          <p:nvPr/>
        </p:nvSpPr>
        <p:spPr>
          <a:xfrm>
            <a:off x="6400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Valider avant</a:t>
            </a:r>
            <a:endParaRPr lang="en-US" sz="1500" dirty="0"/>
          </a:p>
        </p:txBody>
      </p:sp>
      <p:sp>
        <p:nvSpPr>
          <p:cNvPr id="7" name="Text 5"/>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promtool check config prometheus.yml. Le nginx -t de Prometheus. En conteneur : ./lab.sh check.</a:t>
            </a:r>
            <a:endParaRPr lang="en-US" sz="1200" dirty="0"/>
          </a:p>
        </p:txBody>
      </p:sp>
      <p:sp>
        <p:nvSpPr>
          <p:cNvPr id="8" name="Shape 6"/>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9" name="Text 7"/>
          <p:cNvSpPr txBox="1"/>
          <p:nvPr/>
        </p:nvSpPr>
        <p:spPr>
          <a:xfrm>
            <a:off x="48691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Recharger à chaud</a:t>
            </a:r>
            <a:endParaRPr lang="en-US" sz="1500" dirty="0"/>
          </a:p>
        </p:txBody>
      </p:sp>
      <p:sp>
        <p:nvSpPr>
          <p:cNvPr id="10" name="Text 8"/>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kill -HUP, ou curl -X POST /-/reload. Fichier invalide ? L'ancienne config reste, prometheus_config_last_reload_successful passe à 0.</a:t>
            </a:r>
            <a:endParaRPr lang="en-US" sz="1200" dirty="0"/>
          </a:p>
        </p:txBody>
      </p:sp>
      <p:sp>
        <p:nvSpPr>
          <p:cNvPr id="11" name="Shape 9"/>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2" name="Text 10"/>
          <p:cNvSpPr txBox="1"/>
          <p:nvPr/>
        </p:nvSpPr>
        <p:spPr>
          <a:xfrm>
            <a:off x="6400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Service discovery</a:t>
            </a:r>
            <a:endParaRPr lang="en-US" sz="1500" dirty="0"/>
          </a:p>
        </p:txBody>
      </p:sp>
      <p:sp>
        <p:nvSpPr>
          <p:cNvPr id="13" name="Text 11"/>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Kubernetes, Consul, DNS, EC2/Azure/GCE, Docker… et file_sd : un fichier que n'importe quel script écrit, relu sans reload.</a:t>
            </a:r>
            <a:endParaRPr lang="en-US" sz="1200" dirty="0"/>
          </a:p>
        </p:txBody>
      </p:sp>
      <p:sp>
        <p:nvSpPr>
          <p:cNvPr id="14" name="Shape 12"/>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15" name="Text 13"/>
          <p:cNvSpPr txBox="1"/>
          <p:nvPr/>
        </p:nvSpPr>
        <p:spPr>
          <a:xfrm>
            <a:off x="48691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Relabeling</a:t>
            </a:r>
            <a:endParaRPr lang="en-US" sz="1500" dirty="0"/>
          </a:p>
        </p:txBody>
      </p:sp>
      <p:sp>
        <p:nvSpPr>
          <p:cNvPr id="16" name="Text 14"/>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Le videur à l'entrée : relabel_configs avant le scrape (cibles), metric_relabel_configs après (séries). On jette avant que ça coûte.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29</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Exercices 1.5 et 1.6 — configuration (25 min)</a:t>
            </a:r>
            <a:endParaRPr lang="en-US" sz="2800" dirty="0"/>
          </a:p>
        </p:txBody>
      </p:sp>
      <p:sp>
        <p:nvSpPr>
          <p:cNvPr id="5" name="Shape 3"/>
          <p:cNvSpPr/>
          <p:nvPr/>
        </p:nvSpPr>
        <p:spPr>
          <a:xfrm>
            <a:off x="457200" y="1280160"/>
            <a:ext cx="384048" cy="384048"/>
          </a:xfrm>
          <a:prstGeom prst="ellipse">
            <a:avLst/>
          </a:prstGeom>
          <a:solidFill>
            <a:srgbClr val="F15A22"/>
          </a:solidFill>
          <a:ln w="12700">
            <a:solidFill>
              <a:srgbClr val="F15A22"/>
            </a:solidFill>
            <a:prstDash val="solid"/>
          </a:ln>
        </p:spPr>
      </p:sp>
      <p:sp>
        <p:nvSpPr>
          <p:cNvPr id="6" name="Text 4"/>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1.5</a:t>
            </a:r>
            <a:endParaRPr lang="en-US" sz="950" dirty="0"/>
          </a:p>
        </p:txBody>
      </p:sp>
      <p:sp>
        <p:nvSpPr>
          <p:cNvPr id="7" name="Text 5"/>
          <p:cNvSpPr txBox="1"/>
          <p:nvPr/>
        </p:nvSpPr>
        <p:spPr>
          <a:xfrm>
            <a:off x="96012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Scrape à 5 s, promtool check config, kill -HUP (Windows : --web.enable-lifecycle), vérifier, remettre 15 s</a:t>
            </a:r>
            <a:endParaRPr lang="en-US" sz="1200" dirty="0"/>
          </a:p>
        </p:txBody>
      </p:sp>
      <p:sp>
        <p:nvSpPr>
          <p:cNvPr id="8" name="Shape 6"/>
          <p:cNvSpPr/>
          <p:nvPr/>
        </p:nvSpPr>
        <p:spPr>
          <a:xfrm>
            <a:off x="4663440" y="1280160"/>
            <a:ext cx="384048" cy="384048"/>
          </a:xfrm>
          <a:prstGeom prst="ellipse">
            <a:avLst/>
          </a:prstGeom>
          <a:solidFill>
            <a:srgbClr val="F15A22"/>
          </a:solidFill>
          <a:ln w="12700">
            <a:solidFill>
              <a:srgbClr val="F15A22"/>
            </a:solidFill>
            <a:prstDash val="solid"/>
          </a:ln>
        </p:spPr>
      </p:sp>
      <p:sp>
        <p:nvSpPr>
          <p:cNvPr id="9" name="Text 7"/>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1.6</a:t>
            </a:r>
            <a:endParaRPr lang="en-US" sz="950" dirty="0"/>
          </a:p>
        </p:txBody>
      </p:sp>
      <p:sp>
        <p:nvSpPr>
          <p:cNvPr id="10" name="Text 8"/>
          <p:cNvSpPr txBox="1"/>
          <p:nvPr/>
        </p:nvSpPr>
        <p:spPr>
          <a:xfrm>
            <a:off x="516636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Casser la config, recharger sans valider, la métrique à 0 ; puis redémarrer : fatal</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Exercice 1.7 — Des binaires aux conteneurs</a:t>
            </a:r>
            <a:endParaRPr lang="en-US" sz="2800" dirty="0"/>
          </a:p>
        </p:txBody>
      </p:sp>
      <p:pic>
        <p:nvPicPr>
          <p:cNvPr id="5" name="Image 0" descr="/home/claude/formation-observabilite-lab/docs/diagrams/binaire-conteneur.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Arrêter les binaires · décommenter compose/01-prometheus.yml et 02-grafana.yml · ./lab.sh up · lire ce que le provisioning a fait tout seul</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5</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Les exporters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L'adaptateur de prise universel.</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Les incontournables</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926080"/>
                <a:gridCol w="3840480"/>
                <a:gridCol w="146304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Exporter</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Pour quoi</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Port</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384048">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node_exporter / windows_exporter</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Linux, Windows : CPU, mémoire, disque, réseau</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9100 / 9182</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blackbox_exporter</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Sondes externes : HTTP, TCP, ICMP, DNS, TLS</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9115</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cAdvisor, kube-state-metrics</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Conteneurs, objets Kubernetes</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8080</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postgres, mysqld, redis, mongodb</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Bases de données</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9187, 9104, 9121, 9216</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snmp_exporter</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Équipements réseau</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9116</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84048">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pushgateway</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Pas un exporter : un relais pour les batchs</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50" dirty="0">
                          <a:solidFill>
                            <a:srgbClr val="1B1F2A"/>
                          </a:solidFill>
                          <a:latin typeface="Calibri" pitchFamily="34" charset="0"/>
                          <a:ea typeface="Calibri" pitchFamily="34" charset="-122"/>
                          <a:cs typeface="Calibri" pitchFamily="34" charset="-120"/>
                        </a:rPr>
                        <a:t>9091</a:t>
                      </a:r>
                      <a:endParaRPr lang="en-US" sz="125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Node Exporter et le piège Docker</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Node Exporter</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Une soixantaine de collectors, une trentaine actifs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--collector.x / --no-collector.x</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textfile : des fichiers .prom déposés par n'importe quel script</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La Pushgateway du pauvre, souvent préférable</a:t>
            </a:r>
            <a:endParaRPr lang="en-US" sz="1300" dirty="0"/>
          </a:p>
        </p:txBody>
      </p:sp>
      <p:sp>
        <p:nvSpPr>
          <p:cNvPr id="8" name="Shape 6"/>
          <p:cNvSpPr/>
          <p:nvPr/>
        </p:nvSpPr>
        <p:spPr>
          <a:xfrm>
            <a:off x="4709160" y="1234440"/>
            <a:ext cx="3977640" cy="3429000"/>
          </a:xfrm>
          <a:prstGeom prst="roundRect">
            <a:avLst>
              <a:gd name="adj" fmla="val 2133"/>
            </a:avLst>
          </a:prstGeom>
          <a:solidFill>
            <a:srgbClr val="0F2A4A"/>
          </a:solidFill>
          <a:ln w="12700">
            <a:solidFill>
              <a:srgbClr val="0F2A4A"/>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Le piège Docker</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Dans un conteneur nu, il voit le conteneur : 1 CPU, quelques Mo, un overlay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Monter /proc, /sys, / en lecture seule + --path.*</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Sur Docker Desktop, « l'hôte » est la VM Linux</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En prod Linux : binaire ou paquet sur l'hôte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Blackbox et Pushgateway</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Blackbox Exporter</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Tous les autres disent « je vais bien » de l'intérieur</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Lui teste de l'extérieur, comme un client : 200 ? certificat ? port ouvert ?</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Prometheus l'appelle sur /probe?module=…&amp;target=…</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Le relabeling devient indispensable (TP 2)</a:t>
            </a:r>
            <a:endParaRPr lang="en-US" sz="1300" dirty="0"/>
          </a:p>
        </p:txBody>
      </p:sp>
      <p:sp>
        <p:nvSpPr>
          <p:cNvPr id="8" name="Shape 6"/>
          <p:cNvSpPr/>
          <p:nvPr/>
        </p:nvSpPr>
        <p:spPr>
          <a:xfrm>
            <a:off x="4709160" y="1234440"/>
            <a:ext cx="3977640" cy="3429000"/>
          </a:xfrm>
          <a:prstGeom prst="roundRect">
            <a:avLst>
              <a:gd name="adj" fmla="val 2133"/>
            </a:avLst>
          </a:prstGeom>
          <a:solidFill>
            <a:srgbClr val="F4F5F7"/>
          </a:solidFill>
          <a:ln w="12700">
            <a:solidFill>
              <a:srgbClr val="F4F5F7"/>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Pushgateway</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Pour les jobs trop courts pour être scrapés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Le batch pousse, la gateway garde, Prometheus scrape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Pas de TTL : elle n'oublie jamais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Uniquement pour des batchs, jamais pour des services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Comment Prometheus parle au Blackbox</a:t>
            </a:r>
            <a:endParaRPr lang="en-US" sz="2800" dirty="0"/>
          </a:p>
        </p:txBody>
      </p:sp>
      <p:pic>
        <p:nvPicPr>
          <p:cNvPr id="5" name="Image 0" descr="/home/claude/formation-observabilite-lab/docs/diagrams/blackbox-relabel.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Le meilleur exemple de relabeling qui existe : on le décortique règle par règle au TP 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1</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Node Exporter : de la machine à Prometheus</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Vous venez de recevoir un serveur. Avant d'y déployer quoi que ce soit, vous voulez ses signes vitaux dans Prometheus, et pouvoir y ajouter vos propres indicateurs avec un simple script.</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Brancher</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Activer la brique 04, lire ses trois montages, le job node dans prometheus.yml, node_uname_info.</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Indicateurs</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Uptime, mémoire %, disque %, charge, CPU % (la formule à comprendre). Chaos CPU.</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Collectors</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Activer processes, désactiver arp, dans compose/04-node-exporter.yml.</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Textfile</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backup.prom déposé par un script : quand a tourné la dernière sauvegarde ?</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Vue globale</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topk, réseau, Explore dans Grafana. Bonus : dashboard 1860.</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6</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Instrumenter son application</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Whitebox : mettre les sondes à l'intérieur.</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Une bibliothèque cliente, quatre objets</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from prometheus_client import Counter, Gauge, Histogram</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HTTP_REQUESTS = Counter("http_requests_total", "Requêtes HTTP",</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["method", "route", "status"])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HTTP_DURATION = Histogram("http_request_duration_seconds", "Durée",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["route"], buckets=(0.005, 0.01, 0.025, 0.05,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0.1, 0.25, 0.5, 1, 2.5, 5, 10))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ORDERS = Counter("shop_orders_total", "Commandes", ["payment_method"])</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STOCK  = Gauge("shop_stock_units", "Stock", ["product"])</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HTTP_REQUESTS.labels("POST", "/api/checkout", "201").inc()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HTTP_DURATION.labels(route="/api/checkout").observe(0.083)</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ORDERS.labels(payment_method="card").inc()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STOCK.labels(product="clavier").set(84)</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Go, Java/Micrometer, Python, Ruby, Rust officiels ; .NET, Node.js, PHP par la communauté</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Tout en mémoire dans le processus : d'où le compteur remis à zéro au redémarrage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La bibliothèque expose /metrics toute seule</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39</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Ce que la boutique doit exposer</a:t>
            </a:r>
            <a:endParaRPr lang="en-US" sz="2800" dirty="0"/>
          </a:p>
        </p:txBody>
      </p:sp>
      <p:pic>
        <p:nvPicPr>
          <p:cNvPr id="5" name="Image 0" descr="/home/claude/formation-observabilite-lab/docs/diagrams/red.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RED pour le service, métier pour le directeur commercial : c'est ce que le TP 2 termine dans le code</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40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Nommer, découper, ne pas se tuer</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Text 4"/>
          <p:cNvSpPr txBox="1"/>
          <p:nvPr/>
        </p:nvSpPr>
        <p:spPr>
          <a:xfrm>
            <a:off x="6400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Nommage</a:t>
            </a:r>
            <a:endParaRPr lang="en-US" sz="1500" dirty="0"/>
          </a:p>
        </p:txBody>
      </p:sp>
      <p:sp>
        <p:nvSpPr>
          <p:cNvPr id="7" name="Text 5"/>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snake_case, préfixe du domaine (http_, shop_), unité de base en suffixe (_seconds, _bytes), _total pour les counters. Grafana convertit.</a:t>
            </a:r>
            <a:endParaRPr lang="en-US" sz="1200" dirty="0"/>
          </a:p>
        </p:txBody>
      </p:sp>
      <p:sp>
        <p:nvSpPr>
          <p:cNvPr id="8" name="Shape 6"/>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9" name="Text 7"/>
          <p:cNvSpPr txBox="1"/>
          <p:nvPr/>
        </p:nvSpPr>
        <p:spPr>
          <a:xfrm>
            <a:off x="48691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RED et USE</a:t>
            </a:r>
            <a:endParaRPr lang="en-US" sz="1500" dirty="0"/>
          </a:p>
        </p:txBody>
      </p:sp>
      <p:sp>
        <p:nvSpPr>
          <p:cNvPr id="10" name="Text 8"/>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Service : Rate, Errors, Duration. Ressource : Utilisation, Saturation, Errors. Les golden signals de Google SRE.</a:t>
            </a:r>
            <a:endParaRPr lang="en-US" sz="1200" dirty="0"/>
          </a:p>
        </p:txBody>
      </p:sp>
      <p:sp>
        <p:nvSpPr>
          <p:cNvPr id="11" name="Shape 9"/>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2" name="Text 10"/>
          <p:cNvSpPr txBox="1"/>
          <p:nvPr/>
        </p:nvSpPr>
        <p:spPr>
          <a:xfrm>
            <a:off x="6400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Labels autorisés</a:t>
            </a:r>
            <a:endParaRPr lang="en-US" sz="1500" dirty="0"/>
          </a:p>
        </p:txBody>
      </p:sp>
      <p:sp>
        <p:nvSpPr>
          <p:cNvPr id="13" name="Text 11"/>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method (5 valeurs), status (10), route en pattern (50). Bornés, stables.</a:t>
            </a:r>
            <a:endParaRPr lang="en-US" sz="1200" dirty="0"/>
          </a:p>
        </p:txBody>
      </p:sp>
      <p:sp>
        <p:nvSpPr>
          <p:cNvPr id="14" name="Shape 12"/>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15" name="Text 13"/>
          <p:cNvSpPr txBox="1"/>
          <p:nvPr/>
        </p:nvSpPr>
        <p:spPr>
          <a:xfrm>
            <a:off x="48691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Labels interdits</a:t>
            </a:r>
            <a:endParaRPr lang="en-US" sz="1500" dirty="0"/>
          </a:p>
        </p:txBody>
      </p:sp>
      <p:sp>
        <p:nvSpPr>
          <p:cNvPr id="16" name="Text 14"/>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user_id, session_id, request_id, IP, email, URL réelle, terme de recherche. Un million d'utilisateurs = un million de séries.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2</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Application, instrumentation et services tiers</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L'équipe boutique livre son API à moitié instrumentée. Le directeur commercial veut son CA en temps réel et les fiches produit les plus vues. L'infra veut surveiller Redis. Le support veut savoir si le site répond de l'extérieur. Et il y a ce batch nocturne…</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Brancher</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Brique 03 : deux instances + trafic. Le job shop-api. Ce qui existe, ce qui manque.</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Instrumenter</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Cinq TODO dans app.py : histogramme, stock, commandes et CA, info, vues produit. Rebuild.</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Redis</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Brique 05, le job redis, redis_up, commandes par seconde.</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Blackbox</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Quatre sondes HTTP et les trois règles de relabeling. up ne veut plus dire ce qu'on croit.</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Batch</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./lab.sh batch, honor_labels, file_sd sur targets/*.yml : relu sans reload.</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42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Récap du jour 1</a:t>
            </a:r>
            <a:endParaRPr lang="en-US" sz="2800" dirty="0"/>
          </a:p>
        </p:txBody>
      </p:sp>
      <p:sp>
        <p:nvSpPr>
          <p:cNvPr id="5" name="Text 3"/>
          <p:cNvSpPr txBox="1"/>
          <p:nvPr/>
        </p:nvSpPr>
        <p:spPr>
          <a:xfrm>
            <a:off x="457200" y="1188720"/>
            <a:ext cx="822960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Un binaire, un YAML, un dossier data/ ; en conteneur, la même chose plus le provisioning</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Pull : résilience, up == 0, débogage au curl</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Un Counter ne se lit jamais brut : rate(), increase()</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Une série = nom + labels ; la cardinalité est le seul vrai danger</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promtool check config avant chaque reload</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Exporter = adaptateur ; blackbox : c'est probe_success qui compte, pas up</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honor_labels: true pour la Pushgateway ; file_sd relu sans reload</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Ce soir : cinq briques, six jobs UP, pas de ./lab.sh reset</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JOUR 2</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Comprendre</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PromQL comme un réflexe le matin ; deux tableaux de bord complets, versionnés, l'après-midi.</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7</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PromQL, les fondations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Sélecteurs, types de résultats, opérateurs, agrégations.</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45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Quatre types de résultats</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Text 4"/>
          <p:cNvSpPr txBox="1"/>
          <p:nvPr/>
        </p:nvSpPr>
        <p:spPr>
          <a:xfrm>
            <a:off x="6400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Instant vector</a:t>
            </a:r>
            <a:endParaRPr lang="en-US" sz="1500" dirty="0"/>
          </a:p>
        </p:txBody>
      </p:sp>
      <p:sp>
        <p:nvSpPr>
          <p:cNvPr id="7" name="Text 5"/>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Une valeur par série, à un instant. up, http_requests_total{job="shop-api"}. C'est ce que Grafana dessine.</a:t>
            </a:r>
            <a:endParaRPr lang="en-US" sz="1200" dirty="0"/>
          </a:p>
        </p:txBody>
      </p:sp>
      <p:sp>
        <p:nvSpPr>
          <p:cNvPr id="8" name="Shape 6"/>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9" name="Text 7"/>
          <p:cNvSpPr txBox="1"/>
          <p:nvPr/>
        </p:nvSpPr>
        <p:spPr>
          <a:xfrm>
            <a:off x="48691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Range vector</a:t>
            </a:r>
            <a:endParaRPr lang="en-US" sz="1500" dirty="0"/>
          </a:p>
        </p:txBody>
      </p:sp>
      <p:sp>
        <p:nvSpPr>
          <p:cNvPr id="10" name="Text 8"/>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Pour chaque série, toutes les valeurs sur une fenêtre : http_requests_total[5m]. Ne se dessine pas, nourrit rate().</a:t>
            </a:r>
            <a:endParaRPr lang="en-US" sz="1200" dirty="0"/>
          </a:p>
        </p:txBody>
      </p:sp>
      <p:sp>
        <p:nvSpPr>
          <p:cNvPr id="11" name="Shape 9"/>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2" name="Text 10"/>
          <p:cNvSpPr txBox="1"/>
          <p:nvPr/>
        </p:nvSpPr>
        <p:spPr>
          <a:xfrm>
            <a:off x="6400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Scalar</a:t>
            </a:r>
            <a:endParaRPr lang="en-US" sz="1500" dirty="0"/>
          </a:p>
        </p:txBody>
      </p:sp>
      <p:sp>
        <p:nvSpPr>
          <p:cNvPr id="13" name="Text 11"/>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Un nombre. 42, time(), scalar(…).</a:t>
            </a:r>
            <a:endParaRPr lang="en-US" sz="1200" dirty="0"/>
          </a:p>
        </p:txBody>
      </p:sp>
      <p:sp>
        <p:nvSpPr>
          <p:cNvPr id="14" name="Shape 12"/>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15" name="Text 13"/>
          <p:cNvSpPr txBox="1"/>
          <p:nvPr/>
        </p:nvSpPr>
        <p:spPr>
          <a:xfrm>
            <a:off x="48691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String</a:t>
            </a:r>
            <a:endParaRPr lang="en-US" sz="1500" dirty="0"/>
          </a:p>
        </p:txBody>
      </p:sp>
      <p:sp>
        <p:nvSpPr>
          <p:cNvPr id="16" name="Text 14"/>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Rarissime. On l'oublie.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46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Sélecteurs et décalages</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up{job="shop-api"}                     # égal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http_requests_total{route!="/metrics"}   # différent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http_requests_total{status=~"5.."}      # regex, ancrée : ^5..$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node_network_receive_bytes_total{device!~"lo|veth.*"}  # regex négative</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{__name__=~"shop_.*"}                   # le nom est un label</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shop_cart_items offset 1h               # il y a une heure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rate(x[5m]) and rate(x[5m] offset 1d)   # aujourd'hui vs hier</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http_requests_total @ end()             # figé sur la fin de la plage</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Quatre matchers : = != =~ !~</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Regex ancrées : 5.. matche exactement trois caractères</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offset et @ pour voyager dans le temps</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47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Opérateurs et agrégations</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node_memory_MemAvailable_bytes / node_memory_MemTotal_bytes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appariement sur labels identiques {instance, job}</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shop_stock_units &lt; 20          # filtre : ne renvoie que les séries sous 20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shop_stock_units &lt; bool 20     # 0 ou 1 pour toutes les séries</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sum by (route) (rate(http_requests_total[5m]))    # une série par route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sum without (instance) (…)                        # jette instance, garde le reste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sum(rate(http_requests_total[5m]))                # un seul nombre</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topk(3, shop_stock_units)   count(up)   avg   min   max   quantile(0.9, …)</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Une comparaison filtre : c'est la base des alertes (au moins une série renvoyée)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by : garder ces labels · without : jeter ceux-là</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Le tableau croisé dynamique de PromQL</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48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Série A — sélection et agrégation (40 min)</a:t>
            </a:r>
            <a:endParaRPr lang="en-US" sz="2800" dirty="0"/>
          </a:p>
        </p:txBody>
      </p:sp>
      <p:sp>
        <p:nvSpPr>
          <p:cNvPr id="5" name="Shape 3"/>
          <p:cNvSpPr/>
          <p:nvPr/>
        </p:nvSpPr>
        <p:spPr>
          <a:xfrm>
            <a:off x="457200" y="1280160"/>
            <a:ext cx="384048" cy="384048"/>
          </a:xfrm>
          <a:prstGeom prst="ellipse">
            <a:avLst/>
          </a:prstGeom>
          <a:solidFill>
            <a:srgbClr val="F15A22"/>
          </a:solidFill>
          <a:ln w="12700">
            <a:solidFill>
              <a:srgbClr val="F15A22"/>
            </a:solidFill>
            <a:prstDash val="solid"/>
          </a:ln>
        </p:spPr>
      </p:sp>
      <p:sp>
        <p:nvSpPr>
          <p:cNvPr id="6" name="Text 4"/>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a:t>
            </a:r>
            <a:endParaRPr lang="en-US" sz="950" dirty="0"/>
          </a:p>
        </p:txBody>
      </p:sp>
      <p:sp>
        <p:nvSpPr>
          <p:cNvPr id="7" name="Text 5"/>
          <p:cNvSpPr txBox="1"/>
          <p:nvPr/>
        </p:nvSpPr>
        <p:spPr>
          <a:xfrm>
            <a:off x="96012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Toutes les cibles, puis celles du job shop-api</a:t>
            </a:r>
            <a:endParaRPr lang="en-US" sz="1200" dirty="0"/>
          </a:p>
        </p:txBody>
      </p:sp>
      <p:sp>
        <p:nvSpPr>
          <p:cNvPr id="8" name="Shape 6"/>
          <p:cNvSpPr/>
          <p:nvPr/>
        </p:nvSpPr>
        <p:spPr>
          <a:xfrm>
            <a:off x="457200" y="1938528"/>
            <a:ext cx="384048" cy="384048"/>
          </a:xfrm>
          <a:prstGeom prst="ellipse">
            <a:avLst/>
          </a:prstGeom>
          <a:solidFill>
            <a:srgbClr val="F15A22"/>
          </a:solidFill>
          <a:ln w="12700">
            <a:solidFill>
              <a:srgbClr val="F15A22"/>
            </a:solidFill>
            <a:prstDash val="solid"/>
          </a:ln>
        </p:spPr>
      </p:sp>
      <p:sp>
        <p:nvSpPr>
          <p:cNvPr id="9" name="Text 7"/>
          <p:cNvSpPr txBox="1"/>
          <p:nvPr/>
        </p:nvSpPr>
        <p:spPr>
          <a:xfrm>
            <a:off x="45720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2.2</a:t>
            </a:r>
            <a:endParaRPr lang="en-US" sz="950" dirty="0"/>
          </a:p>
        </p:txBody>
      </p:sp>
      <p:sp>
        <p:nvSpPr>
          <p:cNvPr id="10" name="Text 8"/>
          <p:cNvSpPr txBox="1"/>
          <p:nvPr/>
        </p:nvSpPr>
        <p:spPr>
          <a:xfrm>
            <a:off x="96012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Les erreurs 4xx/5xx sans /metrics</a:t>
            </a:r>
            <a:endParaRPr lang="en-US" sz="1200" dirty="0"/>
          </a:p>
        </p:txBody>
      </p:sp>
      <p:sp>
        <p:nvSpPr>
          <p:cNvPr id="11" name="Shape 9"/>
          <p:cNvSpPr/>
          <p:nvPr/>
        </p:nvSpPr>
        <p:spPr>
          <a:xfrm>
            <a:off x="457200" y="2596896"/>
            <a:ext cx="384048" cy="384048"/>
          </a:xfrm>
          <a:prstGeom prst="ellipse">
            <a:avLst/>
          </a:prstGeom>
          <a:solidFill>
            <a:srgbClr val="F15A22"/>
          </a:solidFill>
          <a:ln w="12700">
            <a:solidFill>
              <a:srgbClr val="F15A22"/>
            </a:solidFill>
            <a:prstDash val="solid"/>
          </a:ln>
        </p:spPr>
      </p:sp>
      <p:sp>
        <p:nvSpPr>
          <p:cNvPr id="12" name="Text 10"/>
          <p:cNvSpPr txBox="1"/>
          <p:nvPr/>
        </p:nvSpPr>
        <p:spPr>
          <a:xfrm>
            <a:off x="457200" y="2596896"/>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2.3</a:t>
            </a:r>
            <a:endParaRPr lang="en-US" sz="950" dirty="0"/>
          </a:p>
        </p:txBody>
      </p:sp>
      <p:sp>
        <p:nvSpPr>
          <p:cNvPr id="13" name="Text 11"/>
          <p:cNvSpPr txBox="1"/>
          <p:nvPr/>
        </p:nvSpPr>
        <p:spPr>
          <a:xfrm>
            <a:off x="960120" y="2551176"/>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 range vector : combien de points, pourquoi pas de graphe</a:t>
            </a:r>
            <a:endParaRPr lang="en-US" sz="1200" dirty="0"/>
          </a:p>
        </p:txBody>
      </p:sp>
      <p:sp>
        <p:nvSpPr>
          <p:cNvPr id="14" name="Shape 12"/>
          <p:cNvSpPr/>
          <p:nvPr/>
        </p:nvSpPr>
        <p:spPr>
          <a:xfrm>
            <a:off x="457200" y="3255264"/>
            <a:ext cx="384048" cy="384048"/>
          </a:xfrm>
          <a:prstGeom prst="ellipse">
            <a:avLst/>
          </a:prstGeom>
          <a:solidFill>
            <a:srgbClr val="F15A22"/>
          </a:solidFill>
          <a:ln w="12700">
            <a:solidFill>
              <a:srgbClr val="F15A22"/>
            </a:solidFill>
            <a:prstDash val="solid"/>
          </a:ln>
        </p:spPr>
      </p:sp>
      <p:sp>
        <p:nvSpPr>
          <p:cNvPr id="15" name="Text 13"/>
          <p:cNvSpPr txBox="1"/>
          <p:nvPr/>
        </p:nvSpPr>
        <p:spPr>
          <a:xfrm>
            <a:off x="457200" y="3255264"/>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2.4</a:t>
            </a:r>
            <a:endParaRPr lang="en-US" sz="950" dirty="0"/>
          </a:p>
        </p:txBody>
      </p:sp>
      <p:sp>
        <p:nvSpPr>
          <p:cNvPr id="16" name="Text 14"/>
          <p:cNvSpPr txBox="1"/>
          <p:nvPr/>
        </p:nvSpPr>
        <p:spPr>
          <a:xfrm>
            <a:off x="960120" y="3209544"/>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Mémoire disponible en %</a:t>
            </a:r>
            <a:endParaRPr lang="en-US" sz="1200" dirty="0"/>
          </a:p>
        </p:txBody>
      </p:sp>
      <p:sp>
        <p:nvSpPr>
          <p:cNvPr id="17" name="Shape 15"/>
          <p:cNvSpPr/>
          <p:nvPr/>
        </p:nvSpPr>
        <p:spPr>
          <a:xfrm>
            <a:off x="457200" y="3913632"/>
            <a:ext cx="384048" cy="384048"/>
          </a:xfrm>
          <a:prstGeom prst="ellipse">
            <a:avLst/>
          </a:prstGeom>
          <a:solidFill>
            <a:srgbClr val="F15A22"/>
          </a:solidFill>
          <a:ln w="12700">
            <a:solidFill>
              <a:srgbClr val="F15A22"/>
            </a:solidFill>
            <a:prstDash val="solid"/>
          </a:ln>
        </p:spPr>
      </p:sp>
      <p:sp>
        <p:nvSpPr>
          <p:cNvPr id="18" name="Text 16"/>
          <p:cNvSpPr txBox="1"/>
          <p:nvPr/>
        </p:nvSpPr>
        <p:spPr>
          <a:xfrm>
            <a:off x="457200" y="3913632"/>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2.5</a:t>
            </a:r>
            <a:endParaRPr lang="en-US" sz="950" dirty="0"/>
          </a:p>
        </p:txBody>
      </p:sp>
      <p:sp>
        <p:nvSpPr>
          <p:cNvPr id="19" name="Text 17"/>
          <p:cNvSpPr txBox="1"/>
          <p:nvPr/>
        </p:nvSpPr>
        <p:spPr>
          <a:xfrm>
            <a:off x="960120" y="3867912"/>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Les paniers il y a 10 min, et l'écart</a:t>
            </a:r>
            <a:endParaRPr lang="en-US" sz="1200" dirty="0"/>
          </a:p>
        </p:txBody>
      </p:sp>
      <p:sp>
        <p:nvSpPr>
          <p:cNvPr id="20" name="Shape 18"/>
          <p:cNvSpPr/>
          <p:nvPr/>
        </p:nvSpPr>
        <p:spPr>
          <a:xfrm>
            <a:off x="4663440" y="1280160"/>
            <a:ext cx="384048" cy="384048"/>
          </a:xfrm>
          <a:prstGeom prst="ellipse">
            <a:avLst/>
          </a:prstGeom>
          <a:solidFill>
            <a:srgbClr val="F15A22"/>
          </a:solidFill>
          <a:ln w="12700">
            <a:solidFill>
              <a:srgbClr val="F15A22"/>
            </a:solidFill>
            <a:prstDash val="solid"/>
          </a:ln>
        </p:spPr>
      </p:sp>
      <p:sp>
        <p:nvSpPr>
          <p:cNvPr id="21" name="Text 19"/>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2.6</a:t>
            </a:r>
            <a:endParaRPr lang="en-US" sz="950" dirty="0"/>
          </a:p>
        </p:txBody>
      </p:sp>
      <p:sp>
        <p:nvSpPr>
          <p:cNvPr id="22" name="Text 20"/>
          <p:cNvSpPr txBox="1"/>
          <p:nvPr/>
        </p:nvSpPr>
        <p:spPr>
          <a:xfrm>
            <a:off x="516636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Total de requêtes par instance : est-ce un débit ?</a:t>
            </a:r>
            <a:endParaRPr lang="en-US" sz="1200" dirty="0"/>
          </a:p>
        </p:txBody>
      </p:sp>
      <p:sp>
        <p:nvSpPr>
          <p:cNvPr id="23" name="Shape 21"/>
          <p:cNvSpPr/>
          <p:nvPr/>
        </p:nvSpPr>
        <p:spPr>
          <a:xfrm>
            <a:off x="4663440" y="1938528"/>
            <a:ext cx="384048" cy="384048"/>
          </a:xfrm>
          <a:prstGeom prst="ellipse">
            <a:avLst/>
          </a:prstGeom>
          <a:solidFill>
            <a:srgbClr val="F15A22"/>
          </a:solidFill>
          <a:ln w="12700">
            <a:solidFill>
              <a:srgbClr val="F15A22"/>
            </a:solidFill>
            <a:prstDash val="solid"/>
          </a:ln>
        </p:spPr>
      </p:sp>
      <p:sp>
        <p:nvSpPr>
          <p:cNvPr id="24" name="Text 22"/>
          <p:cNvSpPr txBox="1"/>
          <p:nvPr/>
        </p:nvSpPr>
        <p:spPr>
          <a:xfrm>
            <a:off x="466344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2.7</a:t>
            </a:r>
            <a:endParaRPr lang="en-US" sz="950" dirty="0"/>
          </a:p>
        </p:txBody>
      </p:sp>
      <p:sp>
        <p:nvSpPr>
          <p:cNvPr id="25" name="Text 23"/>
          <p:cNvSpPr txBox="1"/>
          <p:nvPr/>
        </p:nvSpPr>
        <p:spPr>
          <a:xfrm>
            <a:off x="516636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without : garder tout sauf method, status, route</a:t>
            </a:r>
            <a:endParaRPr lang="en-US" sz="1200" dirty="0"/>
          </a:p>
        </p:txBody>
      </p:sp>
      <p:sp>
        <p:nvSpPr>
          <p:cNvPr id="26" name="Shape 24"/>
          <p:cNvSpPr/>
          <p:nvPr/>
        </p:nvSpPr>
        <p:spPr>
          <a:xfrm>
            <a:off x="4663440" y="2596896"/>
            <a:ext cx="384048" cy="384048"/>
          </a:xfrm>
          <a:prstGeom prst="ellipse">
            <a:avLst/>
          </a:prstGeom>
          <a:solidFill>
            <a:srgbClr val="F15A22"/>
          </a:solidFill>
          <a:ln w="12700">
            <a:solidFill>
              <a:srgbClr val="F15A22"/>
            </a:solidFill>
            <a:prstDash val="solid"/>
          </a:ln>
        </p:spPr>
      </p:sp>
      <p:sp>
        <p:nvSpPr>
          <p:cNvPr id="27" name="Text 25"/>
          <p:cNvSpPr txBox="1"/>
          <p:nvPr/>
        </p:nvSpPr>
        <p:spPr>
          <a:xfrm>
            <a:off x="4663440" y="2596896"/>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2.8</a:t>
            </a:r>
            <a:endParaRPr lang="en-US" sz="950" dirty="0"/>
          </a:p>
        </p:txBody>
      </p:sp>
      <p:sp>
        <p:nvSpPr>
          <p:cNvPr id="28" name="Text 26"/>
          <p:cNvSpPr txBox="1"/>
          <p:nvPr/>
        </p:nvSpPr>
        <p:spPr>
          <a:xfrm>
            <a:off x="5166360" y="2551176"/>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topk / bottomk sur le stock (deux instances !)</a:t>
            </a:r>
            <a:endParaRPr lang="en-US" sz="1200" dirty="0"/>
          </a:p>
        </p:txBody>
      </p:sp>
      <p:sp>
        <p:nvSpPr>
          <p:cNvPr id="29" name="Shape 27"/>
          <p:cNvSpPr/>
          <p:nvPr/>
        </p:nvSpPr>
        <p:spPr>
          <a:xfrm>
            <a:off x="4663440" y="3255264"/>
            <a:ext cx="384048" cy="384048"/>
          </a:xfrm>
          <a:prstGeom prst="ellipse">
            <a:avLst/>
          </a:prstGeom>
          <a:solidFill>
            <a:srgbClr val="F15A22"/>
          </a:solidFill>
          <a:ln w="12700">
            <a:solidFill>
              <a:srgbClr val="F15A22"/>
            </a:solidFill>
            <a:prstDash val="solid"/>
          </a:ln>
        </p:spPr>
      </p:sp>
      <p:sp>
        <p:nvSpPr>
          <p:cNvPr id="30" name="Text 28"/>
          <p:cNvSpPr txBox="1"/>
          <p:nvPr/>
        </p:nvSpPr>
        <p:spPr>
          <a:xfrm>
            <a:off x="4663440" y="3255264"/>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2.9</a:t>
            </a:r>
            <a:endParaRPr lang="en-US" sz="950" dirty="0"/>
          </a:p>
        </p:txBody>
      </p:sp>
      <p:sp>
        <p:nvSpPr>
          <p:cNvPr id="31" name="Text 29"/>
          <p:cNvSpPr txBox="1"/>
          <p:nvPr/>
        </p:nvSpPr>
        <p:spPr>
          <a:xfrm>
            <a:off x="5166360" y="3209544"/>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Stock &lt; 60, puis en bool</a:t>
            </a:r>
            <a:endParaRPr lang="en-US" sz="1200" dirty="0"/>
          </a:p>
        </p:txBody>
      </p:sp>
      <p:sp>
        <p:nvSpPr>
          <p:cNvPr id="32" name="Shape 30"/>
          <p:cNvSpPr/>
          <p:nvPr/>
        </p:nvSpPr>
        <p:spPr>
          <a:xfrm>
            <a:off x="4663440" y="3913632"/>
            <a:ext cx="384048" cy="384048"/>
          </a:xfrm>
          <a:prstGeom prst="ellipse">
            <a:avLst/>
          </a:prstGeom>
          <a:solidFill>
            <a:srgbClr val="F15A22"/>
          </a:solidFill>
          <a:ln w="12700">
            <a:solidFill>
              <a:srgbClr val="F15A22"/>
            </a:solidFill>
            <a:prstDash val="solid"/>
          </a:ln>
        </p:spPr>
      </p:sp>
      <p:sp>
        <p:nvSpPr>
          <p:cNvPr id="33" name="Text 31"/>
          <p:cNvSpPr txBox="1"/>
          <p:nvPr/>
        </p:nvSpPr>
        <p:spPr>
          <a:xfrm>
            <a:off x="4663440" y="3913632"/>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2.10</a:t>
            </a:r>
            <a:endParaRPr lang="en-US" sz="950" dirty="0"/>
          </a:p>
        </p:txBody>
      </p:sp>
      <p:sp>
        <p:nvSpPr>
          <p:cNvPr id="34" name="Text 32"/>
          <p:cNvSpPr txBox="1"/>
          <p:nvPr/>
        </p:nvSpPr>
        <p:spPr>
          <a:xfrm>
            <a:off x="5166360" y="3867912"/>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Routes distinctes : deux agrégations imbriquées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8</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PromQL avancé</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rate et ses cousins, histogrammes, jointures, recording rules, requêtes lentes.</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rate, irate, increase</a:t>
            </a:r>
            <a:endParaRPr lang="en-US" sz="2800" dirty="0"/>
          </a:p>
        </p:txBody>
      </p:sp>
      <p:sp>
        <p:nvSpPr>
          <p:cNvPr id="5" name="Shape 3"/>
          <p:cNvSpPr/>
          <p:nvPr/>
        </p:nvSpPr>
        <p:spPr>
          <a:xfrm>
            <a:off x="457200" y="1234440"/>
            <a:ext cx="2590800" cy="2468880"/>
          </a:xfrm>
          <a:prstGeom prst="roundRect">
            <a:avLst>
              <a:gd name="adj" fmla="val 2963"/>
            </a:avLst>
          </a:prstGeom>
          <a:solidFill>
            <a:srgbClr val="F4F5F7"/>
          </a:solidFill>
          <a:ln w="12700">
            <a:solidFill>
              <a:srgbClr val="F4F5F7"/>
            </a:solidFill>
            <a:prstDash val="solid"/>
          </a:ln>
        </p:spPr>
      </p:sp>
      <p:sp>
        <p:nvSpPr>
          <p:cNvPr id="6" name="Text 4"/>
          <p:cNvSpPr txBox="1"/>
          <p:nvPr/>
        </p:nvSpPr>
        <p:spPr>
          <a:xfrm>
            <a:off x="6400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rate(x[5m])</a:t>
            </a:r>
            <a:endParaRPr lang="en-US" sz="1600" dirty="0"/>
          </a:p>
        </p:txBody>
      </p:sp>
      <p:sp>
        <p:nvSpPr>
          <p:cNvPr id="7" name="Text 5"/>
          <p:cNvSpPr txBox="1"/>
          <p:nvPr/>
        </p:nvSpPr>
        <p:spPr>
          <a:xfrm>
            <a:off x="6400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Pente moyenne par seconde sur 5 min. Lisse, robuste. LA fonction pour les graphiques et les alertes.</a:t>
            </a:r>
            <a:endParaRPr lang="en-US" sz="1300" dirty="0"/>
          </a:p>
        </p:txBody>
      </p:sp>
      <p:sp>
        <p:nvSpPr>
          <p:cNvPr id="8" name="Shape 6"/>
          <p:cNvSpPr/>
          <p:nvPr/>
        </p:nvSpPr>
        <p:spPr>
          <a:xfrm>
            <a:off x="3276600" y="1234440"/>
            <a:ext cx="2590800" cy="2468880"/>
          </a:xfrm>
          <a:prstGeom prst="roundRect">
            <a:avLst>
              <a:gd name="adj" fmla="val 2963"/>
            </a:avLst>
          </a:prstGeom>
          <a:solidFill>
            <a:srgbClr val="F4F5F7"/>
          </a:solidFill>
          <a:ln w="12700">
            <a:solidFill>
              <a:srgbClr val="F4F5F7"/>
            </a:solidFill>
            <a:prstDash val="solid"/>
          </a:ln>
        </p:spPr>
      </p:sp>
      <p:sp>
        <p:nvSpPr>
          <p:cNvPr id="9" name="Text 7"/>
          <p:cNvSpPr txBox="1"/>
          <p:nvPr/>
        </p:nvSpPr>
        <p:spPr>
          <a:xfrm>
            <a:off x="34594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irate(x[5m])</a:t>
            </a:r>
            <a:endParaRPr lang="en-US" sz="1600" dirty="0"/>
          </a:p>
        </p:txBody>
      </p:sp>
      <p:sp>
        <p:nvSpPr>
          <p:cNvPr id="10" name="Text 8"/>
          <p:cNvSpPr txBox="1"/>
          <p:nvPr/>
        </p:nvSpPr>
        <p:spPr>
          <a:xfrm>
            <a:off x="34594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Pente entre les deux derniers points. Réactif, nerveux. Graphiques haute résolution seulement, jamais une alerte.</a:t>
            </a:r>
            <a:endParaRPr lang="en-US" sz="1300" dirty="0"/>
          </a:p>
        </p:txBody>
      </p:sp>
      <p:sp>
        <p:nvSpPr>
          <p:cNvPr id="11" name="Shape 9"/>
          <p:cNvSpPr/>
          <p:nvPr/>
        </p:nvSpPr>
        <p:spPr>
          <a:xfrm>
            <a:off x="6096000" y="1234440"/>
            <a:ext cx="2590800" cy="2468880"/>
          </a:xfrm>
          <a:prstGeom prst="roundRect">
            <a:avLst>
              <a:gd name="adj" fmla="val 2963"/>
            </a:avLst>
          </a:prstGeom>
          <a:solidFill>
            <a:srgbClr val="F4F5F7"/>
          </a:solidFill>
          <a:ln w="12700">
            <a:solidFill>
              <a:srgbClr val="F4F5F7"/>
            </a:solidFill>
            <a:prstDash val="solid"/>
          </a:ln>
        </p:spPr>
      </p:sp>
      <p:sp>
        <p:nvSpPr>
          <p:cNvPr id="12" name="Text 10"/>
          <p:cNvSpPr txBox="1"/>
          <p:nvPr/>
        </p:nvSpPr>
        <p:spPr>
          <a:xfrm>
            <a:off x="62788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increase(x[1h])</a:t>
            </a:r>
            <a:endParaRPr lang="en-US" sz="1600" dirty="0"/>
          </a:p>
        </p:txBody>
      </p:sp>
      <p:sp>
        <p:nvSpPr>
          <p:cNvPr id="13" name="Text 11"/>
          <p:cNvSpPr txBox="1"/>
          <p:nvPr/>
        </p:nvSpPr>
        <p:spPr>
          <a:xfrm>
            <a:off x="62788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De combien le compteur a augmenté. rate × durée. Peut donner 5,53 commandes : round() si besoin.</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taux d'erreur et le p95</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 Le ratio le plus écrit au monde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sum(rate(http_requests_total{status=~"5.."}[5m]))</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sum(rate(http_requests_total[5m]))</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Piège : pas de 5xx jamais vue = numérateur VIDE, pas zéro</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sum(rate(http_requests_total{status=~"5.."}[5m])) or vector(0)</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Le p95 : rate sur chaque bucket, sum EN GARDANT le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histogram_quantile(0.95,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sum by (le) (rate(http_request_duration_seconds_bucket[5m])))</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Latence moyenne : vraie, jamais utile pour un SLO</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rate(x_sum[5m]) / rate(x_count[5m])</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Sans by (le), la fonction ne peut plus rien faire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Le p95 est borné par la précision des buckets</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Native histograms : un échantillon par série, buckets exponentiels, stables depuis Prometheus 3.9 (scrape_native_histograms)</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Dans le temps, entre séries</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max_over_time(shop_cart_items[1h])              # pic d'une gauge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predict_linear(node_filesystem_avail_bytes[6h], 86400) &lt; 0  # plein demain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changes(shop_chaos_mode[10m])   deriv(…)   avg_over_time(…)</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max_over_time(rate(x[1m])[1h:1m])             # sous-requête : pic de débit</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Jointure avec une info metric : récupérer version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shop_stock_units * on (instance) group_left(version) shop_app_info</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label_replace(up, "pod", "$1", "instance", "(.*):5000")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absent(up{job="paiement"})                    # 1 si la série n'existe pas</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_over_time : les gauges dans le temps</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Sous-requêtes : puissant, coûteux</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on / ignoring / group_left : quand les labels diffèrent</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absent() : la seule façon d'alerter sur une disparition</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Recording rules et requêtes lentes</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Recording rules</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Une requête coûteuse ou réutilisée partout se pré-calcule toutes les 15 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Convention niveau:metrique:operations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job:http_requests:rate5m</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Dashboards instantanés, alertes simples, agrégé prêt pour le long terme</a:t>
            </a:r>
            <a:endParaRPr lang="en-US" sz="1300" dirty="0"/>
          </a:p>
        </p:txBody>
      </p:sp>
      <p:sp>
        <p:nvSpPr>
          <p:cNvPr id="8" name="Shape 6"/>
          <p:cNvSpPr/>
          <p:nvPr/>
        </p:nvSpPr>
        <p:spPr>
          <a:xfrm>
            <a:off x="4709160" y="1234440"/>
            <a:ext cx="3977640" cy="3429000"/>
          </a:xfrm>
          <a:prstGeom prst="roundRect">
            <a:avLst>
              <a:gd name="adj" fmla="val 2133"/>
            </a:avLst>
          </a:prstGeom>
          <a:solidFill>
            <a:srgbClr val="F4F5F7"/>
          </a:solidFill>
          <a:ln w="12700">
            <a:solidFill>
              <a:srgbClr val="F4F5F7"/>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Ce qui rend une requête lente</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Séries touchées × points par série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Filtrer par job avant d'agréger, éviter les regex larges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Fenêtres courtes, sous-requêtes avec parcimonie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prometheus_engine_query_duration_seconds, ?stats=all, Query inspector</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Série B — taux, quantiles, jointures (40 min)</a:t>
            </a:r>
            <a:endParaRPr lang="en-US" sz="2800" dirty="0"/>
          </a:p>
        </p:txBody>
      </p:sp>
      <p:sp>
        <p:nvSpPr>
          <p:cNvPr id="5" name="Shape 3"/>
          <p:cNvSpPr/>
          <p:nvPr/>
        </p:nvSpPr>
        <p:spPr>
          <a:xfrm>
            <a:off x="457200" y="1280160"/>
            <a:ext cx="384048" cy="384048"/>
          </a:xfrm>
          <a:prstGeom prst="ellipse">
            <a:avLst/>
          </a:prstGeom>
          <a:solidFill>
            <a:srgbClr val="F15A22"/>
          </a:solidFill>
          <a:ln w="12700">
            <a:solidFill>
              <a:srgbClr val="F15A22"/>
            </a:solidFill>
            <a:prstDash val="solid"/>
          </a:ln>
        </p:spPr>
      </p:sp>
      <p:sp>
        <p:nvSpPr>
          <p:cNvPr id="6" name="Text 4"/>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2.11</a:t>
            </a:r>
            <a:endParaRPr lang="en-US" sz="950" dirty="0"/>
          </a:p>
        </p:txBody>
      </p:sp>
      <p:sp>
        <p:nvSpPr>
          <p:cNvPr id="7" name="Text 5"/>
          <p:cNvSpPr txBox="1"/>
          <p:nvPr/>
        </p:nvSpPr>
        <p:spPr>
          <a:xfrm>
            <a:off x="960120" y="123444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Débit par route</a:t>
            </a:r>
            <a:endParaRPr lang="en-US" sz="1100" dirty="0"/>
          </a:p>
        </p:txBody>
      </p:sp>
      <p:sp>
        <p:nvSpPr>
          <p:cNvPr id="8" name="Shape 6"/>
          <p:cNvSpPr/>
          <p:nvPr/>
        </p:nvSpPr>
        <p:spPr>
          <a:xfrm>
            <a:off x="457200" y="1828800"/>
            <a:ext cx="384048" cy="384048"/>
          </a:xfrm>
          <a:prstGeom prst="ellipse">
            <a:avLst/>
          </a:prstGeom>
          <a:solidFill>
            <a:srgbClr val="F15A22"/>
          </a:solidFill>
          <a:ln w="12700">
            <a:solidFill>
              <a:srgbClr val="F15A22"/>
            </a:solidFill>
            <a:prstDash val="solid"/>
          </a:ln>
        </p:spPr>
      </p:sp>
      <p:sp>
        <p:nvSpPr>
          <p:cNvPr id="9" name="Text 7"/>
          <p:cNvSpPr txBox="1"/>
          <p:nvPr/>
        </p:nvSpPr>
        <p:spPr>
          <a:xfrm>
            <a:off x="457200" y="182880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2.12</a:t>
            </a:r>
            <a:endParaRPr lang="en-US" sz="950" dirty="0"/>
          </a:p>
        </p:txBody>
      </p:sp>
      <p:sp>
        <p:nvSpPr>
          <p:cNvPr id="10" name="Text 8"/>
          <p:cNvSpPr txBox="1"/>
          <p:nvPr/>
        </p:nvSpPr>
        <p:spPr>
          <a:xfrm>
            <a:off x="960120" y="178308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Commandes sur 1 h, par moyen de paiement</a:t>
            </a:r>
            <a:endParaRPr lang="en-US" sz="1100" dirty="0"/>
          </a:p>
        </p:txBody>
      </p:sp>
      <p:sp>
        <p:nvSpPr>
          <p:cNvPr id="11" name="Shape 9"/>
          <p:cNvSpPr/>
          <p:nvPr/>
        </p:nvSpPr>
        <p:spPr>
          <a:xfrm>
            <a:off x="457200" y="2377440"/>
            <a:ext cx="384048" cy="384048"/>
          </a:xfrm>
          <a:prstGeom prst="ellipse">
            <a:avLst/>
          </a:prstGeom>
          <a:solidFill>
            <a:srgbClr val="F15A22"/>
          </a:solidFill>
          <a:ln w="12700">
            <a:solidFill>
              <a:srgbClr val="F15A22"/>
            </a:solidFill>
            <a:prstDash val="solid"/>
          </a:ln>
        </p:spPr>
      </p:sp>
      <p:sp>
        <p:nvSpPr>
          <p:cNvPr id="12" name="Text 10"/>
          <p:cNvSpPr txBox="1"/>
          <p:nvPr/>
        </p:nvSpPr>
        <p:spPr>
          <a:xfrm>
            <a:off x="457200" y="237744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2.13</a:t>
            </a:r>
            <a:endParaRPr lang="en-US" sz="950" dirty="0"/>
          </a:p>
        </p:txBody>
      </p:sp>
      <p:sp>
        <p:nvSpPr>
          <p:cNvPr id="13" name="Text 11"/>
          <p:cNvSpPr txBox="1"/>
          <p:nvPr/>
        </p:nvSpPr>
        <p:spPr>
          <a:xfrm>
            <a:off x="960120" y="233172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Chiffre d'affaires par heure</a:t>
            </a:r>
            <a:endParaRPr lang="en-US" sz="1100" dirty="0"/>
          </a:p>
        </p:txBody>
      </p:sp>
      <p:sp>
        <p:nvSpPr>
          <p:cNvPr id="14" name="Shape 12"/>
          <p:cNvSpPr/>
          <p:nvPr/>
        </p:nvSpPr>
        <p:spPr>
          <a:xfrm>
            <a:off x="457200" y="2926080"/>
            <a:ext cx="384048" cy="384048"/>
          </a:xfrm>
          <a:prstGeom prst="ellipse">
            <a:avLst/>
          </a:prstGeom>
          <a:solidFill>
            <a:srgbClr val="F15A22"/>
          </a:solidFill>
          <a:ln w="12700">
            <a:solidFill>
              <a:srgbClr val="F15A22"/>
            </a:solidFill>
            <a:prstDash val="solid"/>
          </a:ln>
        </p:spPr>
      </p:sp>
      <p:sp>
        <p:nvSpPr>
          <p:cNvPr id="15" name="Text 13"/>
          <p:cNvSpPr txBox="1"/>
          <p:nvPr/>
        </p:nvSpPr>
        <p:spPr>
          <a:xfrm>
            <a:off x="457200" y="292608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2.14</a:t>
            </a:r>
            <a:endParaRPr lang="en-US" sz="950" dirty="0"/>
          </a:p>
        </p:txBody>
      </p:sp>
      <p:sp>
        <p:nvSpPr>
          <p:cNvPr id="16" name="Text 14"/>
          <p:cNvSpPr txBox="1"/>
          <p:nvPr/>
        </p:nvSpPr>
        <p:spPr>
          <a:xfrm>
            <a:off x="960120" y="288036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Taux d'erreur % + chaos errors</a:t>
            </a:r>
            <a:endParaRPr lang="en-US" sz="1100" dirty="0"/>
          </a:p>
        </p:txBody>
      </p:sp>
      <p:sp>
        <p:nvSpPr>
          <p:cNvPr id="17" name="Shape 15"/>
          <p:cNvSpPr/>
          <p:nvPr/>
        </p:nvSpPr>
        <p:spPr>
          <a:xfrm>
            <a:off x="457200" y="3474720"/>
            <a:ext cx="384048" cy="384048"/>
          </a:xfrm>
          <a:prstGeom prst="ellipse">
            <a:avLst/>
          </a:prstGeom>
          <a:solidFill>
            <a:srgbClr val="F15A22"/>
          </a:solidFill>
          <a:ln w="12700">
            <a:solidFill>
              <a:srgbClr val="F15A22"/>
            </a:solidFill>
            <a:prstDash val="solid"/>
          </a:ln>
        </p:spPr>
      </p:sp>
      <p:sp>
        <p:nvSpPr>
          <p:cNvPr id="18" name="Text 16"/>
          <p:cNvSpPr txBox="1"/>
          <p:nvPr/>
        </p:nvSpPr>
        <p:spPr>
          <a:xfrm>
            <a:off x="457200" y="347472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2.15</a:t>
            </a:r>
            <a:endParaRPr lang="en-US" sz="950" dirty="0"/>
          </a:p>
        </p:txBody>
      </p:sp>
      <p:sp>
        <p:nvSpPr>
          <p:cNvPr id="19" name="Text 17"/>
          <p:cNvSpPr txBox="1"/>
          <p:nvPr/>
        </p:nvSpPr>
        <p:spPr>
          <a:xfrm>
            <a:off x="960120" y="342900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p50 / p95 / p99, puis checkout seul</a:t>
            </a:r>
            <a:endParaRPr lang="en-US" sz="1100" dirty="0"/>
          </a:p>
        </p:txBody>
      </p:sp>
      <p:sp>
        <p:nvSpPr>
          <p:cNvPr id="20" name="Shape 18"/>
          <p:cNvSpPr/>
          <p:nvPr/>
        </p:nvSpPr>
        <p:spPr>
          <a:xfrm>
            <a:off x="457200" y="4023360"/>
            <a:ext cx="384048" cy="384048"/>
          </a:xfrm>
          <a:prstGeom prst="ellipse">
            <a:avLst/>
          </a:prstGeom>
          <a:solidFill>
            <a:srgbClr val="F15A22"/>
          </a:solidFill>
          <a:ln w="12700">
            <a:solidFill>
              <a:srgbClr val="F15A22"/>
            </a:solidFill>
            <a:prstDash val="solid"/>
          </a:ln>
        </p:spPr>
      </p:sp>
      <p:sp>
        <p:nvSpPr>
          <p:cNvPr id="21" name="Text 19"/>
          <p:cNvSpPr txBox="1"/>
          <p:nvPr/>
        </p:nvSpPr>
        <p:spPr>
          <a:xfrm>
            <a:off x="457200" y="40233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2.16</a:t>
            </a:r>
            <a:endParaRPr lang="en-US" sz="950" dirty="0"/>
          </a:p>
        </p:txBody>
      </p:sp>
      <p:sp>
        <p:nvSpPr>
          <p:cNvPr id="22" name="Text 20"/>
          <p:cNvSpPr txBox="1"/>
          <p:nvPr/>
        </p:nvSpPr>
        <p:spPr>
          <a:xfrm>
            <a:off x="960120" y="397764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Latence moyenne vs p95</a:t>
            </a:r>
            <a:endParaRPr lang="en-US" sz="1100" dirty="0"/>
          </a:p>
        </p:txBody>
      </p:sp>
      <p:sp>
        <p:nvSpPr>
          <p:cNvPr id="23" name="Shape 21"/>
          <p:cNvSpPr/>
          <p:nvPr/>
        </p:nvSpPr>
        <p:spPr>
          <a:xfrm>
            <a:off x="4663440" y="1280160"/>
            <a:ext cx="384048" cy="384048"/>
          </a:xfrm>
          <a:prstGeom prst="ellipse">
            <a:avLst/>
          </a:prstGeom>
          <a:solidFill>
            <a:srgbClr val="F15A22"/>
          </a:solidFill>
          <a:ln w="12700">
            <a:solidFill>
              <a:srgbClr val="F15A22"/>
            </a:solidFill>
            <a:prstDash val="solid"/>
          </a:ln>
        </p:spPr>
      </p:sp>
      <p:sp>
        <p:nvSpPr>
          <p:cNvPr id="24" name="Text 22"/>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2.17</a:t>
            </a:r>
            <a:endParaRPr lang="en-US" sz="950" dirty="0"/>
          </a:p>
        </p:txBody>
      </p:sp>
      <p:sp>
        <p:nvSpPr>
          <p:cNvPr id="25" name="Text 23"/>
          <p:cNvSpPr txBox="1"/>
          <p:nvPr/>
        </p:nvSpPr>
        <p:spPr>
          <a:xfrm>
            <a:off x="5166360" y="123444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CPU % par instance, puis par mode</a:t>
            </a:r>
            <a:endParaRPr lang="en-US" sz="1100" dirty="0"/>
          </a:p>
        </p:txBody>
      </p:sp>
      <p:sp>
        <p:nvSpPr>
          <p:cNvPr id="26" name="Shape 24"/>
          <p:cNvSpPr/>
          <p:nvPr/>
        </p:nvSpPr>
        <p:spPr>
          <a:xfrm>
            <a:off x="4663440" y="1828800"/>
            <a:ext cx="384048" cy="384048"/>
          </a:xfrm>
          <a:prstGeom prst="ellipse">
            <a:avLst/>
          </a:prstGeom>
          <a:solidFill>
            <a:srgbClr val="F15A22"/>
          </a:solidFill>
          <a:ln w="12700">
            <a:solidFill>
              <a:srgbClr val="F15A22"/>
            </a:solidFill>
            <a:prstDash val="solid"/>
          </a:ln>
        </p:spPr>
      </p:sp>
      <p:sp>
        <p:nvSpPr>
          <p:cNvPr id="27" name="Text 25"/>
          <p:cNvSpPr txBox="1"/>
          <p:nvPr/>
        </p:nvSpPr>
        <p:spPr>
          <a:xfrm>
            <a:off x="4663440" y="182880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2.18</a:t>
            </a:r>
            <a:endParaRPr lang="en-US" sz="950" dirty="0"/>
          </a:p>
        </p:txBody>
      </p:sp>
      <p:sp>
        <p:nvSpPr>
          <p:cNvPr id="28" name="Text 26"/>
          <p:cNvSpPr txBox="1"/>
          <p:nvPr/>
        </p:nvSpPr>
        <p:spPr>
          <a:xfrm>
            <a:off x="5166360" y="178308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Réseau entrant en bits/s</a:t>
            </a:r>
            <a:endParaRPr lang="en-US" sz="1100" dirty="0"/>
          </a:p>
        </p:txBody>
      </p:sp>
      <p:sp>
        <p:nvSpPr>
          <p:cNvPr id="29" name="Shape 27"/>
          <p:cNvSpPr/>
          <p:nvPr/>
        </p:nvSpPr>
        <p:spPr>
          <a:xfrm>
            <a:off x="4663440" y="2377440"/>
            <a:ext cx="384048" cy="384048"/>
          </a:xfrm>
          <a:prstGeom prst="ellipse">
            <a:avLst/>
          </a:prstGeom>
          <a:solidFill>
            <a:srgbClr val="F15A22"/>
          </a:solidFill>
          <a:ln w="12700">
            <a:solidFill>
              <a:srgbClr val="F15A22"/>
            </a:solidFill>
            <a:prstDash val="solid"/>
          </a:ln>
        </p:spPr>
      </p:sp>
      <p:sp>
        <p:nvSpPr>
          <p:cNvPr id="30" name="Text 28"/>
          <p:cNvSpPr txBox="1"/>
          <p:nvPr/>
        </p:nvSpPr>
        <p:spPr>
          <a:xfrm>
            <a:off x="4663440" y="237744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2.19</a:t>
            </a:r>
            <a:endParaRPr lang="en-US" sz="950" dirty="0"/>
          </a:p>
        </p:txBody>
      </p:sp>
      <p:sp>
        <p:nvSpPr>
          <p:cNvPr id="31" name="Text 29"/>
          <p:cNvSpPr txBox="1"/>
          <p:nvPr/>
        </p:nvSpPr>
        <p:spPr>
          <a:xfrm>
            <a:off x="5166360" y="233172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Pics sur 1 h (sous-requête)</a:t>
            </a:r>
            <a:endParaRPr lang="en-US" sz="1100" dirty="0"/>
          </a:p>
        </p:txBody>
      </p:sp>
      <p:sp>
        <p:nvSpPr>
          <p:cNvPr id="32" name="Shape 30"/>
          <p:cNvSpPr/>
          <p:nvPr/>
        </p:nvSpPr>
        <p:spPr>
          <a:xfrm>
            <a:off x="4663440" y="2926080"/>
            <a:ext cx="384048" cy="384048"/>
          </a:xfrm>
          <a:prstGeom prst="ellipse">
            <a:avLst/>
          </a:prstGeom>
          <a:solidFill>
            <a:srgbClr val="F15A22"/>
          </a:solidFill>
          <a:ln w="12700">
            <a:solidFill>
              <a:srgbClr val="F15A22"/>
            </a:solidFill>
            <a:prstDash val="solid"/>
          </a:ln>
        </p:spPr>
      </p:sp>
      <p:sp>
        <p:nvSpPr>
          <p:cNvPr id="33" name="Text 31"/>
          <p:cNvSpPr txBox="1"/>
          <p:nvPr/>
        </p:nvSpPr>
        <p:spPr>
          <a:xfrm>
            <a:off x="4663440" y="292608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2.20</a:t>
            </a:r>
            <a:endParaRPr lang="en-US" sz="950" dirty="0"/>
          </a:p>
        </p:txBody>
      </p:sp>
      <p:sp>
        <p:nvSpPr>
          <p:cNvPr id="34" name="Text 32"/>
          <p:cNvSpPr txBox="1"/>
          <p:nvPr/>
        </p:nvSpPr>
        <p:spPr>
          <a:xfrm>
            <a:off x="5166360" y="288036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Ajouter le label version (group_left)</a:t>
            </a:r>
            <a:endParaRPr lang="en-US" sz="1100" dirty="0"/>
          </a:p>
        </p:txBody>
      </p:sp>
      <p:sp>
        <p:nvSpPr>
          <p:cNvPr id="35" name="Shape 33"/>
          <p:cNvSpPr/>
          <p:nvPr/>
        </p:nvSpPr>
        <p:spPr>
          <a:xfrm>
            <a:off x="4663440" y="3474720"/>
            <a:ext cx="384048" cy="384048"/>
          </a:xfrm>
          <a:prstGeom prst="ellipse">
            <a:avLst/>
          </a:prstGeom>
          <a:solidFill>
            <a:srgbClr val="F15A22"/>
          </a:solidFill>
          <a:ln w="12700">
            <a:solidFill>
              <a:srgbClr val="F15A22"/>
            </a:solidFill>
            <a:prstDash val="solid"/>
          </a:ln>
        </p:spPr>
      </p:sp>
      <p:sp>
        <p:nvSpPr>
          <p:cNvPr id="36" name="Text 34"/>
          <p:cNvSpPr txBox="1"/>
          <p:nvPr/>
        </p:nvSpPr>
        <p:spPr>
          <a:xfrm>
            <a:off x="4663440" y="347472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2.21</a:t>
            </a:r>
            <a:endParaRPr lang="en-US" sz="950" dirty="0"/>
          </a:p>
        </p:txBody>
      </p:sp>
      <p:sp>
        <p:nvSpPr>
          <p:cNvPr id="37" name="Text 35"/>
          <p:cNvSpPr txBox="1"/>
          <p:nvPr/>
        </p:nvSpPr>
        <p:spPr>
          <a:xfrm>
            <a:off x="5166360" y="342900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Le job paiement existe-t-il ? absent()</a:t>
            </a:r>
            <a:endParaRPr lang="en-US" sz="1100" dirty="0"/>
          </a:p>
        </p:txBody>
      </p:sp>
      <p:sp>
        <p:nvSpPr>
          <p:cNvPr id="38" name="Shape 36"/>
          <p:cNvSpPr/>
          <p:nvPr/>
        </p:nvSpPr>
        <p:spPr>
          <a:xfrm>
            <a:off x="4663440" y="4023360"/>
            <a:ext cx="384048" cy="384048"/>
          </a:xfrm>
          <a:prstGeom prst="ellipse">
            <a:avLst/>
          </a:prstGeom>
          <a:solidFill>
            <a:srgbClr val="F15A22"/>
          </a:solidFill>
          <a:ln w="12700">
            <a:solidFill>
              <a:srgbClr val="F15A22"/>
            </a:solidFill>
            <a:prstDash val="solid"/>
          </a:ln>
        </p:spPr>
      </p:sp>
      <p:sp>
        <p:nvSpPr>
          <p:cNvPr id="39" name="Text 37"/>
          <p:cNvSpPr txBox="1"/>
          <p:nvPr/>
        </p:nvSpPr>
        <p:spPr>
          <a:xfrm>
            <a:off x="4663440" y="40233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2.22</a:t>
            </a:r>
            <a:endParaRPr lang="en-US" sz="950" dirty="0"/>
          </a:p>
        </p:txBody>
      </p:sp>
      <p:sp>
        <p:nvSpPr>
          <p:cNvPr id="40" name="Text 38"/>
          <p:cNvSpPr txBox="1"/>
          <p:nvPr/>
        </p:nvSpPr>
        <p:spPr>
          <a:xfrm>
            <a:off x="5166360" y="3977640"/>
            <a:ext cx="3520440" cy="502920"/>
          </a:xfrm>
          <a:prstGeom prst="rect">
            <a:avLst/>
          </a:prstGeom>
          <a:noFill/>
          <a:ln/>
        </p:spPr>
        <p:txBody>
          <a:bodyPr wrap="square" lIns="0" tIns="0" rIns="0" bIns="0" rtlCol="0" anchor="ctr"/>
          <a:lstStyle/>
          <a:p>
            <a:pPr indent="0" marL="0">
              <a:buNone/>
            </a:pPr>
            <a:r>
              <a:rPr lang="en-US" sz="1100" dirty="0">
                <a:solidFill>
                  <a:srgbClr val="1B1F2A"/>
                </a:solidFill>
                <a:latin typeface="Calibri" pitchFamily="34" charset="0"/>
                <a:ea typeface="Calibri" pitchFamily="34" charset="-122"/>
                <a:cs typeface="Calibri" pitchFamily="34" charset="-120"/>
              </a:rPr>
              <a:t>predict_linear : CA dans 1 h, disque plein quand ?</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3</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Recording rules et tests unitaires</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Les panneaux débit, erreurs, p95 et CA par heure vont tourner sur un écran mural 24 h/24. On ne veut pas que Prometheus recalcule les histogrammes en permanence.</a:t>
            </a:r>
            <a:endParaRPr lang="en-US" sz="1500" dirty="0"/>
          </a:p>
        </p:txBody>
      </p:sp>
      <p:sp>
        <p:nvSpPr>
          <p:cNvPr id="7" name="Shape 5"/>
          <p:cNvSpPr/>
          <p:nvPr/>
        </p:nvSpPr>
        <p:spPr>
          <a:xfrm>
            <a:off x="457200" y="2377440"/>
            <a:ext cx="2621280" cy="2194560"/>
          </a:xfrm>
          <a:prstGeom prst="roundRect">
            <a:avLst>
              <a:gd name="adj" fmla="val 3333"/>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184404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Écrire</a:t>
            </a:r>
            <a:endParaRPr lang="en-US" sz="1350" dirty="0"/>
          </a:p>
        </p:txBody>
      </p:sp>
      <p:sp>
        <p:nvSpPr>
          <p:cNvPr id="11" name="Text 9"/>
          <p:cNvSpPr txBox="1"/>
          <p:nvPr/>
        </p:nvSpPr>
        <p:spPr>
          <a:xfrm>
            <a:off x="640080" y="3017520"/>
            <a:ext cx="225552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Sept règles dans recording.yml : débit, erreurs, p95, CA, CPU, mémoire. Ratios 0-1, pas de %.</a:t>
            </a:r>
            <a:endParaRPr lang="en-US" sz="1150" dirty="0"/>
          </a:p>
        </p:txBody>
      </p:sp>
      <p:sp>
        <p:nvSpPr>
          <p:cNvPr id="12" name="Shape 10"/>
          <p:cNvSpPr/>
          <p:nvPr/>
        </p:nvSpPr>
        <p:spPr>
          <a:xfrm>
            <a:off x="3261360" y="2377440"/>
            <a:ext cx="2621280" cy="2194560"/>
          </a:xfrm>
          <a:prstGeom prst="roundRect">
            <a:avLst>
              <a:gd name="adj" fmla="val 3333"/>
            </a:avLst>
          </a:prstGeom>
          <a:solidFill>
            <a:srgbClr val="163D6B"/>
          </a:solidFill>
          <a:ln w="12700">
            <a:solidFill>
              <a:srgbClr val="163D6B"/>
            </a:solidFill>
            <a:prstDash val="solid"/>
          </a:ln>
        </p:spPr>
      </p:sp>
      <p:sp>
        <p:nvSpPr>
          <p:cNvPr id="13" name="Shape 11"/>
          <p:cNvSpPr/>
          <p:nvPr/>
        </p:nvSpPr>
        <p:spPr>
          <a:xfrm>
            <a:off x="3444240"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344424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883152" y="2542032"/>
            <a:ext cx="184404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Tester</a:t>
            </a:r>
            <a:endParaRPr lang="en-US" sz="1350" dirty="0"/>
          </a:p>
        </p:txBody>
      </p:sp>
      <p:sp>
        <p:nvSpPr>
          <p:cNvPr id="16" name="Text 14"/>
          <p:cNvSpPr txBox="1"/>
          <p:nvPr/>
        </p:nvSpPr>
        <p:spPr>
          <a:xfrm>
            <a:off x="3444240" y="3017520"/>
            <a:ext cx="225552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promtool test rules : une série 0+10x40, que vaut job:http_requests:rate5m à 5 min ?</a:t>
            </a:r>
            <a:endParaRPr lang="en-US" sz="1150" dirty="0"/>
          </a:p>
        </p:txBody>
      </p:sp>
      <p:sp>
        <p:nvSpPr>
          <p:cNvPr id="17" name="Shape 15"/>
          <p:cNvSpPr/>
          <p:nvPr/>
        </p:nvSpPr>
        <p:spPr>
          <a:xfrm>
            <a:off x="6065520" y="2377440"/>
            <a:ext cx="2621280" cy="2194560"/>
          </a:xfrm>
          <a:prstGeom prst="roundRect">
            <a:avLst>
              <a:gd name="adj" fmla="val 3333"/>
            </a:avLst>
          </a:prstGeom>
          <a:solidFill>
            <a:srgbClr val="163D6B"/>
          </a:solidFill>
          <a:ln w="12700">
            <a:solidFill>
              <a:srgbClr val="163D6B"/>
            </a:solidFill>
            <a:prstDash val="solid"/>
          </a:ln>
        </p:spPr>
      </p:sp>
      <p:sp>
        <p:nvSpPr>
          <p:cNvPr id="18" name="Shape 16"/>
          <p:cNvSpPr/>
          <p:nvPr/>
        </p:nvSpPr>
        <p:spPr>
          <a:xfrm>
            <a:off x="6248400"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624840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6687312" y="2542032"/>
            <a:ext cx="184404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Mesurer</a:t>
            </a:r>
            <a:endParaRPr lang="en-US" sz="1350" dirty="0"/>
          </a:p>
        </p:txBody>
      </p:sp>
      <p:sp>
        <p:nvSpPr>
          <p:cNvPr id="21" name="Text 19"/>
          <p:cNvSpPr txBox="1"/>
          <p:nvPr/>
        </p:nvSpPr>
        <p:spPr>
          <a:xfrm>
            <a:off x="6248400" y="3017520"/>
            <a:ext cx="225552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Bonus : Query inspector, brute contre recording rule.</a:t>
            </a:r>
            <a:endParaRPr lang="en-US" sz="1150" dirty="0"/>
          </a:p>
        </p:txBody>
      </p:sp>
      <p:sp>
        <p:nvSpPr>
          <p:cNvPr id="22" name="Text 2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9</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Grafana</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Sous le capot, les quatre concepts, ce qui rend un dashboard lisible.</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Grafana, sous le capot</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Text 4"/>
          <p:cNvSpPr txBox="1"/>
          <p:nvPr/>
        </p:nvSpPr>
        <p:spPr>
          <a:xfrm>
            <a:off x="6400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Un serveur Go</a:t>
            </a:r>
            <a:endParaRPr lang="en-US" sz="1500" dirty="0"/>
          </a:p>
        </p:txBody>
      </p:sp>
      <p:sp>
        <p:nvSpPr>
          <p:cNvPr id="7" name="Text 5"/>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Une base SQLite (grafana.db) ou PostgreSQL. Il ne stocke que sa configuration : utilisateurs, sources, dashboards en JSON, règles. Pas une seule métrique.</a:t>
            </a:r>
            <a:endParaRPr lang="en-US" sz="1200" dirty="0"/>
          </a:p>
        </p:txBody>
      </p:sp>
      <p:sp>
        <p:nvSpPr>
          <p:cNvPr id="8" name="Shape 6"/>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9" name="Text 7"/>
          <p:cNvSpPr txBox="1"/>
          <p:nvPr/>
        </p:nvSpPr>
        <p:spPr>
          <a:xfrm>
            <a:off x="48691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Data source</a:t>
            </a:r>
            <a:endParaRPr lang="en-US" sz="1500" dirty="0"/>
          </a:p>
        </p:txBody>
      </p:sp>
      <p:sp>
        <p:nvSpPr>
          <p:cNvPr id="10" name="Text 8"/>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Une connexion. La nôtre est provisionnée par YAML : personne ne l'a cliquée.</a:t>
            </a:r>
            <a:endParaRPr lang="en-US" sz="1200" dirty="0"/>
          </a:p>
        </p:txBody>
      </p:sp>
      <p:sp>
        <p:nvSpPr>
          <p:cNvPr id="11" name="Shape 9"/>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2" name="Text 10"/>
          <p:cNvSpPr txBox="1"/>
          <p:nvPr/>
        </p:nvSpPr>
        <p:spPr>
          <a:xfrm>
            <a:off x="6400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Panel</a:t>
            </a:r>
            <a:endParaRPr lang="en-US" sz="1500" dirty="0"/>
          </a:p>
        </p:txBody>
      </p:sp>
      <p:sp>
        <p:nvSpPr>
          <p:cNvPr id="13" name="Text 11"/>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Une requête + une visualisation + des options. Un panel répond à une question.</a:t>
            </a:r>
            <a:endParaRPr lang="en-US" sz="1200" dirty="0"/>
          </a:p>
        </p:txBody>
      </p:sp>
      <p:sp>
        <p:nvSpPr>
          <p:cNvPr id="14" name="Shape 12"/>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15" name="Text 13"/>
          <p:cNvSpPr txBox="1"/>
          <p:nvPr/>
        </p:nvSpPr>
        <p:spPr>
          <a:xfrm>
            <a:off x="48691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Dashboard, folder</a:t>
            </a:r>
            <a:endParaRPr lang="en-US" sz="1500" dirty="0"/>
          </a:p>
        </p:txBody>
      </p:sp>
      <p:sp>
        <p:nvSpPr>
          <p:cNvPr id="16" name="Text 14"/>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Des panels, des variables, des annotations, des liens. Un dashboard répond à un besoin. Le dossier range et donne les droits.</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Grafana 13 : dynamic dashboards</a:t>
            </a:r>
            <a:endParaRPr lang="en-US" sz="2800" dirty="0"/>
          </a:p>
        </p:txBody>
      </p:sp>
      <p:pic>
        <p:nvPicPr>
          <p:cNvPr id="5" name="Image 0" descr="/home/claude/formation-observabilite-lab/docs/formateur/img/grafana-nouveau-dashboard.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Barre latérale Add : Panel, Add row, Add tab, Variable, Annotation query, Link · Custom grid ou Auto grid</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59</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L'éditeur de panel</a:t>
            </a:r>
            <a:endParaRPr lang="en-US" sz="2800" dirty="0"/>
          </a:p>
        </p:txBody>
      </p:sp>
      <p:pic>
        <p:nvPicPr>
          <p:cNvPr id="5" name="Image 0" descr="/home/claude/formation-observabilite-lab/docs/formateur/img/grafana-editeur-panel.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Queries / Transformations en bas · Suggestions / All visualizations puis les options à droite</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60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Choisir la visualisation</a:t>
            </a:r>
            <a:endParaRPr lang="en-US" sz="28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4572000"/>
                <a:gridCol w="36576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 question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 visualisation</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Ça évolue comment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Time series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Ça vaut combien, là, maintenant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Stat (avec sparkline)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À quel niveau sur une échelle bornée ?</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Gauge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Comparer quelques valeurs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Bar gauge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Une liste à plusieurs colonnes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Table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Une répartition (5 parts max)</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Pie chart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 état dans le temps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State timeline, Status history</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36576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Une distribution qui évolue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Heatmap</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61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Ce qui rend un dashboard lisible</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Shape 4"/>
          <p:cNvSpPr/>
          <p:nvPr/>
        </p:nvSpPr>
        <p:spPr>
          <a:xfrm>
            <a:off x="640080" y="1417320"/>
            <a:ext cx="365760" cy="365760"/>
          </a:xfrm>
          <a:prstGeom prst="ellipse">
            <a:avLst/>
          </a:prstGeom>
          <a:solidFill>
            <a:srgbClr val="F15A22"/>
          </a:solidFill>
          <a:ln w="12700">
            <a:solidFill>
              <a:srgbClr val="F15A22"/>
            </a:solidFill>
            <a:prstDash val="solid"/>
          </a:ln>
        </p:spPr>
      </p:sp>
      <p:sp>
        <p:nvSpPr>
          <p:cNvPr id="7" name="Text 5"/>
          <p:cNvSpPr txBox="1"/>
          <p:nvPr/>
        </p:nvSpPr>
        <p:spPr>
          <a:xfrm>
            <a:off x="6400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97280" y="13990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Les unités</a:t>
            </a:r>
            <a:endParaRPr lang="en-US" sz="1500" dirty="0"/>
          </a:p>
        </p:txBody>
      </p:sp>
      <p:sp>
        <p:nvSpPr>
          <p:cNvPr id="9" name="Text 7"/>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Jamais un 38491023 brut. bytes → 36,7 MiB, percentunit, reqps, currencyEUR.</a:t>
            </a:r>
            <a:endParaRPr lang="en-US" sz="1200" dirty="0"/>
          </a:p>
        </p:txBody>
      </p:sp>
      <p:sp>
        <p:nvSpPr>
          <p:cNvPr id="10" name="Shape 8"/>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11" name="Shape 9"/>
          <p:cNvSpPr/>
          <p:nvPr/>
        </p:nvSpPr>
        <p:spPr>
          <a:xfrm>
            <a:off x="4869180" y="1417320"/>
            <a:ext cx="365760" cy="365760"/>
          </a:xfrm>
          <a:prstGeom prst="ellipse">
            <a:avLst/>
          </a:prstGeom>
          <a:solidFill>
            <a:srgbClr val="F15A22"/>
          </a:solidFill>
          <a:ln w="12700">
            <a:solidFill>
              <a:srgbClr val="F15A22"/>
            </a:solidFill>
            <a:prstDash val="solid"/>
          </a:ln>
        </p:spPr>
      </p:sp>
      <p:sp>
        <p:nvSpPr>
          <p:cNvPr id="12" name="Text 10"/>
          <p:cNvSpPr txBox="1"/>
          <p:nvPr/>
        </p:nvSpPr>
        <p:spPr>
          <a:xfrm>
            <a:off x="48691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5326380" y="13990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Seuils et couleurs</a:t>
            </a:r>
            <a:endParaRPr lang="en-US" sz="1500" dirty="0"/>
          </a:p>
        </p:txBody>
      </p:sp>
      <p:sp>
        <p:nvSpPr>
          <p:cNvPr id="14" name="Text 12"/>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Vert / orange / rouge cohérents sur tout le dashboard. Visibles sur Stat, Gauge, Table, Time series.</a:t>
            </a:r>
            <a:endParaRPr lang="en-US" sz="1200" dirty="0"/>
          </a:p>
        </p:txBody>
      </p:sp>
      <p:sp>
        <p:nvSpPr>
          <p:cNvPr id="15" name="Shape 13"/>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6" name="Shape 14"/>
          <p:cNvSpPr/>
          <p:nvPr/>
        </p:nvSpPr>
        <p:spPr>
          <a:xfrm>
            <a:off x="640080" y="3246120"/>
            <a:ext cx="365760" cy="365760"/>
          </a:xfrm>
          <a:prstGeom prst="ellipse">
            <a:avLst/>
          </a:prstGeom>
          <a:solidFill>
            <a:srgbClr val="F15A22"/>
          </a:solidFill>
          <a:ln w="12700">
            <a:solidFill>
              <a:srgbClr val="F15A22"/>
            </a:solidFill>
            <a:prstDash val="solid"/>
          </a:ln>
        </p:spPr>
      </p:sp>
      <p:sp>
        <p:nvSpPr>
          <p:cNvPr id="17" name="Text 15"/>
          <p:cNvSpPr txBox="1"/>
          <p:nvPr/>
        </p:nvSpPr>
        <p:spPr>
          <a:xfrm>
            <a:off x="640080" y="3246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097280" y="32278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Value mappings</a:t>
            </a:r>
            <a:endParaRPr lang="en-US" sz="1500" dirty="0"/>
          </a:p>
        </p:txBody>
      </p:sp>
      <p:sp>
        <p:nvSpPr>
          <p:cNvPr id="19" name="Text 17"/>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1 → UP en vert, 0 → DOWN en rouge. Lisible par quelqu'un qui ne connaît pas Prometheus.</a:t>
            </a:r>
            <a:endParaRPr lang="en-US" sz="1200" dirty="0"/>
          </a:p>
        </p:txBody>
      </p:sp>
      <p:sp>
        <p:nvSpPr>
          <p:cNvPr id="20" name="Shape 18"/>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21" name="Shape 19"/>
          <p:cNvSpPr/>
          <p:nvPr/>
        </p:nvSpPr>
        <p:spPr>
          <a:xfrm>
            <a:off x="4869180" y="3246120"/>
            <a:ext cx="365760" cy="365760"/>
          </a:xfrm>
          <a:prstGeom prst="ellipse">
            <a:avLst/>
          </a:prstGeom>
          <a:solidFill>
            <a:srgbClr val="F15A22"/>
          </a:solidFill>
          <a:ln w="12700">
            <a:solidFill>
              <a:srgbClr val="F15A22"/>
            </a:solidFill>
            <a:prstDash val="solid"/>
          </a:ln>
        </p:spPr>
      </p:sp>
      <p:sp>
        <p:nvSpPr>
          <p:cNvPr id="22" name="Text 20"/>
          <p:cNvSpPr txBox="1"/>
          <p:nvPr/>
        </p:nvSpPr>
        <p:spPr>
          <a:xfrm>
            <a:off x="4869180" y="3246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5326380" y="32278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Légende et ordre</a:t>
            </a:r>
            <a:endParaRPr lang="en-US" sz="1500" dirty="0"/>
          </a:p>
        </p:txBody>
      </p:sp>
      <p:sp>
        <p:nvSpPr>
          <p:cNvPr id="24" name="Text 22"/>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{{route}} plutôt qu'un bloc de labels. En haut : « ça va ? ». En bas : le détail. 10-12 panels maximum.</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62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Variables, transformations, annotations</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Variables</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Un menu déroulant qui filtre tous les panels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Query : label_values(node_uname_info, instance)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Multi-valeur + All → =~ et non =</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Chaînées : $route dépend de $instance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$__rate_interval, $__range, $__interval</a:t>
            </a:r>
            <a:endParaRPr lang="en-US" sz="1300" dirty="0"/>
          </a:p>
        </p:txBody>
      </p:sp>
      <p:sp>
        <p:nvSpPr>
          <p:cNvPr id="8" name="Shape 6"/>
          <p:cNvSpPr/>
          <p:nvPr/>
        </p:nvSpPr>
        <p:spPr>
          <a:xfrm>
            <a:off x="4709160" y="1234440"/>
            <a:ext cx="3977640" cy="3429000"/>
          </a:xfrm>
          <a:prstGeom prst="roundRect">
            <a:avLst>
              <a:gd name="adj" fmla="val 2133"/>
            </a:avLst>
          </a:prstGeom>
          <a:solidFill>
            <a:srgbClr val="F4F5F7"/>
          </a:solidFill>
          <a:ln w="12700">
            <a:solidFill>
              <a:srgbClr val="F4F5F7"/>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Transformations et annotations</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Merge, Organize fields, Sort by, Reduce, Filter, calculs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Indispensables pour les tables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Annotation : un trait vertical sur tous les graphiques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changes(shop_chaos_mode[1m]) &gt; 0, ou POST /api/annotations depuis la CI</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4</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Un dashboard paramétrable pour un serveur Linux</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L'équipe d'exploitation veut un écran par serveur : d'un coup d'œil, savoir s'il va bien ; en dessous, le détail. Le même dashboard pour tous les serveurs, avec une liste déroulante.</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$instance multi-valeur avec All, utilisée dans toutes les requêtes.</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Global</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Uptime, CPU et mémoire en Gauge avec seuils, charge, cœurs.</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CPU, mémoire</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Time series empilé par mode (scalar !), mémoire avec override.</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Disque, réseau</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Bar gauge, Table avec Join by field + Organize + Sort, réseau rx/tx.</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Dispo</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State timeline avec value mappings, Stat coloré avec or vector(0).</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64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TP 4 — le résultat attendu</a:t>
            </a:r>
            <a:endParaRPr lang="en-US" sz="2800" dirty="0"/>
          </a:p>
        </p:txBody>
      </p:sp>
      <p:pic>
        <p:nvPicPr>
          <p:cNvPr id="5" name="Image 0" descr="/home/claude/formation-observabilite-lab/docs/formateur/img/tp4-serveur-linux.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Dix panels, huit types de visualisation, une variable, des rows</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5</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La boutique, puis dashboards as code</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Le directeur commercial veut le CA, les commandes, les paniers, les stocks. La technique veut débit, erreurs et latence filtrables par instance et par route. Tout le monde veut voir quand on a cassé quelque chose.</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Métier</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CA/h en Stat, commandes, paniers, pie chart des paiements, stock en bar gauge LCD.</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RED</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Débit empilé, taux d'erreur avec seuil, p50/p95/p99, heatmap des latences.</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Détail</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Table Top routes colorée, bar chart par code HTTP, version déployée.</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Annotations</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Les bascules chaos annotées, lien vers le TP 4 et vers Prometheus.</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As code</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Export as code (Classic, JSON) → grafana/dashboards/. Provisionné, cadenas.</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66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TP 5 — le résultat attendu</a:t>
            </a:r>
            <a:endParaRPr lang="en-US" sz="2800" dirty="0"/>
          </a:p>
        </p:txBody>
      </p:sp>
      <p:pic>
        <p:nvPicPr>
          <p:cNvPr id="5" name="Image 0" descr="/home/claude/formation-observabilite-lab/docs/formateur/img/tp5-boutiqu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Métier en haut, RED au milieu, détail en bas, deux bascules chaos annotées</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10</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Provisioning, utilisateurs, droits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Tout en fichiers, un modèle de droits propre, OSS ou Enterprise ?</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68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modèle de droits</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Text 4"/>
          <p:cNvSpPr txBox="1"/>
          <p:nvPr/>
        </p:nvSpPr>
        <p:spPr>
          <a:xfrm>
            <a:off x="6400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Organisation</a:t>
            </a:r>
            <a:endParaRPr lang="en-US" sz="1500" dirty="0"/>
          </a:p>
        </p:txBody>
      </p:sp>
      <p:sp>
        <p:nvSpPr>
          <p:cNvPr id="7" name="Text 5"/>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Cloisonnement total. Une par client chez un hébergeur, sinon une seule. Pas pour séparer des équipes.</a:t>
            </a:r>
            <a:endParaRPr lang="en-US" sz="1200" dirty="0"/>
          </a:p>
        </p:txBody>
      </p:sp>
      <p:sp>
        <p:nvSpPr>
          <p:cNvPr id="8" name="Shape 6"/>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9" name="Text 7"/>
          <p:cNvSpPr txBox="1"/>
          <p:nvPr/>
        </p:nvSpPr>
        <p:spPr>
          <a:xfrm>
            <a:off x="48691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Utilisateurs et rôles</a:t>
            </a:r>
            <a:endParaRPr lang="en-US" sz="1500" dirty="0"/>
          </a:p>
        </p:txBody>
      </p:sp>
      <p:sp>
        <p:nvSpPr>
          <p:cNvPr id="10" name="Text 8"/>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Locaux ou OAuth / LDAP / SAML. Admin, Editor, Viewer, None par organisation. Le Server Admin à part.</a:t>
            </a:r>
            <a:endParaRPr lang="en-US" sz="1200" dirty="0"/>
          </a:p>
        </p:txBody>
      </p:sp>
      <p:sp>
        <p:nvSpPr>
          <p:cNvPr id="11" name="Shape 9"/>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2" name="Text 10"/>
          <p:cNvSpPr txBox="1"/>
          <p:nvPr/>
        </p:nvSpPr>
        <p:spPr>
          <a:xfrm>
            <a:off x="6400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Teams et dossiers</a:t>
            </a:r>
            <a:endParaRPr lang="en-US" sz="1500" dirty="0"/>
          </a:p>
        </p:txBody>
      </p:sp>
      <p:sp>
        <p:nvSpPr>
          <p:cNvPr id="13" name="Text 11"/>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Les droits vont aux teams, pas aux personnes. View / Edit / Admin par dossier ou dashboard.</a:t>
            </a:r>
            <a:endParaRPr lang="en-US" sz="1200" dirty="0"/>
          </a:p>
        </p:txBody>
      </p:sp>
      <p:sp>
        <p:nvSpPr>
          <p:cNvPr id="14" name="Shape 12"/>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15" name="Text 13"/>
          <p:cNvSpPr txBox="1"/>
          <p:nvPr/>
        </p:nvSpPr>
        <p:spPr>
          <a:xfrm>
            <a:off x="48691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Service accounts</a:t>
            </a:r>
            <a:endParaRPr lang="en-US" sz="1500" dirty="0"/>
          </a:p>
        </p:txBody>
      </p:sp>
      <p:sp>
        <p:nvSpPr>
          <p:cNvPr id="16" name="Text 14"/>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Comptes techniques avec token, pour les scripts et la CI. Remplacent les API keys.</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69</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OSS, Enterprise, Cloud</a:t>
            </a:r>
            <a:endParaRPr lang="en-US" sz="280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3291840"/>
                <a:gridCol w="2194560"/>
                <a:gridCol w="2743200"/>
              </a:tblGrid>
              <a:tr h="411480">
                <a:tc>
                  <a:txBody>
                    <a:bodyPr/>
                    <a:lstStyle/>
                    <a:p>
                      <a:pPr indent="0" marL="0">
                        <a:buNone/>
                      </a:pP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OSS (AGPL v3)</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Enterprise / Cloud</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41148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Dashboards, alerting, Explore, provisioning, Git Sync</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Oui</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Oui</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Sources de données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Toutes les open source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 Splunk, Datadog, ServiceNow, Oracle, SAP…</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Authentification</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OAuth, LDAP, proxy</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 SAML, SCIM, sync de teams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Droits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Rôles fixes, permissions dossiers</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 RBAC fin, permissions par source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Rapports PDF, white-label, audit, query caching</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Non</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Oui</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Support, prix</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Communauté, gratuit</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200" dirty="0">
                          <a:solidFill>
                            <a:srgbClr val="1B1F2A"/>
                          </a:solidFill>
                          <a:latin typeface="Calibri" pitchFamily="34" charset="0"/>
                          <a:ea typeface="Calibri" pitchFamily="34" charset="-122"/>
                          <a:cs typeface="Calibri" pitchFamily="34" charset="-120"/>
                        </a:rPr>
                        <a:t>Contrat ; licence par utilisateur actif / à l'usage</a:t>
                      </a:r>
                      <a:endParaRPr lang="en-US" sz="12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70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Exercices 2.30 à 2.33 — droits (20 min)</a:t>
            </a:r>
            <a:endParaRPr lang="en-US" sz="2800" dirty="0"/>
          </a:p>
        </p:txBody>
      </p:sp>
      <p:sp>
        <p:nvSpPr>
          <p:cNvPr id="5" name="Shape 3"/>
          <p:cNvSpPr/>
          <p:nvPr/>
        </p:nvSpPr>
        <p:spPr>
          <a:xfrm>
            <a:off x="457200" y="1280160"/>
            <a:ext cx="384048" cy="384048"/>
          </a:xfrm>
          <a:prstGeom prst="ellipse">
            <a:avLst/>
          </a:prstGeom>
          <a:solidFill>
            <a:srgbClr val="F15A22"/>
          </a:solidFill>
          <a:ln w="12700">
            <a:solidFill>
              <a:srgbClr val="F15A22"/>
            </a:solidFill>
            <a:prstDash val="solid"/>
          </a:ln>
        </p:spPr>
      </p:sp>
      <p:sp>
        <p:nvSpPr>
          <p:cNvPr id="6" name="Text 4"/>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2.30</a:t>
            </a:r>
            <a:endParaRPr lang="en-US" sz="950" dirty="0"/>
          </a:p>
        </p:txBody>
      </p:sp>
      <p:sp>
        <p:nvSpPr>
          <p:cNvPr id="7" name="Text 5"/>
          <p:cNvSpPr txBox="1"/>
          <p:nvPr/>
        </p:nvSpPr>
        <p:spPr>
          <a:xfrm>
            <a:off x="96012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Une utilisatrice Viewer : que peut-elle faire ?</a:t>
            </a:r>
            <a:endParaRPr lang="en-US" sz="1200" dirty="0"/>
          </a:p>
        </p:txBody>
      </p:sp>
      <p:sp>
        <p:nvSpPr>
          <p:cNvPr id="8" name="Shape 6"/>
          <p:cNvSpPr/>
          <p:nvPr/>
        </p:nvSpPr>
        <p:spPr>
          <a:xfrm>
            <a:off x="457200" y="1938528"/>
            <a:ext cx="384048" cy="384048"/>
          </a:xfrm>
          <a:prstGeom prst="ellipse">
            <a:avLst/>
          </a:prstGeom>
          <a:solidFill>
            <a:srgbClr val="F15A22"/>
          </a:solidFill>
          <a:ln w="12700">
            <a:solidFill>
              <a:srgbClr val="F15A22"/>
            </a:solidFill>
            <a:prstDash val="solid"/>
          </a:ln>
        </p:spPr>
      </p:sp>
      <p:sp>
        <p:nvSpPr>
          <p:cNvPr id="9" name="Text 7"/>
          <p:cNvSpPr txBox="1"/>
          <p:nvPr/>
        </p:nvSpPr>
        <p:spPr>
          <a:xfrm>
            <a:off x="45720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2.31</a:t>
            </a:r>
            <a:endParaRPr lang="en-US" sz="950" dirty="0"/>
          </a:p>
        </p:txBody>
      </p:sp>
      <p:sp>
        <p:nvSpPr>
          <p:cNvPr id="10" name="Text 8"/>
          <p:cNvSpPr txBox="1"/>
          <p:nvPr/>
        </p:nvSpPr>
        <p:spPr>
          <a:xfrm>
            <a:off x="96012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 dossier Boutique, une team, Edit sur le dossier seulement</a:t>
            </a:r>
            <a:endParaRPr lang="en-US" sz="1200" dirty="0"/>
          </a:p>
        </p:txBody>
      </p:sp>
      <p:sp>
        <p:nvSpPr>
          <p:cNvPr id="11" name="Shape 9"/>
          <p:cNvSpPr/>
          <p:nvPr/>
        </p:nvSpPr>
        <p:spPr>
          <a:xfrm>
            <a:off x="4663440" y="1280160"/>
            <a:ext cx="384048" cy="384048"/>
          </a:xfrm>
          <a:prstGeom prst="ellipse">
            <a:avLst/>
          </a:prstGeom>
          <a:solidFill>
            <a:srgbClr val="F15A22"/>
          </a:solidFill>
          <a:ln w="12700">
            <a:solidFill>
              <a:srgbClr val="F15A22"/>
            </a:solidFill>
            <a:prstDash val="solid"/>
          </a:ln>
        </p:spPr>
      </p:sp>
      <p:sp>
        <p:nvSpPr>
          <p:cNvPr id="12" name="Text 10"/>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2.32</a:t>
            </a:r>
            <a:endParaRPr lang="en-US" sz="950" dirty="0"/>
          </a:p>
        </p:txBody>
      </p:sp>
      <p:sp>
        <p:nvSpPr>
          <p:cNvPr id="13" name="Text 11"/>
          <p:cNvSpPr txBox="1"/>
          <p:nvPr/>
        </p:nvSpPr>
        <p:spPr>
          <a:xfrm>
            <a:off x="516636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Une organisation : que voit-on dedans ?</a:t>
            </a:r>
            <a:endParaRPr lang="en-US" sz="1200" dirty="0"/>
          </a:p>
        </p:txBody>
      </p:sp>
      <p:sp>
        <p:nvSpPr>
          <p:cNvPr id="14" name="Shape 12"/>
          <p:cNvSpPr/>
          <p:nvPr/>
        </p:nvSpPr>
        <p:spPr>
          <a:xfrm>
            <a:off x="4663440" y="1938528"/>
            <a:ext cx="384048" cy="384048"/>
          </a:xfrm>
          <a:prstGeom prst="ellipse">
            <a:avLst/>
          </a:prstGeom>
          <a:solidFill>
            <a:srgbClr val="F15A22"/>
          </a:solidFill>
          <a:ln w="12700">
            <a:solidFill>
              <a:srgbClr val="F15A22"/>
            </a:solidFill>
            <a:prstDash val="solid"/>
          </a:ln>
        </p:spPr>
      </p:sp>
      <p:sp>
        <p:nvSpPr>
          <p:cNvPr id="15" name="Text 13"/>
          <p:cNvSpPr txBox="1"/>
          <p:nvPr/>
        </p:nvSpPr>
        <p:spPr>
          <a:xfrm>
            <a:off x="466344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2.33</a:t>
            </a:r>
            <a:endParaRPr lang="en-US" sz="950" dirty="0"/>
          </a:p>
        </p:txBody>
      </p:sp>
      <p:sp>
        <p:nvSpPr>
          <p:cNvPr id="16" name="Text 14"/>
          <p:cNvSpPr txBox="1"/>
          <p:nvPr/>
        </p:nvSpPr>
        <p:spPr>
          <a:xfrm>
            <a:off x="516636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Bonus : service account, token, curl, une annotation par l'API</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71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Récap du jour 2</a:t>
            </a:r>
            <a:endParaRPr lang="en-US" sz="2800" dirty="0"/>
          </a:p>
        </p:txBody>
      </p:sp>
      <p:sp>
        <p:nvSpPr>
          <p:cNvPr id="5" name="Text 3"/>
          <p:cNvSpPr txBox="1"/>
          <p:nvPr/>
        </p:nvSpPr>
        <p:spPr>
          <a:xfrm>
            <a:off x="457200" y="1188720"/>
            <a:ext cx="8229600" cy="34747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rate() sur un counter, jamais brut ; fenêtre ≥ 4 × scrape</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histogram_quantile a besoin de by (le)</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$__rate_interval partout dans Grafana ; multi-valeur → =~</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Unités, seuils, value mappings : un dashboard lisible par le CEO</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Merge + Organize + Sort : la table</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Un dashboard vit dans Git, provisionné ; uid fixe</a:t>
            </a:r>
            <a:endParaRPr lang="en-US" sz="1600" dirty="0"/>
          </a:p>
          <a:p>
            <a:pPr marL="342900" indent="-342900">
              <a:spcAft>
                <a:spcPts val="800"/>
              </a:spcAft>
              <a:buSzPct val="100000"/>
              <a:buChar char="▪"/>
            </a:pPr>
            <a:r>
              <a:rPr lang="en-US" sz="1600" dirty="0">
                <a:solidFill>
                  <a:srgbClr val="1B1F2A"/>
                </a:solidFill>
                <a:latin typeface="Calibri" pitchFamily="34" charset="0"/>
                <a:ea typeface="Calibri" pitchFamily="34" charset="-122"/>
                <a:cs typeface="Calibri" pitchFamily="34" charset="-120"/>
              </a:rPr>
              <a:t>Droits par team et par dossier</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JOUR 3</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Réagir</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Des alertes qui ne réveillent que pour de bonnes raisons, l'exploitation, le passage à l'échelle avec Thanos.</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73</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Exercice 3.0 — Brancher l'Alertmanager (10 min)</a:t>
            </a:r>
            <a:endParaRPr lang="en-US" sz="2800" dirty="0"/>
          </a:p>
        </p:txBody>
      </p:sp>
      <p:sp>
        <p:nvSpPr>
          <p:cNvPr id="5" name="Shape 3"/>
          <p:cNvSpPr/>
          <p:nvPr/>
        </p:nvSpPr>
        <p:spPr>
          <a:xfrm>
            <a:off x="457200" y="1280160"/>
            <a:ext cx="384048" cy="384048"/>
          </a:xfrm>
          <a:prstGeom prst="ellipse">
            <a:avLst/>
          </a:prstGeom>
          <a:solidFill>
            <a:srgbClr val="F15A22"/>
          </a:solidFill>
          <a:ln w="12700">
            <a:solidFill>
              <a:srgbClr val="F15A22"/>
            </a:solidFill>
            <a:prstDash val="solid"/>
          </a:ln>
        </p:spPr>
      </p:sp>
      <p:sp>
        <p:nvSpPr>
          <p:cNvPr id="6" name="Text 4"/>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7" name="Text 5"/>
          <p:cNvSpPr txBox="1"/>
          <p:nvPr/>
        </p:nvSpPr>
        <p:spPr>
          <a:xfrm>
            <a:off x="96012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Décommenter compose/06-alerting.yml : Alertmanager + Inbox. ./lab.sh up</a:t>
            </a:r>
            <a:endParaRPr lang="en-US" sz="1200" dirty="0"/>
          </a:p>
        </p:txBody>
      </p:sp>
      <p:sp>
        <p:nvSpPr>
          <p:cNvPr id="8" name="Shape 6"/>
          <p:cNvSpPr/>
          <p:nvPr/>
        </p:nvSpPr>
        <p:spPr>
          <a:xfrm>
            <a:off x="457200" y="1938528"/>
            <a:ext cx="384048" cy="384048"/>
          </a:xfrm>
          <a:prstGeom prst="ellipse">
            <a:avLst/>
          </a:prstGeom>
          <a:solidFill>
            <a:srgbClr val="F15A22"/>
          </a:solidFill>
          <a:ln w="12700">
            <a:solidFill>
              <a:srgbClr val="F15A22"/>
            </a:solidFill>
            <a:prstDash val="solid"/>
          </a:ln>
        </p:spPr>
      </p:sp>
      <p:sp>
        <p:nvSpPr>
          <p:cNvPr id="9" name="Text 7"/>
          <p:cNvSpPr txBox="1"/>
          <p:nvPr/>
        </p:nvSpPr>
        <p:spPr>
          <a:xfrm>
            <a:off x="45720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0" name="Text 8"/>
          <p:cNvSpPr txBox="1"/>
          <p:nvPr/>
        </p:nvSpPr>
        <p:spPr>
          <a:xfrm>
            <a:off x="96012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Décommenter le bloc alerting de prometheus.yml. Valider, recharger</a:t>
            </a:r>
            <a:endParaRPr lang="en-US" sz="1200" dirty="0"/>
          </a:p>
        </p:txBody>
      </p:sp>
      <p:sp>
        <p:nvSpPr>
          <p:cNvPr id="11" name="Shape 9"/>
          <p:cNvSpPr/>
          <p:nvPr/>
        </p:nvSpPr>
        <p:spPr>
          <a:xfrm>
            <a:off x="4663440" y="1280160"/>
            <a:ext cx="384048" cy="384048"/>
          </a:xfrm>
          <a:prstGeom prst="ellipse">
            <a:avLst/>
          </a:prstGeom>
          <a:solidFill>
            <a:srgbClr val="F15A22"/>
          </a:solidFill>
          <a:ln w="12700">
            <a:solidFill>
              <a:srgbClr val="F15A22"/>
            </a:solidFill>
            <a:prstDash val="solid"/>
          </a:ln>
        </p:spPr>
      </p:sp>
      <p:sp>
        <p:nvSpPr>
          <p:cNvPr id="12" name="Text 10"/>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3" name="Text 11"/>
          <p:cNvSpPr txBox="1"/>
          <p:nvPr/>
        </p:nvSpPr>
        <p:spPr>
          <a:xfrm>
            <a:off x="516636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Prometheus → Status → Alertmanager discovery : une cible active</a:t>
            </a:r>
            <a:endParaRPr lang="en-US" sz="1200" dirty="0"/>
          </a:p>
        </p:txBody>
      </p:sp>
      <p:sp>
        <p:nvSpPr>
          <p:cNvPr id="14" name="Shape 12"/>
          <p:cNvSpPr/>
          <p:nvPr/>
        </p:nvSpPr>
        <p:spPr>
          <a:xfrm>
            <a:off x="4663440" y="1938528"/>
            <a:ext cx="384048" cy="384048"/>
          </a:xfrm>
          <a:prstGeom prst="ellipse">
            <a:avLst/>
          </a:prstGeom>
          <a:solidFill>
            <a:srgbClr val="F15A22"/>
          </a:solidFill>
          <a:ln w="12700">
            <a:solidFill>
              <a:srgbClr val="F15A22"/>
            </a:solidFill>
            <a:prstDash val="solid"/>
          </a:ln>
        </p:spPr>
      </p:sp>
      <p:sp>
        <p:nvSpPr>
          <p:cNvPr id="15" name="Text 13"/>
          <p:cNvSpPr txBox="1"/>
          <p:nvPr/>
        </p:nvSpPr>
        <p:spPr>
          <a:xfrm>
            <a:off x="466344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16" name="Text 14"/>
          <p:cNvSpPr txBox="1"/>
          <p:nvPr/>
        </p:nvSpPr>
        <p:spPr>
          <a:xfrm>
            <a:off x="516636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Lire alertmanager/alertmanager.yml : un receiver vers l'Inbox, c'est tout</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11</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Philosophie de l'alerting</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Symptômes, pas causes. Actionnable, ou pas du tout.</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75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Mauvaise alerte, bonne alerte</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Cause</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 CPU &gt; 90 % »</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Peut-être un problème… ou le serveur qui fait son travail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Réponse quand ça sonne : « je regarde »</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C'est un panel, pas une alerte</a:t>
            </a:r>
            <a:endParaRPr lang="en-US" sz="1300" dirty="0"/>
          </a:p>
        </p:txBody>
      </p:sp>
      <p:sp>
        <p:nvSpPr>
          <p:cNvPr id="8" name="Shape 6"/>
          <p:cNvSpPr/>
          <p:nvPr/>
        </p:nvSpPr>
        <p:spPr>
          <a:xfrm>
            <a:off x="4709160" y="1234440"/>
            <a:ext cx="3977640" cy="3429000"/>
          </a:xfrm>
          <a:prstGeom prst="roundRect">
            <a:avLst>
              <a:gd name="adj" fmla="val 2133"/>
            </a:avLst>
          </a:prstGeom>
          <a:solidFill>
            <a:srgbClr val="0F2A4A"/>
          </a:solidFill>
          <a:ln w="12700">
            <a:solidFill>
              <a:srgbClr val="0F2A4A"/>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Symptôme</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Les clients attendent plus de 3 s »</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5 % des paiements échouent »</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Quelqu'un souffre, il faut agir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Un runbook, un responsable, une sévérité</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731520" y="1371600"/>
            <a:ext cx="7680960" cy="16459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400 notifications par jour.</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La nuit où la base est tombée, l'alerte est passée avec les autres.</a:t>
            </a:r>
            <a:endParaRPr lang="en-US" sz="3400" dirty="0"/>
          </a:p>
        </p:txBody>
      </p:sp>
      <p:sp>
        <p:nvSpPr>
          <p:cNvPr id="3" name="Text 1"/>
          <p:cNvSpPr txBox="1"/>
          <p:nvPr/>
        </p:nvSpPr>
        <p:spPr>
          <a:xfrm>
            <a:off x="731520" y="3108960"/>
            <a:ext cx="7680960" cy="914400"/>
          </a:xfrm>
          <a:prstGeom prst="rect">
            <a:avLst/>
          </a:prstGeom>
          <a:noFill/>
          <a:ln/>
        </p:spPr>
        <p:txBody>
          <a:bodyPr wrap="square" lIns="0" tIns="0" rIns="0" bIns="0" rtlCol="0" anchor="ctr"/>
          <a:lstStyle/>
          <a:p>
            <a:pPr indent="0" marL="0">
              <a:buNone/>
            </a:pPr>
            <a:r>
              <a:rPr lang="en-US" sz="1800" dirty="0">
                <a:solidFill>
                  <a:srgbClr val="FFB48F"/>
                </a:solidFill>
                <a:latin typeface="Calibri" pitchFamily="34" charset="0"/>
                <a:ea typeface="Calibri" pitchFamily="34" charset="-122"/>
                <a:cs typeface="Calibri" pitchFamily="34" charset="-120"/>
              </a:rPr>
              <a:t>Après nettoyage : 12 alertes, toutes sur des symptômes, chacune avec un runbook. La fatigue d'alerte tue plus de systèmes que les pannes.</a:t>
            </a:r>
            <a:endParaRPr lang="en-US" sz="1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77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Anatomie d'une règle</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groups: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name: shop-api</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rules: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alert: ShopHighErrorRate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expr: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sum by (instance) (rate(http_requests_total{status=~"5.."}[5m]))</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sum by (instance) (rate(http_requests_total[5m])) &gt; 0.05</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for: 2m               # pending → firing</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keep_firing_for: 3m   # anti-clignotement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labels: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severity: critical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team: boutique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annotations: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summary: "Taux d'erreur élevé sur {{ $labels.instance }}"</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description: "{{ $value | humanizePercentage }} des requêtes échouent."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runbook_url: "https://…/shop-errors.md"</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Une alerte par série renvoyée : by (instance) → une par instance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Labels : pour router. Annotations : pour les humains</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Templates Go : $labels, $value, humanize*, printf</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promtool check rules, promtool test rules</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78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 cycle de vie d'une alerte</a:t>
            </a:r>
            <a:endParaRPr lang="en-US" sz="2800" dirty="0"/>
          </a:p>
        </p:txBody>
      </p:sp>
      <p:pic>
        <p:nvPicPr>
          <p:cNvPr id="5" name="Image 0" descr="/home/claude/formation-observabilite-lab/docs/diagrams/cycle-alert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inactive → pending (for) → firing → Alertmanager → group_wait, group_interval, repeat_interval</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12</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Alertmanager</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Qui prévenir, quand, combien de fois.</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80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L'arbre de routage</a:t>
            </a:r>
            <a:endParaRPr lang="en-US" sz="2800" dirty="0"/>
          </a:p>
        </p:txBody>
      </p:sp>
      <p:sp>
        <p:nvSpPr>
          <p:cNvPr id="5" name="Shape 3"/>
          <p:cNvSpPr/>
          <p:nvPr/>
        </p:nvSpPr>
        <p:spPr>
          <a:xfrm>
            <a:off x="457200" y="1234440"/>
            <a:ext cx="5943600" cy="3429000"/>
          </a:xfrm>
          <a:prstGeom prst="roundRect">
            <a:avLst>
              <a:gd name="adj" fmla="val 2133"/>
            </a:avLst>
          </a:prstGeom>
          <a:solidFill>
            <a:srgbClr val="1E2633"/>
          </a:solidFill>
          <a:ln w="12700">
            <a:solidFill>
              <a:srgbClr val="1E2633"/>
            </a:solidFill>
            <a:prstDash val="solid"/>
          </a:ln>
        </p:spPr>
      </p:sp>
      <p:sp>
        <p:nvSpPr>
          <p:cNvPr id="6" name="Text 4"/>
          <p:cNvSpPr txBox="1"/>
          <p:nvPr/>
        </p:nvSpPr>
        <p:spPr>
          <a:xfrm>
            <a:off x="640080" y="1371600"/>
            <a:ext cx="5577840" cy="3154680"/>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route:                       # la racine reçoit tout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receiver: inbox-default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group_by: ["alertname", "job"]</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group_wait: 30s            # avant la 1re notification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group_interval: 5m         # avant les nouveautés d'un groupe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repeat_interval: 4h        # si toujours active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routes: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matchers: [severity = critical]</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receiver: astreinte-teams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continue: true         # évaluer aussi la suite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matchers: [team = boutique]</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receiver: boutique-slack</a:t>
            </a:r>
            <a:endParaRPr lang="en-US" sz="1000" dirty="0"/>
          </a:p>
          <a:p>
            <a:pPr indent="0" marL="0">
              <a:buNone/>
            </a:pP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inhibit_rules: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 source_matchers: [alertname = TargetDown]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target_matchers: [alertname =~ "ShopHighErrorRate|ShopCheckoutSlow"]</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equal: [instance]</a:t>
            </a:r>
            <a:endParaRPr lang="en-US" sz="1000" dirty="0"/>
          </a:p>
        </p:txBody>
      </p:sp>
      <p:sp>
        <p:nvSpPr>
          <p:cNvPr id="7" name="Text 5"/>
          <p:cNvSpPr txBox="1"/>
          <p:nvPr/>
        </p:nvSpPr>
        <p:spPr>
          <a:xfrm>
            <a:off x="6583680" y="1234440"/>
            <a:ext cx="2103120" cy="34290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Première route qui matche, sauf continue: true</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Regroupement : 50 instances down = 1 notification</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Inhibition : serveur éteint, inutile de dire qu'il est lent</a:t>
            </a:r>
            <a:endParaRPr lang="en-US" sz="1150" dirty="0"/>
          </a:p>
          <a:p>
            <a:pPr marL="342900" indent="-342900">
              <a:spcAft>
                <a:spcPts val="600"/>
              </a:spcAft>
              <a:buSzPct val="100000"/>
              <a:buChar char="▪"/>
            </a:pPr>
            <a:r>
              <a:rPr lang="en-US" sz="1150" dirty="0">
                <a:solidFill>
                  <a:srgbClr val="1B1F2A"/>
                </a:solidFill>
                <a:latin typeface="Calibri" pitchFamily="34" charset="0"/>
                <a:ea typeface="Calibri" pitchFamily="34" charset="-122"/>
                <a:cs typeface="Calibri" pitchFamily="34" charset="-120"/>
              </a:rPr>
              <a:t>Silences et time_intervals : maintenances, week-ends</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81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L'arbre de routage, en image</a:t>
            </a:r>
            <a:endParaRPr lang="en-US" sz="2800" dirty="0"/>
          </a:p>
        </p:txBody>
      </p:sp>
      <p:pic>
        <p:nvPicPr>
          <p:cNvPr id="5" name="Image 0" descr="/home/claude/formation-observabilite-lab/docs/diagrams/arbre-routag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Première route qui matche, sauf continue: true · regroupement, inhibition, silences, plages horaires</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82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Alertmanager en action</a:t>
            </a:r>
            <a:endParaRPr lang="en-US" sz="2800" dirty="0"/>
          </a:p>
        </p:txBody>
      </p:sp>
      <p:pic>
        <p:nvPicPr>
          <p:cNvPr id="5" name="Image 0" descr="/home/claude/formation-observabilite-lab/docs/formateur/img/alertmanager-alerts.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Groupes par receiver, silences, inhibitions</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6</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Alertes Prometheus et routage Alertmanager</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L'équipe boutique veut son canal. L'astreinte veut uniquement le critique, tout de suite. L'infra ne veut rien le week-end sauf le critique. Et personne ne veut « erreurs sur shop-api-2 » quand shop-api-2 est éteint.</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Alertes</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ShopHighErrorRate, ShopCheckoutSlow, ShopNoOrders (and), ShopStockLow, BlackboxProbeFailed.</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Casser</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Chaos errors, chronométrer pending / firing / notification / resolved. Expliquer chaque délai.</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Router</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Quatre receivers, quatre routes, continue: true, amtool routes test.</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Inhiber</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TargetDown masque erreurs et latence sur la même instance.</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Taire</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Un silence par l'UI et amtool, un time_interval nuit-et-weekend.</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13</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Notifications tierces et ChatOps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Slack, PagerDuty, Teams via Workflows, GitHub, templates.</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85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Slack et PagerDuty</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Slack</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Incoming webhook (api_url_file) ou application avec token</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channel, title, text templatables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Le secret dans un fichier, jamais dans le YAML commité</a:t>
            </a:r>
            <a:endParaRPr lang="en-US" sz="1300" dirty="0"/>
          </a:p>
        </p:txBody>
      </p:sp>
      <p:sp>
        <p:nvSpPr>
          <p:cNvPr id="8" name="Shape 6"/>
          <p:cNvSpPr/>
          <p:nvPr/>
        </p:nvSpPr>
        <p:spPr>
          <a:xfrm>
            <a:off x="4709160" y="1234440"/>
            <a:ext cx="3977640" cy="3429000"/>
          </a:xfrm>
          <a:prstGeom prst="roundRect">
            <a:avLst>
              <a:gd name="adj" fmla="val 2133"/>
            </a:avLst>
          </a:prstGeom>
          <a:solidFill>
            <a:srgbClr val="F4F5F7"/>
          </a:solidFill>
          <a:ln w="12700">
            <a:solidFill>
              <a:srgbClr val="F4F5F7"/>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PagerDuty</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Events API v2, une integration key par service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routing_key_file, severity, description</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Escalade, plannings, acquittement côté PagerDuty</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trigger / resolve avec la même clé de déduplication</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86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Microsoft Teams, la méthode 2026</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Shape 4"/>
          <p:cNvSpPr/>
          <p:nvPr/>
        </p:nvSpPr>
        <p:spPr>
          <a:xfrm>
            <a:off x="640080" y="1417320"/>
            <a:ext cx="365760" cy="365760"/>
          </a:xfrm>
          <a:prstGeom prst="ellipse">
            <a:avLst/>
          </a:prstGeom>
          <a:solidFill>
            <a:srgbClr val="F15A22"/>
          </a:solidFill>
          <a:ln w="12700">
            <a:solidFill>
              <a:srgbClr val="F15A22"/>
            </a:solidFill>
            <a:prstDash val="solid"/>
          </a:ln>
        </p:spPr>
      </p:sp>
      <p:sp>
        <p:nvSpPr>
          <p:cNvPr id="7" name="Text 5"/>
          <p:cNvSpPr txBox="1"/>
          <p:nvPr/>
        </p:nvSpPr>
        <p:spPr>
          <a:xfrm>
            <a:off x="6400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097280" y="13990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Les connecteurs Office 365 sont morts</a:t>
            </a:r>
            <a:endParaRPr lang="en-US" sz="1500" dirty="0"/>
          </a:p>
        </p:txBody>
      </p:sp>
      <p:sp>
        <p:nvSpPr>
          <p:cNvPr id="9" name="Text 7"/>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Création bloquée depuis 2024, coupure définitive en mai 2026. msteams_configs est déprécié.</a:t>
            </a:r>
            <a:endParaRPr lang="en-US" sz="1200" dirty="0"/>
          </a:p>
        </p:txBody>
      </p:sp>
      <p:sp>
        <p:nvSpPr>
          <p:cNvPr id="10" name="Shape 8"/>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11" name="Shape 9"/>
          <p:cNvSpPr/>
          <p:nvPr/>
        </p:nvSpPr>
        <p:spPr>
          <a:xfrm>
            <a:off x="4869180" y="1417320"/>
            <a:ext cx="365760" cy="365760"/>
          </a:xfrm>
          <a:prstGeom prst="ellipse">
            <a:avLst/>
          </a:prstGeom>
          <a:solidFill>
            <a:srgbClr val="F15A22"/>
          </a:solidFill>
          <a:ln w="12700">
            <a:solidFill>
              <a:srgbClr val="F15A22"/>
            </a:solidFill>
            <a:prstDash val="solid"/>
          </a:ln>
        </p:spPr>
      </p:sp>
      <p:sp>
        <p:nvSpPr>
          <p:cNvPr id="12" name="Text 10"/>
          <p:cNvSpPr txBox="1"/>
          <p:nvPr/>
        </p:nvSpPr>
        <p:spPr>
          <a:xfrm>
            <a:off x="4869180" y="1417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5326380" y="13990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Workflows (Power Automate)</a:t>
            </a:r>
            <a:endParaRPr lang="en-US" sz="1500" dirty="0"/>
          </a:p>
        </p:txBody>
      </p:sp>
      <p:sp>
        <p:nvSpPr>
          <p:cNvPr id="14" name="Text 12"/>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Dans le canal : … → Workflows → « Post to a channel when a webhook request is received ». Copier l'URL.</a:t>
            </a:r>
            <a:endParaRPr lang="en-US" sz="1200" dirty="0"/>
          </a:p>
        </p:txBody>
      </p:sp>
      <p:sp>
        <p:nvSpPr>
          <p:cNvPr id="15" name="Shape 13"/>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6" name="Shape 14"/>
          <p:cNvSpPr/>
          <p:nvPr/>
        </p:nvSpPr>
        <p:spPr>
          <a:xfrm>
            <a:off x="640080" y="3246120"/>
            <a:ext cx="365760" cy="365760"/>
          </a:xfrm>
          <a:prstGeom prst="ellipse">
            <a:avLst/>
          </a:prstGeom>
          <a:solidFill>
            <a:srgbClr val="F15A22"/>
          </a:solidFill>
          <a:ln w="12700">
            <a:solidFill>
              <a:srgbClr val="F15A22"/>
            </a:solidFill>
            <a:prstDash val="solid"/>
          </a:ln>
        </p:spPr>
      </p:sp>
      <p:sp>
        <p:nvSpPr>
          <p:cNvPr id="17" name="Text 15"/>
          <p:cNvSpPr txBox="1"/>
          <p:nvPr/>
        </p:nvSpPr>
        <p:spPr>
          <a:xfrm>
            <a:off x="640080" y="3246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097280" y="32278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Alertmanager et Grafana</a:t>
            </a:r>
            <a:endParaRPr lang="en-US" sz="1500" dirty="0"/>
          </a:p>
        </p:txBody>
      </p:sp>
      <p:sp>
        <p:nvSpPr>
          <p:cNvPr id="19" name="Text 17"/>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msteamsv2_configs: webhook_url_file. Contact point Microsoft Teams, champ URL. La carte adaptative est générée.</a:t>
            </a:r>
            <a:endParaRPr lang="en-US" sz="1200" dirty="0"/>
          </a:p>
        </p:txBody>
      </p:sp>
      <p:sp>
        <p:nvSpPr>
          <p:cNvPr id="20" name="Shape 18"/>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21" name="Shape 19"/>
          <p:cNvSpPr/>
          <p:nvPr/>
        </p:nvSpPr>
        <p:spPr>
          <a:xfrm>
            <a:off x="4869180" y="3246120"/>
            <a:ext cx="365760" cy="365760"/>
          </a:xfrm>
          <a:prstGeom prst="ellipse">
            <a:avLst/>
          </a:prstGeom>
          <a:solidFill>
            <a:srgbClr val="F15A22"/>
          </a:solidFill>
          <a:ln w="12700">
            <a:solidFill>
              <a:srgbClr val="F15A22"/>
            </a:solidFill>
            <a:prstDash val="solid"/>
          </a:ln>
        </p:spPr>
      </p:sp>
      <p:sp>
        <p:nvSpPr>
          <p:cNvPr id="22" name="Text 20"/>
          <p:cNvSpPr txBox="1"/>
          <p:nvPr/>
        </p:nvSpPr>
        <p:spPr>
          <a:xfrm>
            <a:off x="4869180" y="3246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5326380" y="3227832"/>
            <a:ext cx="31775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Pièges</a:t>
            </a:r>
            <a:endParaRPr lang="en-US" sz="1500" dirty="0"/>
          </a:p>
        </p:txBody>
      </p:sp>
      <p:sp>
        <p:nvSpPr>
          <p:cNvPr id="24" name="Text 22"/>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Canal privé : Post as User. Rien n'arrive ? Historique du flux dans Power Automate. L'Inbox du lab imite le flux.</a:t>
            </a:r>
            <a:endParaRPr lang="en-US" sz="12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87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GitHub et templates</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GitHub (ChatOps)</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Une alerte ouvre une issue, la commente, la ferme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Webhook → repository_dispatch → workflow Actions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.github/workflows/alert-to-issue.yml dans le dépôt</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Grafana : contact point Webhook + payload personnalisé + Authorization</a:t>
            </a:r>
            <a:endParaRPr lang="en-US" sz="1300" dirty="0"/>
          </a:p>
        </p:txBody>
      </p:sp>
      <p:sp>
        <p:nvSpPr>
          <p:cNvPr id="8" name="Shape 6"/>
          <p:cNvSpPr/>
          <p:nvPr/>
        </p:nvSpPr>
        <p:spPr>
          <a:xfrm>
            <a:off x="4709160" y="1234440"/>
            <a:ext cx="3977640" cy="3429000"/>
          </a:xfrm>
          <a:prstGeom prst="roundRect">
            <a:avLst>
              <a:gd name="adj" fmla="val 2133"/>
            </a:avLst>
          </a:prstGeom>
          <a:solidFill>
            <a:srgbClr val="F4F5F7"/>
          </a:solidFill>
          <a:ln w="12700">
            <a:solidFill>
              <a:srgbClr val="F4F5F7"/>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Templates Alertmanager</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Templates Go, fichiers .tmpl chargés par templates: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 template "formation.text" . }}</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.Status, .Alerts, .CommonLabels, .CommonAnnotations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Un bon message : statut, résumé, sévérité, instance, runbook, dashboard. Pas un dump de labels</a:t>
            </a:r>
            <a:endParaRPr lang="en-US" sz="13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7</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Cas pratique : alerte CPU élevé → Teams</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L'équipe infra veut être prévenue dans son canal Teams quand un serveur dépasse 80 % de CPU pendant plus de deux minutes, avec un message lisible : le serveur, la valeur, un lien vers le dashboard.</a:t>
            </a:r>
            <a:endParaRPr lang="en-US" sz="1500" dirty="0"/>
          </a:p>
        </p:txBody>
      </p:sp>
      <p:sp>
        <p:nvSpPr>
          <p:cNvPr id="7" name="Shape 5"/>
          <p:cNvSpPr/>
          <p:nvPr/>
        </p:nvSpPr>
        <p:spPr>
          <a:xfrm>
            <a:off x="457200" y="2377440"/>
            <a:ext cx="1920240" cy="2194560"/>
          </a:xfrm>
          <a:prstGeom prst="roundRect">
            <a:avLst>
              <a:gd name="adj" fmla="val 3810"/>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La règle</a:t>
            </a:r>
            <a:endParaRPr lang="en-US" sz="1350" dirty="0"/>
          </a:p>
        </p:txBody>
      </p:sp>
      <p:sp>
        <p:nvSpPr>
          <p:cNvPr id="11" name="Text 9"/>
          <p:cNvSpPr txBox="1"/>
          <p:nvPr/>
        </p:nvSpPr>
        <p:spPr>
          <a:xfrm>
            <a:off x="64008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HostHighCpuLoad, rate 2 min, for 2 min, printf. Un test unitaire avec une série idle constante.</a:t>
            </a:r>
            <a:endParaRPr lang="en-US" sz="1150" dirty="0"/>
          </a:p>
        </p:txBody>
      </p:sp>
      <p:sp>
        <p:nvSpPr>
          <p:cNvPr id="12" name="Shape 10"/>
          <p:cNvSpPr/>
          <p:nvPr/>
        </p:nvSpPr>
        <p:spPr>
          <a:xfrm>
            <a:off x="2560320" y="2377440"/>
            <a:ext cx="1920240" cy="2194560"/>
          </a:xfrm>
          <a:prstGeom prst="roundRect">
            <a:avLst>
              <a:gd name="adj" fmla="val 3810"/>
            </a:avLst>
          </a:prstGeom>
          <a:solidFill>
            <a:srgbClr val="163D6B"/>
          </a:solidFill>
          <a:ln w="12700">
            <a:solidFill>
              <a:srgbClr val="163D6B"/>
            </a:solidFill>
            <a:prstDash val="solid"/>
          </a:ln>
        </p:spPr>
      </p:sp>
      <p:sp>
        <p:nvSpPr>
          <p:cNvPr id="13" name="Shape 11"/>
          <p:cNvSpPr/>
          <p:nvPr/>
        </p:nvSpPr>
        <p:spPr>
          <a:xfrm>
            <a:off x="2743200"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74320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18211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Le routage</a:t>
            </a:r>
            <a:endParaRPr lang="en-US" sz="1350" dirty="0"/>
          </a:p>
        </p:txBody>
      </p:sp>
      <p:sp>
        <p:nvSpPr>
          <p:cNvPr id="16" name="Text 14"/>
          <p:cNvSpPr txBox="1"/>
          <p:nvPr/>
        </p:nvSpPr>
        <p:spPr>
          <a:xfrm>
            <a:off x="274320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Route alertname = HostHighCpuLoad → astreinte-teams, avant team = infra. Vraie URL Workflows ou Inbox.</a:t>
            </a:r>
            <a:endParaRPr lang="en-US" sz="1150" dirty="0"/>
          </a:p>
        </p:txBody>
      </p:sp>
      <p:sp>
        <p:nvSpPr>
          <p:cNvPr id="17" name="Shape 15"/>
          <p:cNvSpPr/>
          <p:nvPr/>
        </p:nvSpPr>
        <p:spPr>
          <a:xfrm>
            <a:off x="4663440" y="2377440"/>
            <a:ext cx="1920240" cy="2194560"/>
          </a:xfrm>
          <a:prstGeom prst="roundRect">
            <a:avLst>
              <a:gd name="adj" fmla="val 3810"/>
            </a:avLst>
          </a:prstGeom>
          <a:solidFill>
            <a:srgbClr val="163D6B"/>
          </a:solidFill>
          <a:ln w="12700">
            <a:solidFill>
              <a:srgbClr val="163D6B"/>
            </a:solidFill>
            <a:prstDash val="solid"/>
          </a:ln>
        </p:spPr>
      </p:sp>
      <p:sp>
        <p:nvSpPr>
          <p:cNvPr id="18" name="Shape 16"/>
          <p:cNvSpPr/>
          <p:nvPr/>
        </p:nvSpPr>
        <p:spPr>
          <a:xfrm>
            <a:off x="4846320"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84632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28523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Déclencher</a:t>
            </a:r>
            <a:endParaRPr lang="en-US" sz="1350" dirty="0"/>
          </a:p>
        </p:txBody>
      </p:sp>
      <p:sp>
        <p:nvSpPr>
          <p:cNvPr id="21" name="Text 19"/>
          <p:cNvSpPr txBox="1"/>
          <p:nvPr/>
        </p:nvSpPr>
        <p:spPr>
          <a:xfrm>
            <a:off x="484632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./lab.sh chaos cpu 300. Chronométrer. Ouvrir la carte : que manque-t-il ?</a:t>
            </a:r>
            <a:endParaRPr lang="en-US" sz="1150" dirty="0"/>
          </a:p>
        </p:txBody>
      </p:sp>
      <p:sp>
        <p:nvSpPr>
          <p:cNvPr id="22" name="Shape 20"/>
          <p:cNvSpPr/>
          <p:nvPr/>
        </p:nvSpPr>
        <p:spPr>
          <a:xfrm>
            <a:off x="6766560" y="2377440"/>
            <a:ext cx="1920240" cy="2194560"/>
          </a:xfrm>
          <a:prstGeom prst="roundRect">
            <a:avLst>
              <a:gd name="adj" fmla="val 3810"/>
            </a:avLst>
          </a:prstGeom>
          <a:solidFill>
            <a:srgbClr val="163D6B"/>
          </a:solidFill>
          <a:ln w="12700">
            <a:solidFill>
              <a:srgbClr val="163D6B"/>
            </a:solidFill>
            <a:prstDash val="solid"/>
          </a:ln>
        </p:spPr>
      </p:sp>
      <p:sp>
        <p:nvSpPr>
          <p:cNvPr id="23" name="Shape 21"/>
          <p:cNvSpPr/>
          <p:nvPr/>
        </p:nvSpPr>
        <p:spPr>
          <a:xfrm>
            <a:off x="6949440"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694944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738835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Personnaliser</a:t>
            </a:r>
            <a:endParaRPr lang="en-US" sz="1350" dirty="0"/>
          </a:p>
        </p:txBody>
      </p:sp>
      <p:sp>
        <p:nvSpPr>
          <p:cNvPr id="26" name="Text 24"/>
          <p:cNvSpPr txBox="1"/>
          <p:nvPr/>
        </p:nvSpPr>
        <p:spPr>
          <a:xfrm>
            <a:off x="694944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formation.title / formation.text, lien dashboard avec var-instance, amtool template render.</a:t>
            </a:r>
            <a:endParaRPr lang="en-US" sz="1150" dirty="0"/>
          </a:p>
        </p:txBody>
      </p:sp>
      <p:sp>
        <p:nvSpPr>
          <p:cNvPr id="27" name="Text 25"/>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14</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Alerting Grafana</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Les mêmes concepts sous d'autres noms, et quand choisir quoi.</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90</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Alertmanager ↔ Grafana</a:t>
            </a:r>
            <a:endParaRPr lang="en-US" sz="28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011680"/>
                <a:gridCol w="3474720"/>
                <a:gridCol w="27432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Alertmanager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Grafana</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c>
                  <a:txBody>
                    <a:bodyPr/>
                    <a:lstStyle/>
                    <a:p>
                      <a:pPr indent="0" marL="0">
                        <a:buNone/>
                      </a:pP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0F2A4A"/>
                    </a:solidFill>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receiver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Contact point</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où envoyer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route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Notification policy</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qui reçoit quoi</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silence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Silence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identique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time_interval</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Time interval (mute timing)</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plages horaires</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template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Notification template</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même langage Go</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r h="411480">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règle (for)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Alert rule : pending period, keep firing for</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indent="0" marL="0">
                        <a:buNone/>
                      </a:pPr>
                      <a:r>
                        <a:rPr lang="en-US" sz="1300" dirty="0">
                          <a:solidFill>
                            <a:srgbClr val="1B1F2A"/>
                          </a:solidFill>
                          <a:latin typeface="Calibri" pitchFamily="34" charset="0"/>
                          <a:ea typeface="Calibri" pitchFamily="34" charset="-122"/>
                          <a:cs typeface="Calibri" pitchFamily="34" charset="-120"/>
                        </a:rPr>
                        <a:t>requêtes + Reduce / Math / Threshold</a:t>
                      </a:r>
                      <a:endParaRPr lang="en-US" sz="1300" dirty="0">
                        <a:latin typeface="Calibri" charset="0"/>
                        <a:ea typeface="Calibri" charset="0"/>
                        <a:cs typeface="Calibri" charset="0"/>
                      </a:endParaRPr>
                    </a:p>
                  </a:txBody>
                  <a:tcPr marL="45720" marR="45720" marT="45720" marB="45720">
                    <a:lnL w="9525" cap="flat" cmpd="sng" algn="ctr">
                      <a:solidFill>
                        <a:srgbClr val="E3E6EB"/>
                      </a:solidFill>
                      <a:prstDash val="solid"/>
                      <a:round/>
                      <a:headEnd type="none" w="med" len="med"/>
                      <a:tailEnd type="none" w="med" len="med"/>
                    </a:lnL>
                    <a:lnR w="9525" cap="flat" cmpd="sng" algn="ctr">
                      <a:solidFill>
                        <a:srgbClr val="E3E6EB"/>
                      </a:solidFill>
                      <a:prstDash val="solid"/>
                      <a:round/>
                      <a:headEnd type="none" w="med" len="med"/>
                      <a:tailEnd type="none" w="med" len="med"/>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91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Quand utiliser quoi</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Prometheus + Alertmanager</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Alertes pures métriques, versionnées, testées avec promtool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Évaluées là où sont les données, pas de dépendance à Grafana</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HA triviale</a:t>
            </a:r>
            <a:endParaRPr lang="en-US" sz="1300" dirty="0"/>
          </a:p>
        </p:txBody>
      </p:sp>
      <p:sp>
        <p:nvSpPr>
          <p:cNvPr id="8" name="Shape 6"/>
          <p:cNvSpPr/>
          <p:nvPr/>
        </p:nvSpPr>
        <p:spPr>
          <a:xfrm>
            <a:off x="4709160" y="1234440"/>
            <a:ext cx="3977640" cy="3429000"/>
          </a:xfrm>
          <a:prstGeom prst="roundRect">
            <a:avLst>
              <a:gd name="adj" fmla="val 2133"/>
            </a:avLst>
          </a:prstGeom>
          <a:solidFill>
            <a:srgbClr val="0F2A4A"/>
          </a:solidFill>
          <a:ln w="12700">
            <a:solidFill>
              <a:srgbClr val="0F2A4A"/>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Alerting Grafana</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Multi-sources : un log Loki + une métrique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Alertes SQL, équipes qui vivent dans Grafana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Lien direct règle ↔ panel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Se provisionne aussi en YAML, bouton Export partout</a:t>
            </a:r>
            <a:endParaRPr lang="en-US" sz="13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92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Une règle Grafana 13</a:t>
            </a:r>
            <a:endParaRPr lang="en-US" sz="2800" dirty="0"/>
          </a:p>
        </p:txBody>
      </p:sp>
      <p:pic>
        <p:nvPicPr>
          <p:cNvPr id="5" name="Image 0" descr="/home/claude/formation-observabilite-lab/docs/formateur/img/grafana-alert-rul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Six étapes : nom, requête et condition, dossier et labels, évaluation, notifications, message</a:t>
            </a:r>
            <a:endParaRPr lang="en-US" sz="11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8</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Alerting Grafana, de l'interface au code</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Une règle multi-dimensionnelle dans l'interface, un contact point Teams, une politique, un test, puis tout exporter et provisionner par fichier.</a:t>
            </a:r>
            <a:endParaRPr lang="en-US" sz="1500" dirty="0"/>
          </a:p>
        </p:txBody>
      </p:sp>
      <p:sp>
        <p:nvSpPr>
          <p:cNvPr id="7" name="Shape 5"/>
          <p:cNvSpPr/>
          <p:nvPr/>
        </p:nvSpPr>
        <p:spPr>
          <a:xfrm>
            <a:off x="457200" y="2377440"/>
            <a:ext cx="1920240" cy="2194560"/>
          </a:xfrm>
          <a:prstGeom prst="roundRect">
            <a:avLst>
              <a:gd name="adj" fmla="val 3810"/>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Contact points</a:t>
            </a:r>
            <a:endParaRPr lang="en-US" sz="1350" dirty="0"/>
          </a:p>
        </p:txBody>
      </p:sp>
      <p:sp>
        <p:nvSpPr>
          <p:cNvPr id="11" name="Text 9"/>
          <p:cNvSpPr txBox="1"/>
          <p:nvPr/>
        </p:nvSpPr>
        <p:spPr>
          <a:xfrm>
            <a:off x="64008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inbox-grafana (Webhook), teams-astreinte (Microsoft Teams). Bouton Test.</a:t>
            </a:r>
            <a:endParaRPr lang="en-US" sz="1150" dirty="0"/>
          </a:p>
        </p:txBody>
      </p:sp>
      <p:sp>
        <p:nvSpPr>
          <p:cNvPr id="12" name="Shape 10"/>
          <p:cNvSpPr/>
          <p:nvPr/>
        </p:nvSpPr>
        <p:spPr>
          <a:xfrm>
            <a:off x="2560320" y="2377440"/>
            <a:ext cx="1920240" cy="2194560"/>
          </a:xfrm>
          <a:prstGeom prst="roundRect">
            <a:avLst>
              <a:gd name="adj" fmla="val 3810"/>
            </a:avLst>
          </a:prstGeom>
          <a:solidFill>
            <a:srgbClr val="163D6B"/>
          </a:solidFill>
          <a:ln w="12700">
            <a:solidFill>
              <a:srgbClr val="163D6B"/>
            </a:solidFill>
            <a:prstDash val="solid"/>
          </a:ln>
        </p:spPr>
      </p:sp>
      <p:sp>
        <p:nvSpPr>
          <p:cNvPr id="13" name="Shape 11"/>
          <p:cNvSpPr/>
          <p:nvPr/>
        </p:nvSpPr>
        <p:spPr>
          <a:xfrm>
            <a:off x="2743200"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74320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18211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Policies</a:t>
            </a:r>
            <a:endParaRPr lang="en-US" sz="1350" dirty="0"/>
          </a:p>
        </p:txBody>
      </p:sp>
      <p:sp>
        <p:nvSpPr>
          <p:cNvPr id="16" name="Text 14"/>
          <p:cNvSpPr txBox="1"/>
          <p:nvPr/>
        </p:nvSpPr>
        <p:spPr>
          <a:xfrm>
            <a:off x="274320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Default → inbox ; severity = critical → Teams, group wait 10 s.</a:t>
            </a:r>
            <a:endParaRPr lang="en-US" sz="1150" dirty="0"/>
          </a:p>
        </p:txBody>
      </p:sp>
      <p:sp>
        <p:nvSpPr>
          <p:cNvPr id="17" name="Shape 15"/>
          <p:cNvSpPr/>
          <p:nvPr/>
        </p:nvSpPr>
        <p:spPr>
          <a:xfrm>
            <a:off x="4663440" y="2377440"/>
            <a:ext cx="1920240" cy="2194560"/>
          </a:xfrm>
          <a:prstGeom prst="roundRect">
            <a:avLst>
              <a:gd name="adj" fmla="val 3810"/>
            </a:avLst>
          </a:prstGeom>
          <a:solidFill>
            <a:srgbClr val="163D6B"/>
          </a:solidFill>
          <a:ln w="12700">
            <a:solidFill>
              <a:srgbClr val="163D6B"/>
            </a:solidFill>
            <a:prstDash val="solid"/>
          </a:ln>
        </p:spPr>
      </p:sp>
      <p:sp>
        <p:nvSpPr>
          <p:cNvPr id="18" name="Shape 16"/>
          <p:cNvSpPr/>
          <p:nvPr/>
        </p:nvSpPr>
        <p:spPr>
          <a:xfrm>
            <a:off x="4846320"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84632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528523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Règle</a:t>
            </a:r>
            <a:endParaRPr lang="en-US" sz="1350" dirty="0"/>
          </a:p>
        </p:txBody>
      </p:sp>
      <p:sp>
        <p:nvSpPr>
          <p:cNvPr id="21" name="Text 19"/>
          <p:cNvSpPr txBox="1"/>
          <p:nvPr/>
        </p:nvSpPr>
        <p:spPr>
          <a:xfrm>
            <a:off x="484632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Taux d'erreur par instance, Instant, WHEN A IS ABOVE 5, pending 2 min, lien dashboard/panel.</a:t>
            </a:r>
            <a:endParaRPr lang="en-US" sz="1150" dirty="0"/>
          </a:p>
        </p:txBody>
      </p:sp>
      <p:sp>
        <p:nvSpPr>
          <p:cNvPr id="22" name="Shape 20"/>
          <p:cNvSpPr/>
          <p:nvPr/>
        </p:nvSpPr>
        <p:spPr>
          <a:xfrm>
            <a:off x="6766560" y="2377440"/>
            <a:ext cx="1920240" cy="2194560"/>
          </a:xfrm>
          <a:prstGeom prst="roundRect">
            <a:avLst>
              <a:gd name="adj" fmla="val 3810"/>
            </a:avLst>
          </a:prstGeom>
          <a:solidFill>
            <a:srgbClr val="163D6B"/>
          </a:solidFill>
          <a:ln w="12700">
            <a:solidFill>
              <a:srgbClr val="163D6B"/>
            </a:solidFill>
            <a:prstDash val="solid"/>
          </a:ln>
        </p:spPr>
      </p:sp>
      <p:sp>
        <p:nvSpPr>
          <p:cNvPr id="23" name="Shape 21"/>
          <p:cNvSpPr/>
          <p:nvPr/>
        </p:nvSpPr>
        <p:spPr>
          <a:xfrm>
            <a:off x="6949440"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694944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7388352" y="2542032"/>
            <a:ext cx="114300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As code</a:t>
            </a:r>
            <a:endParaRPr lang="en-US" sz="1350" dirty="0"/>
          </a:p>
        </p:txBody>
      </p:sp>
      <p:sp>
        <p:nvSpPr>
          <p:cNvPr id="26" name="Text 24"/>
          <p:cNvSpPr txBox="1"/>
          <p:nvPr/>
        </p:nvSpPr>
        <p:spPr>
          <a:xfrm>
            <a:off x="6949440" y="3017520"/>
            <a:ext cx="155448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Export YAML, formation.yml dans provisioning/alerting, restart, cadenas. Intervalle nuit en deux morceaux.</a:t>
            </a:r>
            <a:endParaRPr lang="en-US" sz="1150" dirty="0"/>
          </a:p>
        </p:txBody>
      </p:sp>
      <p:sp>
        <p:nvSpPr>
          <p:cNvPr id="27" name="Text 25"/>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15</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Performances, limites, bonnes pratiques</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Dimensionner, diagnostiquer, déployer proprement.</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95</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Ce qui coûte</a:t>
            </a:r>
            <a:endParaRPr lang="en-US" sz="2800" dirty="0"/>
          </a:p>
        </p:txBody>
      </p:sp>
      <p:sp>
        <p:nvSpPr>
          <p:cNvPr id="5" name="Shape 3"/>
          <p:cNvSpPr/>
          <p:nvPr/>
        </p:nvSpPr>
        <p:spPr>
          <a:xfrm>
            <a:off x="457200" y="1234440"/>
            <a:ext cx="2590800" cy="2468880"/>
          </a:xfrm>
          <a:prstGeom prst="roundRect">
            <a:avLst>
              <a:gd name="adj" fmla="val 2963"/>
            </a:avLst>
          </a:prstGeom>
          <a:solidFill>
            <a:srgbClr val="F4F5F7"/>
          </a:solidFill>
          <a:ln w="12700">
            <a:solidFill>
              <a:srgbClr val="F4F5F7"/>
            </a:solidFill>
            <a:prstDash val="solid"/>
          </a:ln>
        </p:spPr>
      </p:sp>
      <p:sp>
        <p:nvSpPr>
          <p:cNvPr id="6" name="Text 4"/>
          <p:cNvSpPr txBox="1"/>
          <p:nvPr/>
        </p:nvSpPr>
        <p:spPr>
          <a:xfrm>
            <a:off x="6400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Les séries actives</a:t>
            </a:r>
            <a:endParaRPr lang="en-US" sz="1600" dirty="0"/>
          </a:p>
        </p:txBody>
      </p:sp>
      <p:sp>
        <p:nvSpPr>
          <p:cNvPr id="7" name="Text 5"/>
          <p:cNvSpPr txBox="1"/>
          <p:nvPr/>
        </p:nvSpPr>
        <p:spPr>
          <a:xfrm>
            <a:off x="6400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La mémoire. 2 à 4 Ko par série dans le head. Un Prometheus tient 1 à 2 millions de séries confortablement.</a:t>
            </a:r>
            <a:endParaRPr lang="en-US" sz="1300" dirty="0"/>
          </a:p>
        </p:txBody>
      </p:sp>
      <p:sp>
        <p:nvSpPr>
          <p:cNvPr id="8" name="Shape 6"/>
          <p:cNvSpPr/>
          <p:nvPr/>
        </p:nvSpPr>
        <p:spPr>
          <a:xfrm>
            <a:off x="3276600" y="1234440"/>
            <a:ext cx="2590800" cy="2468880"/>
          </a:xfrm>
          <a:prstGeom prst="roundRect">
            <a:avLst>
              <a:gd name="adj" fmla="val 2963"/>
            </a:avLst>
          </a:prstGeom>
          <a:solidFill>
            <a:srgbClr val="F4F5F7"/>
          </a:solidFill>
          <a:ln w="12700">
            <a:solidFill>
              <a:srgbClr val="F4F5F7"/>
            </a:solidFill>
            <a:prstDash val="solid"/>
          </a:ln>
        </p:spPr>
      </p:sp>
      <p:sp>
        <p:nvSpPr>
          <p:cNvPr id="9" name="Text 7"/>
          <p:cNvSpPr txBox="1"/>
          <p:nvPr/>
        </p:nvSpPr>
        <p:spPr>
          <a:xfrm>
            <a:off x="34594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Les échantillons</a:t>
            </a:r>
            <a:endParaRPr lang="en-US" sz="1600" dirty="0"/>
          </a:p>
        </p:txBody>
      </p:sp>
      <p:sp>
        <p:nvSpPr>
          <p:cNvPr id="10" name="Text 8"/>
          <p:cNvSpPr txBox="1"/>
          <p:nvPr/>
        </p:nvSpPr>
        <p:spPr>
          <a:xfrm>
            <a:off x="34594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CPU et disque. 1 à 2 octets chacun : 1 M de séries à 15 s ≈ 8,5 Go par jour.</a:t>
            </a:r>
            <a:endParaRPr lang="en-US" sz="1300" dirty="0"/>
          </a:p>
        </p:txBody>
      </p:sp>
      <p:sp>
        <p:nvSpPr>
          <p:cNvPr id="11" name="Shape 9"/>
          <p:cNvSpPr/>
          <p:nvPr/>
        </p:nvSpPr>
        <p:spPr>
          <a:xfrm>
            <a:off x="6096000" y="1234440"/>
            <a:ext cx="2590800" cy="2468880"/>
          </a:xfrm>
          <a:prstGeom prst="roundRect">
            <a:avLst>
              <a:gd name="adj" fmla="val 2963"/>
            </a:avLst>
          </a:prstGeom>
          <a:solidFill>
            <a:srgbClr val="F4F5F7"/>
          </a:solidFill>
          <a:ln w="12700">
            <a:solidFill>
              <a:srgbClr val="F4F5F7"/>
            </a:solidFill>
            <a:prstDash val="solid"/>
          </a:ln>
        </p:spPr>
      </p:sp>
      <p:sp>
        <p:nvSpPr>
          <p:cNvPr id="12" name="Text 10"/>
          <p:cNvSpPr txBox="1"/>
          <p:nvPr/>
        </p:nvSpPr>
        <p:spPr>
          <a:xfrm>
            <a:off x="62788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Les requêtes</a:t>
            </a:r>
            <a:endParaRPr lang="en-US" sz="1600" dirty="0"/>
          </a:p>
        </p:txBody>
      </p:sp>
      <p:sp>
        <p:nvSpPr>
          <p:cNvPr id="13" name="Text 11"/>
          <p:cNvSpPr txBox="1"/>
          <p:nvPr/>
        </p:nvSpPr>
        <p:spPr>
          <a:xfrm>
            <a:off x="62788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Séries touchées × points. rate() sur un an sans filtre = des milliards de points.</a:t>
            </a:r>
            <a:endParaRPr lang="en-US" sz="13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96</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Diagnostiquer et limiter</a:t>
            </a:r>
            <a:endParaRPr lang="en-US" sz="2800" dirty="0"/>
          </a:p>
        </p:txBody>
      </p:sp>
      <p:sp>
        <p:nvSpPr>
          <p:cNvPr id="5" name="Shape 3"/>
          <p:cNvSpPr/>
          <p:nvPr/>
        </p:nvSpPr>
        <p:spPr>
          <a:xfrm>
            <a:off x="457200" y="1234440"/>
            <a:ext cx="3977640" cy="3429000"/>
          </a:xfrm>
          <a:prstGeom prst="roundRect">
            <a:avLst>
              <a:gd name="adj" fmla="val 2133"/>
            </a:avLst>
          </a:prstGeom>
          <a:solidFill>
            <a:srgbClr val="F4F5F7"/>
          </a:solidFill>
          <a:ln w="12700">
            <a:solidFill>
              <a:srgbClr val="F4F5F7"/>
            </a:solidFill>
            <a:prstDash val="solid"/>
          </a:ln>
        </p:spPr>
      </p:sp>
      <p:sp>
        <p:nvSpPr>
          <p:cNvPr id="6" name="Text 4"/>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Diagnostiquer</a:t>
            </a:r>
            <a:endParaRPr lang="en-US" sz="1700" dirty="0"/>
          </a:p>
        </p:txBody>
      </p:sp>
      <p:sp>
        <p:nvSpPr>
          <p:cNvPr id="7" name="Text 5"/>
          <p:cNvSpPr txBox="1"/>
          <p:nvPr/>
        </p:nvSpPr>
        <p:spPr>
          <a:xfrm>
            <a:off x="68580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Status → TSDB status : top métriques et labels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prometheus_tsdb_head_series, samples_appended_total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process_resident_memory_bytes, scrape_duration_seconds</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prometheus_engine_query_duration_seconds, ?stats=all</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promtool tsdb analyze sur un bloc</a:t>
            </a:r>
            <a:endParaRPr lang="en-US" sz="1300" dirty="0"/>
          </a:p>
        </p:txBody>
      </p:sp>
      <p:sp>
        <p:nvSpPr>
          <p:cNvPr id="8" name="Shape 6"/>
          <p:cNvSpPr/>
          <p:nvPr/>
        </p:nvSpPr>
        <p:spPr>
          <a:xfrm>
            <a:off x="4709160" y="1234440"/>
            <a:ext cx="3977640" cy="3429000"/>
          </a:xfrm>
          <a:prstGeom prst="roundRect">
            <a:avLst>
              <a:gd name="adj" fmla="val 2133"/>
            </a:avLst>
          </a:prstGeom>
          <a:solidFill>
            <a:srgbClr val="F4F5F7"/>
          </a:solidFill>
          <a:ln w="12700">
            <a:solidFill>
              <a:srgbClr val="F4F5F7"/>
            </a:solidFill>
            <a:prstDash val="solid"/>
          </a:ln>
        </p:spPr>
      </p:sp>
      <p:sp>
        <p:nvSpPr>
          <p:cNvPr id="9" name="Text 7"/>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700" b="1" dirty="0">
                <a:solidFill>
                  <a:srgbClr val="0F2A4A"/>
                </a:solidFill>
                <a:latin typeface="Calibri" pitchFamily="34" charset="0"/>
                <a:ea typeface="Calibri" pitchFamily="34" charset="-122"/>
                <a:cs typeface="Calibri" pitchFamily="34" charset="-120"/>
              </a:rPr>
              <a:t>Limiter la casse</a:t>
            </a:r>
            <a:endParaRPr lang="en-US" sz="1700" dirty="0"/>
          </a:p>
        </p:txBody>
      </p:sp>
      <p:sp>
        <p:nvSpPr>
          <p:cNvPr id="10" name="Text 8"/>
          <p:cNvSpPr txBox="1"/>
          <p:nvPr/>
        </p:nvSpPr>
        <p:spPr>
          <a:xfrm>
            <a:off x="4937760" y="1874520"/>
            <a:ext cx="3566160" cy="26517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sample_limit, label_limit par job : le scrape est refusé, up passe à 0</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metric_relabel_configs drop</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--query.max-samples, --query.timeout</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Recording rules pour tout ce qui est affiché en boucle</a:t>
            </a:r>
            <a:endParaRPr lang="en-US" sz="1300" dirty="0"/>
          </a:p>
          <a:p>
            <a:pPr marL="342900" indent="-342900">
              <a:spcAft>
                <a:spcPts val="600"/>
              </a:spcAft>
              <a:buSzPct val="100000"/>
              <a:buChar char="▪"/>
            </a:pPr>
            <a:r>
              <a:rPr lang="en-US" sz="1300" dirty="0">
                <a:solidFill>
                  <a:srgbClr val="1B1F2A"/>
                </a:solidFill>
                <a:latin typeface="Calibri" pitchFamily="34" charset="0"/>
                <a:ea typeface="Calibri" pitchFamily="34" charset="-122"/>
                <a:cs typeface="Calibri" pitchFamily="34" charset="-120"/>
              </a:rPr>
              <a:t>Pas d'auto-refresh 5 s sur 24 h</a:t>
            </a:r>
            <a:endParaRPr lang="en-US" sz="13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97</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Déployer proprement</a:t>
            </a:r>
            <a:endParaRPr lang="en-US" sz="2800" dirty="0"/>
          </a:p>
        </p:txBody>
      </p:sp>
      <p:sp>
        <p:nvSpPr>
          <p:cNvPr id="5" name="Shape 3"/>
          <p:cNvSpPr/>
          <p:nvPr/>
        </p:nvSpPr>
        <p:spPr>
          <a:xfrm>
            <a:off x="457200" y="1234440"/>
            <a:ext cx="4000500" cy="1600200"/>
          </a:xfrm>
          <a:prstGeom prst="roundRect">
            <a:avLst>
              <a:gd name="adj" fmla="val 4571"/>
            </a:avLst>
          </a:prstGeom>
          <a:solidFill>
            <a:srgbClr val="F4F5F7"/>
          </a:solidFill>
          <a:ln w="12700">
            <a:solidFill>
              <a:srgbClr val="F4F5F7"/>
            </a:solidFill>
            <a:prstDash val="solid"/>
          </a:ln>
        </p:spPr>
      </p:sp>
      <p:sp>
        <p:nvSpPr>
          <p:cNvPr id="6" name="Text 4"/>
          <p:cNvSpPr txBox="1"/>
          <p:nvPr/>
        </p:nvSpPr>
        <p:spPr>
          <a:xfrm>
            <a:off x="6400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Sécurité</a:t>
            </a:r>
            <a:endParaRPr lang="en-US" sz="1500" dirty="0"/>
          </a:p>
        </p:txBody>
      </p:sp>
      <p:sp>
        <p:nvSpPr>
          <p:cNvPr id="7" name="Text 5"/>
          <p:cNvSpPr txBox="1"/>
          <p:nvPr/>
        </p:nvSpPr>
        <p:spPr>
          <a:xfrm>
            <a:off x="6400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Pas d'auth par défaut. web.config.file (TLS, basic auth bcrypt) ou reverse proxy. Secrets dans des *_file.</a:t>
            </a:r>
            <a:endParaRPr lang="en-US" sz="1200" dirty="0"/>
          </a:p>
        </p:txBody>
      </p:sp>
      <p:sp>
        <p:nvSpPr>
          <p:cNvPr id="8" name="Shape 6"/>
          <p:cNvSpPr/>
          <p:nvPr/>
        </p:nvSpPr>
        <p:spPr>
          <a:xfrm>
            <a:off x="4686300" y="1234440"/>
            <a:ext cx="4000500" cy="1600200"/>
          </a:xfrm>
          <a:prstGeom prst="roundRect">
            <a:avLst>
              <a:gd name="adj" fmla="val 4571"/>
            </a:avLst>
          </a:prstGeom>
          <a:solidFill>
            <a:srgbClr val="F4F5F7"/>
          </a:solidFill>
          <a:ln w="12700">
            <a:solidFill>
              <a:srgbClr val="F4F5F7"/>
            </a:solidFill>
            <a:prstDash val="solid"/>
          </a:ln>
        </p:spPr>
      </p:sp>
      <p:sp>
        <p:nvSpPr>
          <p:cNvPr id="9" name="Text 7"/>
          <p:cNvSpPr txBox="1"/>
          <p:nvPr/>
        </p:nvSpPr>
        <p:spPr>
          <a:xfrm>
            <a:off x="4869180" y="13990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Haute disponibilité</a:t>
            </a:r>
            <a:endParaRPr lang="en-US" sz="1500" dirty="0"/>
          </a:p>
        </p:txBody>
      </p:sp>
      <p:sp>
        <p:nvSpPr>
          <p:cNvPr id="10" name="Text 8"/>
          <p:cNvSpPr txBox="1"/>
          <p:nvPr/>
        </p:nvSpPr>
        <p:spPr>
          <a:xfrm>
            <a:off x="4869180" y="18928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Deux Prometheus identiques (external_labels replica), Alertmanager en cluster qui déduplique. Grafana sur PostgreSQL derrière un LB.</a:t>
            </a:r>
            <a:endParaRPr lang="en-US" sz="1200" dirty="0"/>
          </a:p>
        </p:txBody>
      </p:sp>
      <p:sp>
        <p:nvSpPr>
          <p:cNvPr id="11" name="Shape 9"/>
          <p:cNvSpPr/>
          <p:nvPr/>
        </p:nvSpPr>
        <p:spPr>
          <a:xfrm>
            <a:off x="457200" y="3063240"/>
            <a:ext cx="4000500" cy="1600200"/>
          </a:xfrm>
          <a:prstGeom prst="roundRect">
            <a:avLst>
              <a:gd name="adj" fmla="val 4571"/>
            </a:avLst>
          </a:prstGeom>
          <a:solidFill>
            <a:srgbClr val="F4F5F7"/>
          </a:solidFill>
          <a:ln w="12700">
            <a:solidFill>
              <a:srgbClr val="F4F5F7"/>
            </a:solidFill>
            <a:prstDash val="solid"/>
          </a:ln>
        </p:spPr>
      </p:sp>
      <p:sp>
        <p:nvSpPr>
          <p:cNvPr id="12" name="Text 10"/>
          <p:cNvSpPr txBox="1"/>
          <p:nvPr/>
        </p:nvSpPr>
        <p:spPr>
          <a:xfrm>
            <a:off x="6400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Mode agent</a:t>
            </a:r>
            <a:endParaRPr lang="en-US" sz="1500" dirty="0"/>
          </a:p>
        </p:txBody>
      </p:sp>
      <p:sp>
        <p:nvSpPr>
          <p:cNvPr id="13" name="Text 11"/>
          <p:cNvSpPr txBox="1"/>
          <p:nvPr/>
        </p:nvSpPr>
        <p:spPr>
          <a:xfrm>
            <a:off x="6400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--agent : scrape et remote_write, sans stockage ni requêtes. Sites distants, edge. Grafana Alloy fait pareil (et logs, traces, OTLP).</a:t>
            </a:r>
            <a:endParaRPr lang="en-US" sz="1200" dirty="0"/>
          </a:p>
        </p:txBody>
      </p:sp>
      <p:sp>
        <p:nvSpPr>
          <p:cNvPr id="14" name="Shape 12"/>
          <p:cNvSpPr/>
          <p:nvPr/>
        </p:nvSpPr>
        <p:spPr>
          <a:xfrm>
            <a:off x="4686300" y="3063240"/>
            <a:ext cx="4000500" cy="1600200"/>
          </a:xfrm>
          <a:prstGeom prst="roundRect">
            <a:avLst>
              <a:gd name="adj" fmla="val 4571"/>
            </a:avLst>
          </a:prstGeom>
          <a:solidFill>
            <a:srgbClr val="F4F5F7"/>
          </a:solidFill>
          <a:ln w="12700">
            <a:solidFill>
              <a:srgbClr val="F4F5F7"/>
            </a:solidFill>
            <a:prstDash val="solid"/>
          </a:ln>
        </p:spPr>
      </p:sp>
      <p:sp>
        <p:nvSpPr>
          <p:cNvPr id="15" name="Text 13"/>
          <p:cNvSpPr txBox="1"/>
          <p:nvPr/>
        </p:nvSpPr>
        <p:spPr>
          <a:xfrm>
            <a:off x="4869180" y="3227832"/>
            <a:ext cx="3634740" cy="411480"/>
          </a:xfrm>
          <a:prstGeom prst="rect">
            <a:avLst/>
          </a:prstGeom>
          <a:noFill/>
          <a:ln/>
        </p:spPr>
        <p:txBody>
          <a:bodyPr wrap="square" lIns="0" tIns="0" rIns="0" bIns="0" rtlCol="0" anchor="ctr"/>
          <a:lstStyle/>
          <a:p>
            <a:pPr indent="0" marL="0">
              <a:buNone/>
            </a:pPr>
            <a:r>
              <a:rPr lang="en-US" sz="1500" b="1" dirty="0">
                <a:solidFill>
                  <a:srgbClr val="0F2A4A"/>
                </a:solidFill>
                <a:latin typeface="Calibri" pitchFamily="34" charset="0"/>
                <a:ea typeface="Calibri" pitchFamily="34" charset="-122"/>
                <a:cs typeface="Calibri" pitchFamily="34" charset="-120"/>
              </a:rPr>
              <a:t>Conventions</a:t>
            </a:r>
            <a:endParaRPr lang="en-US" sz="1500" dirty="0"/>
          </a:p>
        </p:txBody>
      </p:sp>
      <p:sp>
        <p:nvSpPr>
          <p:cNvPr id="16" name="Text 14"/>
          <p:cNvSpPr txBox="1"/>
          <p:nvPr/>
        </p:nvSpPr>
        <p:spPr>
          <a:xfrm>
            <a:off x="4869180" y="3721608"/>
            <a:ext cx="3634740" cy="822960"/>
          </a:xfrm>
          <a:prstGeom prst="rect">
            <a:avLst/>
          </a:prstGeom>
          <a:noFill/>
          <a:ln/>
        </p:spPr>
        <p:txBody>
          <a:bodyPr wrap="square" lIns="0" tIns="0" rIns="0" bIns="0" rtlCol="0" anchor="t"/>
          <a:lstStyle/>
          <a:p>
            <a:pPr indent="0" marL="0">
              <a:buNone/>
            </a:pPr>
            <a:r>
              <a:rPr lang="en-US" sz="1200" dirty="0">
                <a:solidFill>
                  <a:srgbClr val="1B1F2A"/>
                </a:solidFill>
                <a:latin typeface="Calibri" pitchFamily="34" charset="0"/>
                <a:ea typeface="Calibri" pitchFamily="34" charset="-122"/>
                <a:cs typeface="Calibri" pitchFamily="34" charset="-120"/>
              </a:rPr>
              <a:t>Nommage, labels env / team / service partout, un runbook par alerte, tests de règles en CI, tout provisionné.</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98</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Exercices 3.1 à 3.5 — diagnostic (10 min)</a:t>
            </a:r>
            <a:endParaRPr lang="en-US" sz="2800" dirty="0"/>
          </a:p>
        </p:txBody>
      </p:sp>
      <p:sp>
        <p:nvSpPr>
          <p:cNvPr id="5" name="Shape 3"/>
          <p:cNvSpPr/>
          <p:nvPr/>
        </p:nvSpPr>
        <p:spPr>
          <a:xfrm>
            <a:off x="457200" y="1280160"/>
            <a:ext cx="384048" cy="384048"/>
          </a:xfrm>
          <a:prstGeom prst="ellipse">
            <a:avLst/>
          </a:prstGeom>
          <a:solidFill>
            <a:srgbClr val="F15A22"/>
          </a:solidFill>
          <a:ln w="12700">
            <a:solidFill>
              <a:srgbClr val="F15A22"/>
            </a:solidFill>
            <a:prstDash val="solid"/>
          </a:ln>
        </p:spPr>
      </p:sp>
      <p:sp>
        <p:nvSpPr>
          <p:cNvPr id="6" name="Text 4"/>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3.1</a:t>
            </a:r>
            <a:endParaRPr lang="en-US" sz="950" dirty="0"/>
          </a:p>
        </p:txBody>
      </p:sp>
      <p:sp>
        <p:nvSpPr>
          <p:cNvPr id="7" name="Text 5"/>
          <p:cNvSpPr txBox="1"/>
          <p:nvPr/>
        </p:nvSpPr>
        <p:spPr>
          <a:xfrm>
            <a:off x="96012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Séries actives, métrique et label les plus lourds</a:t>
            </a:r>
            <a:endParaRPr lang="en-US" sz="1200" dirty="0"/>
          </a:p>
        </p:txBody>
      </p:sp>
      <p:sp>
        <p:nvSpPr>
          <p:cNvPr id="8" name="Shape 6"/>
          <p:cNvSpPr/>
          <p:nvPr/>
        </p:nvSpPr>
        <p:spPr>
          <a:xfrm>
            <a:off x="457200" y="1938528"/>
            <a:ext cx="384048" cy="384048"/>
          </a:xfrm>
          <a:prstGeom prst="ellipse">
            <a:avLst/>
          </a:prstGeom>
          <a:solidFill>
            <a:srgbClr val="F15A22"/>
          </a:solidFill>
          <a:ln w="12700">
            <a:solidFill>
              <a:srgbClr val="F15A22"/>
            </a:solidFill>
            <a:prstDash val="solid"/>
          </a:ln>
        </p:spPr>
      </p:sp>
      <p:sp>
        <p:nvSpPr>
          <p:cNvPr id="9" name="Text 7"/>
          <p:cNvSpPr txBox="1"/>
          <p:nvPr/>
        </p:nvSpPr>
        <p:spPr>
          <a:xfrm>
            <a:off x="45720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3.2</a:t>
            </a:r>
            <a:endParaRPr lang="en-US" sz="950" dirty="0"/>
          </a:p>
        </p:txBody>
      </p:sp>
      <p:sp>
        <p:nvSpPr>
          <p:cNvPr id="10" name="Text 8"/>
          <p:cNvSpPr txBox="1"/>
          <p:nvPr/>
        </p:nvSpPr>
        <p:spPr>
          <a:xfrm>
            <a:off x="96012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Échantillons par seconde, mémoire de Prometheus</a:t>
            </a:r>
            <a:endParaRPr lang="en-US" sz="1200" dirty="0"/>
          </a:p>
        </p:txBody>
      </p:sp>
      <p:sp>
        <p:nvSpPr>
          <p:cNvPr id="11" name="Shape 9"/>
          <p:cNvSpPr/>
          <p:nvPr/>
        </p:nvSpPr>
        <p:spPr>
          <a:xfrm>
            <a:off x="457200" y="2596896"/>
            <a:ext cx="384048" cy="384048"/>
          </a:xfrm>
          <a:prstGeom prst="ellipse">
            <a:avLst/>
          </a:prstGeom>
          <a:solidFill>
            <a:srgbClr val="F15A22"/>
          </a:solidFill>
          <a:ln w="12700">
            <a:solidFill>
              <a:srgbClr val="F15A22"/>
            </a:solidFill>
            <a:prstDash val="solid"/>
          </a:ln>
        </p:spPr>
      </p:sp>
      <p:sp>
        <p:nvSpPr>
          <p:cNvPr id="12" name="Text 10"/>
          <p:cNvSpPr txBox="1"/>
          <p:nvPr/>
        </p:nvSpPr>
        <p:spPr>
          <a:xfrm>
            <a:off x="457200" y="2596896"/>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3.3</a:t>
            </a:r>
            <a:endParaRPr lang="en-US" sz="950" dirty="0"/>
          </a:p>
        </p:txBody>
      </p:sp>
      <p:sp>
        <p:nvSpPr>
          <p:cNvPr id="13" name="Text 11"/>
          <p:cNvSpPr txBox="1"/>
          <p:nvPr/>
        </p:nvSpPr>
        <p:spPr>
          <a:xfrm>
            <a:off x="960120" y="2551176"/>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Le job le plus cher, le plus lent</a:t>
            </a:r>
            <a:endParaRPr lang="en-US" sz="1200" dirty="0"/>
          </a:p>
        </p:txBody>
      </p:sp>
      <p:sp>
        <p:nvSpPr>
          <p:cNvPr id="14" name="Shape 12"/>
          <p:cNvSpPr/>
          <p:nvPr/>
        </p:nvSpPr>
        <p:spPr>
          <a:xfrm>
            <a:off x="4663440" y="1280160"/>
            <a:ext cx="384048" cy="384048"/>
          </a:xfrm>
          <a:prstGeom prst="ellipse">
            <a:avLst/>
          </a:prstGeom>
          <a:solidFill>
            <a:srgbClr val="F15A22"/>
          </a:solidFill>
          <a:ln w="12700">
            <a:solidFill>
              <a:srgbClr val="F15A22"/>
            </a:solidFill>
            <a:prstDash val="solid"/>
          </a:ln>
        </p:spPr>
      </p:sp>
      <p:sp>
        <p:nvSpPr>
          <p:cNvPr id="15" name="Text 13"/>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3.4</a:t>
            </a:r>
            <a:endParaRPr lang="en-US" sz="950" dirty="0"/>
          </a:p>
        </p:txBody>
      </p:sp>
      <p:sp>
        <p:nvSpPr>
          <p:cNvPr id="16" name="Text 14"/>
          <p:cNvSpPr txBox="1"/>
          <p:nvPr/>
        </p:nvSpPr>
        <p:spPr>
          <a:xfrm>
            <a:off x="5166360" y="1234440"/>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sample_limit: 100 sur redis : que devient up ?</a:t>
            </a:r>
            <a:endParaRPr lang="en-US" sz="1200" dirty="0"/>
          </a:p>
        </p:txBody>
      </p:sp>
      <p:sp>
        <p:nvSpPr>
          <p:cNvPr id="17" name="Shape 15"/>
          <p:cNvSpPr/>
          <p:nvPr/>
        </p:nvSpPr>
        <p:spPr>
          <a:xfrm>
            <a:off x="4663440" y="1938528"/>
            <a:ext cx="384048" cy="384048"/>
          </a:xfrm>
          <a:prstGeom prst="ellipse">
            <a:avLst/>
          </a:prstGeom>
          <a:solidFill>
            <a:srgbClr val="F15A22"/>
          </a:solidFill>
          <a:ln w="12700">
            <a:solidFill>
              <a:srgbClr val="F15A22"/>
            </a:solidFill>
            <a:prstDash val="solid"/>
          </a:ln>
        </p:spPr>
      </p:sp>
      <p:sp>
        <p:nvSpPr>
          <p:cNvPr id="18" name="Text 16"/>
          <p:cNvSpPr txBox="1"/>
          <p:nvPr/>
        </p:nvSpPr>
        <p:spPr>
          <a:xfrm>
            <a:off x="4663440" y="1938528"/>
            <a:ext cx="38404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3.5</a:t>
            </a:r>
            <a:endParaRPr lang="en-US" sz="950" dirty="0"/>
          </a:p>
        </p:txBody>
      </p:sp>
      <p:sp>
        <p:nvSpPr>
          <p:cNvPr id="19" name="Text 17"/>
          <p:cNvSpPr txBox="1"/>
          <p:nvPr/>
        </p:nvSpPr>
        <p:spPr>
          <a:xfrm>
            <a:off x="5166360" y="1892808"/>
            <a:ext cx="3520440" cy="612648"/>
          </a:xfrm>
          <a:prstGeom prst="rect">
            <a:avLst/>
          </a:prstGeom>
          <a:noFill/>
          <a:ln/>
        </p:spPr>
        <p:txBody>
          <a:bodyPr wrap="square" lIns="0" tIns="0" rIns="0" bIns="0" rtlCol="0" anchor="ctr"/>
          <a:lstStyle/>
          <a:p>
            <a:pPr indent="0" marL="0">
              <a:buNone/>
            </a:pPr>
            <a:r>
              <a:rPr lang="en-US" sz="1200" dirty="0">
                <a:solidFill>
                  <a:srgbClr val="1B1F2A"/>
                </a:solidFill>
                <a:latin typeface="Calibri" pitchFamily="34" charset="0"/>
                <a:ea typeface="Calibri" pitchFamily="34" charset="-122"/>
                <a:cs typeface="Calibri" pitchFamily="34" charset="-120"/>
              </a:rPr>
              <a:t>?stats=all : brute contre recording rule</a:t>
            </a:r>
            <a:endParaRPr lang="en-US"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9</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Sauvegarde, restauration, sécurité</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L'audit demande : si le serveur de monitoring brûle, en combien de temps le remettez-vous ? Qui peut lire vos métriques ? (Et les 13 mois d'historique, c'est le TP 10.)</a:t>
            </a:r>
            <a:endParaRPr lang="en-US" sz="1500" dirty="0"/>
          </a:p>
        </p:txBody>
      </p:sp>
      <p:sp>
        <p:nvSpPr>
          <p:cNvPr id="7" name="Shape 5"/>
          <p:cNvSpPr/>
          <p:nvPr/>
        </p:nvSpPr>
        <p:spPr>
          <a:xfrm>
            <a:off x="457200" y="2377440"/>
            <a:ext cx="2621280" cy="2194560"/>
          </a:xfrm>
          <a:prstGeom prst="roundRect">
            <a:avLst>
              <a:gd name="adj" fmla="val 3333"/>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184404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Snapshot</a:t>
            </a:r>
            <a:endParaRPr lang="en-US" sz="1350" dirty="0"/>
          </a:p>
        </p:txBody>
      </p:sp>
      <p:sp>
        <p:nvSpPr>
          <p:cNvPr id="11" name="Text 9"/>
          <p:cNvSpPr txBox="1"/>
          <p:nvPr/>
        </p:nvSpPr>
        <p:spPr>
          <a:xfrm>
            <a:off x="640080" y="3017520"/>
            <a:ext cx="225552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./lab.sh snapshot, catastrophe simulée, restauration, qu'a-t-on perdu ?</a:t>
            </a:r>
            <a:endParaRPr lang="en-US" sz="1150" dirty="0"/>
          </a:p>
        </p:txBody>
      </p:sp>
      <p:sp>
        <p:nvSpPr>
          <p:cNvPr id="12" name="Shape 10"/>
          <p:cNvSpPr/>
          <p:nvPr/>
        </p:nvSpPr>
        <p:spPr>
          <a:xfrm>
            <a:off x="3261360" y="2377440"/>
            <a:ext cx="2621280" cy="2194560"/>
          </a:xfrm>
          <a:prstGeom prst="roundRect">
            <a:avLst>
              <a:gd name="adj" fmla="val 3333"/>
            </a:avLst>
          </a:prstGeom>
          <a:solidFill>
            <a:srgbClr val="163D6B"/>
          </a:solidFill>
          <a:ln w="12700">
            <a:solidFill>
              <a:srgbClr val="163D6B"/>
            </a:solidFill>
            <a:prstDash val="solid"/>
          </a:ln>
        </p:spPr>
      </p:sp>
      <p:sp>
        <p:nvSpPr>
          <p:cNvPr id="13" name="Shape 11"/>
          <p:cNvSpPr/>
          <p:nvPr/>
        </p:nvSpPr>
        <p:spPr>
          <a:xfrm>
            <a:off x="3444240"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344424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883152" y="2542032"/>
            <a:ext cx="184404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Grafana</a:t>
            </a:r>
            <a:endParaRPr lang="en-US" sz="1350" dirty="0"/>
          </a:p>
        </p:txBody>
      </p:sp>
      <p:sp>
        <p:nvSpPr>
          <p:cNvPr id="16" name="Text 14"/>
          <p:cNvSpPr txBox="1"/>
          <p:nvPr/>
        </p:nvSpPr>
        <p:spPr>
          <a:xfrm>
            <a:off x="3444240" y="3017520"/>
            <a:ext cx="225552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grafana.db, export de tous les dashboards par l'API. Ce qui n'y est pas. La vraie réponse : Git.</a:t>
            </a:r>
            <a:endParaRPr lang="en-US" sz="1150" dirty="0"/>
          </a:p>
        </p:txBody>
      </p:sp>
      <p:sp>
        <p:nvSpPr>
          <p:cNvPr id="17" name="Shape 15"/>
          <p:cNvSpPr/>
          <p:nvPr/>
        </p:nvSpPr>
        <p:spPr>
          <a:xfrm>
            <a:off x="6065520" y="2377440"/>
            <a:ext cx="2621280" cy="2194560"/>
          </a:xfrm>
          <a:prstGeom prst="roundRect">
            <a:avLst>
              <a:gd name="adj" fmla="val 3333"/>
            </a:avLst>
          </a:prstGeom>
          <a:solidFill>
            <a:srgbClr val="163D6B"/>
          </a:solidFill>
          <a:ln w="12700">
            <a:solidFill>
              <a:srgbClr val="163D6B"/>
            </a:solidFill>
            <a:prstDash val="solid"/>
          </a:ln>
        </p:spPr>
      </p:sp>
      <p:sp>
        <p:nvSpPr>
          <p:cNvPr id="18" name="Shape 16"/>
          <p:cNvSpPr/>
          <p:nvPr/>
        </p:nvSpPr>
        <p:spPr>
          <a:xfrm>
            <a:off x="6248400"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624840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6687312" y="2542032"/>
            <a:ext cx="1844040" cy="38404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Basic auth</a:t>
            </a:r>
            <a:endParaRPr lang="en-US" sz="1350" dirty="0"/>
          </a:p>
        </p:txBody>
      </p:sp>
      <p:sp>
        <p:nvSpPr>
          <p:cNvPr id="21" name="Text 19"/>
          <p:cNvSpPr txBox="1"/>
          <p:nvPr/>
        </p:nvSpPr>
        <p:spPr>
          <a:xfrm>
            <a:off x="6248400" y="3017520"/>
            <a:ext cx="2255520" cy="1463040"/>
          </a:xfrm>
          <a:prstGeom prst="rect">
            <a:avLst/>
          </a:prstGeom>
          <a:noFill/>
          <a:ln/>
        </p:spPr>
        <p:txBody>
          <a:bodyPr wrap="square" lIns="0" tIns="0" rIns="0" bIns="0" rtlCol="0" anchor="t"/>
          <a:lstStyle/>
          <a:p>
            <a:pPr indent="0" marL="0">
              <a:buNone/>
            </a:pPr>
            <a:r>
              <a:rPr lang="en-US" sz="1150" dirty="0">
                <a:solidFill>
                  <a:srgbClr val="DBE6F3"/>
                </a:solidFill>
                <a:latin typeface="Calibri" pitchFamily="34" charset="0"/>
                <a:ea typeface="Calibri" pitchFamily="34" charset="-122"/>
                <a:cs typeface="Calibri" pitchFamily="34" charset="-120"/>
              </a:rPr>
              <a:t>web.yml bcrypt, --web.config.file dans la brique 01, qu'est-ce qui casse ? Réparer, puis retirer.</a:t>
            </a:r>
            <a:endParaRPr lang="en-US" sz="1150" dirty="0"/>
          </a:p>
        </p:txBody>
      </p:sp>
      <p:sp>
        <p:nvSpPr>
          <p:cNvPr id="22" name="Text 2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1463040"/>
            <a:ext cx="7863840" cy="365760"/>
          </a:xfrm>
          <a:prstGeom prst="rect">
            <a:avLst/>
          </a:prstGeom>
          <a:noFill/>
          <a:ln/>
        </p:spPr>
        <p:txBody>
          <a:bodyPr wrap="square" lIns="0" tIns="0" rIns="0" bIns="0" rtlCol="0" anchor="ctr"/>
          <a:lstStyle/>
          <a:p>
            <a:pPr indent="0" marL="0">
              <a:buNone/>
            </a:pPr>
            <a:r>
              <a:rPr lang="en-US" sz="1300" b="1" spc="400" kern="0" dirty="0">
                <a:solidFill>
                  <a:srgbClr val="FFB48F"/>
                </a:solidFill>
                <a:latin typeface="Calibri" pitchFamily="34" charset="0"/>
                <a:ea typeface="Calibri" pitchFamily="34" charset="-122"/>
                <a:cs typeface="Calibri" pitchFamily="34" charset="-120"/>
              </a:rPr>
              <a:t>MODULE 16</a:t>
            </a:r>
            <a:endParaRPr lang="en-US" sz="1300" dirty="0"/>
          </a:p>
        </p:txBody>
      </p:sp>
      <p:sp>
        <p:nvSpPr>
          <p:cNvPr id="3" name="Text 1"/>
          <p:cNvSpPr txBox="1"/>
          <p:nvPr/>
        </p:nvSpPr>
        <p:spPr>
          <a:xfrm>
            <a:off x="640080" y="1874520"/>
            <a:ext cx="7863840" cy="109728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Mise à l'échelle et écosystème</a:t>
            </a:r>
            <a:endParaRPr lang="en-US" sz="4000" dirty="0"/>
          </a:p>
        </p:txBody>
      </p:sp>
      <p:sp>
        <p:nvSpPr>
          <p:cNvPr id="4" name="Text 2"/>
          <p:cNvSpPr txBox="1"/>
          <p:nvPr/>
        </p:nvSpPr>
        <p:spPr>
          <a:xfrm>
            <a:off x="640080" y="3017520"/>
            <a:ext cx="7863840" cy="822960"/>
          </a:xfrm>
          <a:prstGeom prst="rect">
            <a:avLst/>
          </a:prstGeom>
          <a:noFill/>
          <a:ln/>
        </p:spPr>
        <p:txBody>
          <a:bodyPr wrap="square" lIns="0" tIns="0" rIns="0" bIns="0" rtlCol="0" anchor="ctr"/>
          <a:lstStyle/>
          <a:p>
            <a:pPr indent="0" marL="0">
              <a:buNone/>
            </a:pPr>
            <a:r>
              <a:rPr lang="en-US" sz="1800" dirty="0">
                <a:solidFill>
                  <a:srgbClr val="DBE6F3"/>
                </a:solidFill>
                <a:latin typeface="Calibri" pitchFamily="34" charset="0"/>
                <a:ea typeface="Calibri" pitchFamily="34" charset="-122"/>
                <a:cs typeface="Calibri" pitchFamily="34" charset="-120"/>
              </a:rPr>
              <a:t>Quand un Prometheus ne suffit plus, et où va tout ça.</a:t>
            </a:r>
            <a:endParaRPr lang="en-US" sz="1800" dirty="0"/>
          </a:p>
        </p:txBody>
      </p:sp>
      <p:sp>
        <p:nvSpPr>
          <p:cNvPr id="5" name="Shape 3"/>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6"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101</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Les options, dans l'ordre</a:t>
            </a:r>
            <a:endParaRPr lang="en-US" sz="2800" dirty="0"/>
          </a:p>
        </p:txBody>
      </p:sp>
      <p:pic>
        <p:nvPicPr>
          <p:cNvPr id="5" name="Image 0" descr="/home/claude/formation-observabilite-lab/docs/diagrams/echelle.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Réduire d'abord (cardinalité, drop, agrégation). Ensuite seulement, agrandir.</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102</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Thanos : ce qu'on monte dans cinquante minutes</a:t>
            </a:r>
            <a:endParaRPr lang="en-US" sz="2800" dirty="0"/>
          </a:p>
        </p:txBody>
      </p:sp>
      <p:pic>
        <p:nvPicPr>
          <p:cNvPr id="5" name="Image 0" descr="/home/claude/formation-observabilite-lab/docs/diagrams/thanos.png">    </p:cNvPr>
          <p:cNvPicPr>
            <a:picLocks noChangeAspect="1"/>
          </p:cNvPicPr>
          <p:nvPr/>
        </p:nvPicPr>
        <p:blipFill>
          <a:blip r:embed="rId1"/>
          <a:srcRect l="0" r="0" t="0" b="0"/>
          <a:stretch/>
        </p:blipFill>
        <p:spPr>
          <a:xfrm>
            <a:off x="457200" y="1143000"/>
            <a:ext cx="8229600" cy="3291840"/>
          </a:xfrm>
          <a:prstGeom prst="rect">
            <a:avLst/>
          </a:prstGeom>
        </p:spPr>
      </p:pic>
      <p:sp>
        <p:nvSpPr>
          <p:cNvPr id="6" name="Text 3"/>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100" i="1" dirty="0">
                <a:solidFill>
                  <a:srgbClr val="5B6270"/>
                </a:solidFill>
                <a:latin typeface="Calibri" pitchFamily="34" charset="0"/>
                <a:ea typeface="Calibri" pitchFamily="34" charset="-122"/>
                <a:cs typeface="Calibri" pitchFamily="34" charset="-120"/>
              </a:rPr>
              <a:t>Sidecars, stockage objet, Store Gateway, Querier avec déduplication, Compactor · tout dans compose/07-thanos.yml</a:t>
            </a:r>
            <a:endParaRPr lang="en-US" sz="11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TP 10</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Thanos : historique long et vue globale</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La boutique ouvre un second site. Chaque site a son Prometheus, rétention 15 jours. L'audit veut 13 mois d'historique et une vue globale, sans toucher aux Prometheus existants. Tout tourne dans le Codespace.</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Lire, lancer</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compose/07-thanos.yml : qui parle à qui, quel volume partagé. Blocs de 10 min (min = max, obligatoire). Brique 07, ./lab.sh up.</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Querier</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Stores, up{job="shop-api"} avec et sans déduplication, où est passé replica, prometheus-b arrêté.</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Grafana</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Datasource Thanos, le dashboard TP 5 dessus, pourquoi cluster reste et replica disparaît.</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Bucket</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ls /bucket, meta.json, le Store Gateway annonce sa fenêtre, les logs du compactor, rétentions.</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Ranger</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Recommenter la brique et les flags, ./lab.sh up : le war game se joue sur la stack du matin.</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800600"/>
            <a:ext cx="5486400" cy="274320"/>
          </a:xfrm>
          <a:prstGeom prst="rect">
            <a:avLst/>
          </a:prstGeom>
          <a:noFill/>
          <a:ln/>
        </p:spPr>
        <p:txBody>
          <a:bodyPr wrap="square" lIns="0" tIns="0" rIns="0" bIns="0" rtlCol="0" anchor="ctr"/>
          <a:lstStyle/>
          <a:p>
            <a:pPr indent="0" marL="0">
              <a:buNone/>
            </a:pPr>
            <a:r>
              <a:rPr lang="en-US" sz="900" dirty="0">
                <a:solidFill>
                  <a:srgbClr val="9AA3AE"/>
                </a:solidFill>
                <a:latin typeface="Calibri" pitchFamily="34" charset="0"/>
                <a:ea typeface="Calibri" pitchFamily="34" charset="-122"/>
                <a:cs typeface="Calibri" pitchFamily="34" charset="-120"/>
              </a:rPr>
              <a:t>Formation Prometheus &amp; Grafana · Yohan Parent</a:t>
            </a:r>
            <a:endParaRPr lang="en-US" sz="900" dirty="0"/>
          </a:p>
        </p:txBody>
      </p:sp>
      <p:sp>
        <p:nvSpPr>
          <p:cNvPr id="3" name="Text 1"/>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900" dirty="0">
                <a:solidFill>
                  <a:srgbClr val="9AA3AE"/>
                </a:solidFill>
                <a:latin typeface="Calibri" pitchFamily="34" charset="0"/>
                <a:ea typeface="Calibri" pitchFamily="34" charset="-122"/>
                <a:cs typeface="Calibri" pitchFamily="34" charset="-120"/>
              </a:rPr>
              <a:t>104</a:t>
            </a:r>
            <a:endParaRPr lang="en-US" sz="900" dirty="0"/>
          </a:p>
        </p:txBody>
      </p:sp>
      <p:sp>
        <p:nvSpPr>
          <p:cNvPr id="4" name="Text 2"/>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2800" b="1" dirty="0">
                <a:solidFill>
                  <a:srgbClr val="0F2A4A"/>
                </a:solidFill>
                <a:latin typeface="Calibri" pitchFamily="34" charset="0"/>
                <a:ea typeface="Calibri" pitchFamily="34" charset="-122"/>
                <a:cs typeface="Calibri" pitchFamily="34" charset="-120"/>
              </a:rPr>
              <a:t>Et autour</a:t>
            </a:r>
            <a:endParaRPr lang="en-US" sz="2800" dirty="0"/>
          </a:p>
        </p:txBody>
      </p:sp>
      <p:sp>
        <p:nvSpPr>
          <p:cNvPr id="5" name="Shape 3"/>
          <p:cNvSpPr/>
          <p:nvPr/>
        </p:nvSpPr>
        <p:spPr>
          <a:xfrm>
            <a:off x="457200" y="1234440"/>
            <a:ext cx="2590800" cy="2468880"/>
          </a:xfrm>
          <a:prstGeom prst="roundRect">
            <a:avLst>
              <a:gd name="adj" fmla="val 2963"/>
            </a:avLst>
          </a:prstGeom>
          <a:solidFill>
            <a:srgbClr val="F4F5F7"/>
          </a:solidFill>
          <a:ln w="12700">
            <a:solidFill>
              <a:srgbClr val="F4F5F7"/>
            </a:solidFill>
            <a:prstDash val="solid"/>
          </a:ln>
        </p:spPr>
      </p:sp>
      <p:sp>
        <p:nvSpPr>
          <p:cNvPr id="6" name="Text 4"/>
          <p:cNvSpPr txBox="1"/>
          <p:nvPr/>
        </p:nvSpPr>
        <p:spPr>
          <a:xfrm>
            <a:off x="6400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OpenTelemetry</a:t>
            </a:r>
            <a:endParaRPr lang="en-US" sz="1600" dirty="0"/>
          </a:p>
        </p:txBody>
      </p:sp>
      <p:sp>
        <p:nvSpPr>
          <p:cNvPr id="7" name="Text 5"/>
          <p:cNvSpPr txBox="1"/>
          <p:nvPr/>
        </p:nvSpPr>
        <p:spPr>
          <a:xfrm>
            <a:off x="6400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Le standard d'instrumentation des trois signaux. Prometheus 3 reçoit l'OTLP nativement, noms avec points et UTF-8. Collector / Alloy pour scraper, recevoir, envoyer.</a:t>
            </a:r>
            <a:endParaRPr lang="en-US" sz="1300" dirty="0"/>
          </a:p>
        </p:txBody>
      </p:sp>
      <p:sp>
        <p:nvSpPr>
          <p:cNvPr id="8" name="Shape 6"/>
          <p:cNvSpPr/>
          <p:nvPr/>
        </p:nvSpPr>
        <p:spPr>
          <a:xfrm>
            <a:off x="3276600" y="1234440"/>
            <a:ext cx="2590800" cy="2468880"/>
          </a:xfrm>
          <a:prstGeom prst="roundRect">
            <a:avLst>
              <a:gd name="adj" fmla="val 2963"/>
            </a:avLst>
          </a:prstGeom>
          <a:solidFill>
            <a:srgbClr val="F4F5F7"/>
          </a:solidFill>
          <a:ln w="12700">
            <a:solidFill>
              <a:srgbClr val="F4F5F7"/>
            </a:solidFill>
            <a:prstDash val="solid"/>
          </a:ln>
        </p:spPr>
      </p:sp>
      <p:sp>
        <p:nvSpPr>
          <p:cNvPr id="9" name="Text 7"/>
          <p:cNvSpPr txBox="1"/>
          <p:nvPr/>
        </p:nvSpPr>
        <p:spPr>
          <a:xfrm>
            <a:off x="34594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Loki et Tempo</a:t>
            </a:r>
            <a:endParaRPr lang="en-US" sz="1600" dirty="0"/>
          </a:p>
        </p:txBody>
      </p:sp>
      <p:sp>
        <p:nvSpPr>
          <p:cNvPr id="10" name="Text 8"/>
          <p:cNvSpPr txBox="1"/>
          <p:nvPr/>
        </p:nvSpPr>
        <p:spPr>
          <a:xfrm>
            <a:off x="34594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Les mêmes idées pour les logs et les traces. Grafana les corrèle : d'un pic de latence aux traces (exemplars) aux logs, en trois clics.</a:t>
            </a:r>
            <a:endParaRPr lang="en-US" sz="1300" dirty="0"/>
          </a:p>
        </p:txBody>
      </p:sp>
      <p:sp>
        <p:nvSpPr>
          <p:cNvPr id="11" name="Shape 9"/>
          <p:cNvSpPr/>
          <p:nvPr/>
        </p:nvSpPr>
        <p:spPr>
          <a:xfrm>
            <a:off x="6096000" y="1234440"/>
            <a:ext cx="2590800" cy="2468880"/>
          </a:xfrm>
          <a:prstGeom prst="roundRect">
            <a:avLst>
              <a:gd name="adj" fmla="val 2963"/>
            </a:avLst>
          </a:prstGeom>
          <a:solidFill>
            <a:srgbClr val="F4F5F7"/>
          </a:solidFill>
          <a:ln w="12700">
            <a:solidFill>
              <a:srgbClr val="F4F5F7"/>
            </a:solidFill>
            <a:prstDash val="solid"/>
          </a:ln>
        </p:spPr>
      </p:sp>
      <p:sp>
        <p:nvSpPr>
          <p:cNvPr id="12" name="Text 10"/>
          <p:cNvSpPr txBox="1"/>
          <p:nvPr/>
        </p:nvSpPr>
        <p:spPr>
          <a:xfrm>
            <a:off x="6278880" y="1399032"/>
            <a:ext cx="2225040" cy="411480"/>
          </a:xfrm>
          <a:prstGeom prst="rect">
            <a:avLst/>
          </a:prstGeom>
          <a:noFill/>
          <a:ln/>
        </p:spPr>
        <p:txBody>
          <a:bodyPr wrap="square" lIns="0" tIns="0" rIns="0" bIns="0" rtlCol="0" anchor="ctr"/>
          <a:lstStyle/>
          <a:p>
            <a:pPr indent="0" marL="0">
              <a:buNone/>
            </a:pPr>
            <a:r>
              <a:rPr lang="en-US" sz="1600" b="1" dirty="0">
                <a:solidFill>
                  <a:srgbClr val="0F2A4A"/>
                </a:solidFill>
                <a:latin typeface="Calibri" pitchFamily="34" charset="0"/>
                <a:ea typeface="Calibri" pitchFamily="34" charset="-122"/>
                <a:cs typeface="Calibri" pitchFamily="34" charset="-120"/>
              </a:rPr>
              <a:t>Kubernetes</a:t>
            </a:r>
            <a:endParaRPr lang="en-US" sz="1600" dirty="0"/>
          </a:p>
        </p:txBody>
      </p:sp>
      <p:sp>
        <p:nvSpPr>
          <p:cNvPr id="13" name="Text 11"/>
          <p:cNvSpPr txBox="1"/>
          <p:nvPr/>
        </p:nvSpPr>
        <p:spPr>
          <a:xfrm>
            <a:off x="6278880" y="1892808"/>
            <a:ext cx="2225040" cy="1691640"/>
          </a:xfrm>
          <a:prstGeom prst="rect">
            <a:avLst/>
          </a:prstGeom>
          <a:noFill/>
          <a:ln/>
        </p:spPr>
        <p:txBody>
          <a:bodyPr wrap="square" lIns="0" tIns="0" rIns="0" bIns="0" rtlCol="0" anchor="t"/>
          <a:lstStyle/>
          <a:p>
            <a:pPr indent="0" marL="0">
              <a:buNone/>
            </a:pPr>
            <a:r>
              <a:rPr lang="en-US" sz="1300" dirty="0">
                <a:solidFill>
                  <a:srgbClr val="1B1F2A"/>
                </a:solidFill>
                <a:latin typeface="Calibri" pitchFamily="34" charset="0"/>
                <a:ea typeface="Calibri" pitchFamily="34" charset="-122"/>
                <a:cs typeface="Calibri" pitchFamily="34" charset="-120"/>
              </a:rPr>
              <a:t>kube-prometheus-stack : opérateur, ServiceMonitor, PrometheusRule, kube-state-metrics, dashboards. Un helm install, et tout ce qu'on a vu s'applique.</a:t>
            </a:r>
            <a:endParaRPr lang="en-US" sz="13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F2A4A"/>
        </a:solidFill>
      </p:bgPr>
    </p:bg>
    <p:spTree>
      <p:nvGrpSpPr>
        <p:cNvPr id="1" name=""/>
        <p:cNvGrpSpPr/>
        <p:nvPr/>
      </p:nvGrpSpPr>
      <p:grpSpPr>
        <a:xfrm>
          <a:off x="0" y="0"/>
          <a:ext cx="0" cy="0"/>
          <a:chOff x="0" y="0"/>
          <a:chExt cx="0" cy="0"/>
        </a:xfrm>
      </p:grpSpPr>
      <p:sp>
        <p:nvSpPr>
          <p:cNvPr id="2" name="Shape 0"/>
          <p:cNvSpPr/>
          <p:nvPr/>
        </p:nvSpPr>
        <p:spPr>
          <a:xfrm>
            <a:off x="457200" y="411480"/>
            <a:ext cx="1371600" cy="457200"/>
          </a:xfrm>
          <a:prstGeom prst="roundRect">
            <a:avLst>
              <a:gd name="adj" fmla="val 20000"/>
            </a:avLst>
          </a:prstGeom>
          <a:solidFill>
            <a:srgbClr val="F15A22"/>
          </a:solidFill>
          <a:ln w="12700">
            <a:solidFill>
              <a:srgbClr val="F15A22"/>
            </a:solidFill>
            <a:prstDash val="solid"/>
          </a:ln>
        </p:spPr>
      </p:sp>
      <p:sp>
        <p:nvSpPr>
          <p:cNvPr id="3" name="Text 1"/>
          <p:cNvSpPr txBox="1"/>
          <p:nvPr/>
        </p:nvSpPr>
        <p:spPr>
          <a:xfrm>
            <a:off x="457200" y="411480"/>
            <a:ext cx="13716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WAR GAME</a:t>
            </a:r>
            <a:endParaRPr lang="en-US" sz="1600" dirty="0"/>
          </a:p>
        </p:txBody>
      </p:sp>
      <p:sp>
        <p:nvSpPr>
          <p:cNvPr id="4" name="Text 2"/>
          <p:cNvSpPr txBox="1"/>
          <p:nvPr/>
        </p:nvSpPr>
        <p:spPr>
          <a:xfrm>
            <a:off x="2011680" y="365760"/>
            <a:ext cx="667512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Diagnostiquer en moins de cinq minutes</a:t>
            </a:r>
            <a:endParaRPr lang="en-US" sz="2400" dirty="0"/>
          </a:p>
        </p:txBody>
      </p:sp>
      <p:sp>
        <p:nvSpPr>
          <p:cNvPr id="5" name="Text 3"/>
          <p:cNvSpPr txBox="1"/>
          <p:nvPr/>
        </p:nvSpPr>
        <p:spPr>
          <a:xfrm>
            <a:off x="457200" y="1097280"/>
            <a:ext cx="1828800" cy="274320"/>
          </a:xfrm>
          <a:prstGeom prst="rect">
            <a:avLst/>
          </a:prstGeom>
          <a:noFill/>
          <a:ln/>
        </p:spPr>
        <p:txBody>
          <a:bodyPr wrap="square" lIns="0" tIns="0" rIns="0" bIns="0" rtlCol="0" anchor="ctr"/>
          <a:lstStyle/>
          <a:p>
            <a:pPr indent="0" marL="0">
              <a:buNone/>
            </a:pPr>
            <a:r>
              <a:rPr lang="en-US" sz="1200" b="1" spc="300" kern="0" dirty="0">
                <a:solidFill>
                  <a:srgbClr val="FFB48F"/>
                </a:solidFill>
                <a:latin typeface="Calibri" pitchFamily="34" charset="0"/>
                <a:ea typeface="Calibri" pitchFamily="34" charset="-122"/>
                <a:cs typeface="Calibri" pitchFamily="34" charset="-120"/>
              </a:rPr>
              <a:t>Mission</a:t>
            </a:r>
            <a:endParaRPr lang="en-US" sz="1200" dirty="0"/>
          </a:p>
        </p:txBody>
      </p:sp>
      <p:sp>
        <p:nvSpPr>
          <p:cNvPr id="6" name="Text 4"/>
          <p:cNvSpPr txBox="1"/>
          <p:nvPr/>
        </p:nvSpPr>
        <p:spPr>
          <a:xfrm>
            <a:off x="457200" y="1371600"/>
            <a:ext cx="8229600" cy="868680"/>
          </a:xfrm>
          <a:prstGeom prst="rect">
            <a:avLst/>
          </a:prstGeom>
          <a:noFill/>
          <a:ln/>
        </p:spPr>
        <p:txBody>
          <a:bodyPr wrap="square" lIns="0" tIns="0" rIns="0" bIns="0" rtlCol="0" anchor="t"/>
          <a:lstStyle/>
          <a:p>
            <a:pPr indent="0" marL="0">
              <a:buNone/>
            </a:pPr>
            <a:r>
              <a:rPr lang="en-US" sz="1500" dirty="0">
                <a:solidFill>
                  <a:srgbClr val="DBE6F3"/>
                </a:solidFill>
                <a:latin typeface="Calibri" pitchFamily="34" charset="0"/>
                <a:ea typeface="Calibri" pitchFamily="34" charset="-122"/>
                <a:cs typeface="Calibri" pitchFamily="34" charset="-120"/>
              </a:rPr>
              <a:t>Vous ne touchez plus à la configuration. Je casse la boutique d'une façon que vous ne connaissez pas, sur une seule instance. Vous avez Grafana, Prometheus, Alertmanager et l'Inbox.</a:t>
            </a:r>
            <a:endParaRPr lang="en-US" sz="1500" dirty="0"/>
          </a:p>
        </p:txBody>
      </p:sp>
      <p:sp>
        <p:nvSpPr>
          <p:cNvPr id="7" name="Shape 5"/>
          <p:cNvSpPr/>
          <p:nvPr/>
        </p:nvSpPr>
        <p:spPr>
          <a:xfrm>
            <a:off x="457200" y="2377440"/>
            <a:ext cx="1499616" cy="2194560"/>
          </a:xfrm>
          <a:prstGeom prst="roundRect">
            <a:avLst>
              <a:gd name="adj" fmla="val 4878"/>
            </a:avLst>
          </a:prstGeom>
          <a:solidFill>
            <a:srgbClr val="163D6B"/>
          </a:solidFill>
          <a:ln w="12700">
            <a:solidFill>
              <a:srgbClr val="163D6B"/>
            </a:solidFill>
            <a:prstDash val="solid"/>
          </a:ln>
        </p:spPr>
      </p:sp>
      <p:sp>
        <p:nvSpPr>
          <p:cNvPr id="8" name="Shape 6"/>
          <p:cNvSpPr/>
          <p:nvPr/>
        </p:nvSpPr>
        <p:spPr>
          <a:xfrm>
            <a:off x="640080" y="2560320"/>
            <a:ext cx="347472" cy="347472"/>
          </a:xfrm>
          <a:prstGeom prst="ellipse">
            <a:avLst/>
          </a:prstGeom>
          <a:solidFill>
            <a:srgbClr val="F15A22"/>
          </a:solidFill>
          <a:ln w="12700">
            <a:solidFill>
              <a:srgbClr val="F15A22"/>
            </a:solidFill>
            <a:prstDash val="solid"/>
          </a:ln>
        </p:spPr>
      </p:sp>
      <p:sp>
        <p:nvSpPr>
          <p:cNvPr id="9" name="Text 7"/>
          <p:cNvSpPr txBox="1"/>
          <p:nvPr/>
        </p:nvSpPr>
        <p:spPr>
          <a:xfrm>
            <a:off x="640080"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078992"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Quoi ?</a:t>
            </a:r>
            <a:endParaRPr lang="en-US" sz="1150" dirty="0"/>
          </a:p>
        </p:txBody>
      </p:sp>
      <p:sp>
        <p:nvSpPr>
          <p:cNvPr id="11" name="Text 9"/>
          <p:cNvSpPr txBox="1"/>
          <p:nvPr/>
        </p:nvSpPr>
        <p:spPr>
          <a:xfrm>
            <a:off x="640080"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Qu'est-ce qui est cassé, exactement ?</a:t>
            </a:r>
            <a:endParaRPr lang="en-US" sz="1050" dirty="0"/>
          </a:p>
        </p:txBody>
      </p:sp>
      <p:sp>
        <p:nvSpPr>
          <p:cNvPr id="12" name="Shape 10"/>
          <p:cNvSpPr/>
          <p:nvPr/>
        </p:nvSpPr>
        <p:spPr>
          <a:xfrm>
            <a:off x="2139696" y="2377440"/>
            <a:ext cx="1499616" cy="2194560"/>
          </a:xfrm>
          <a:prstGeom prst="roundRect">
            <a:avLst>
              <a:gd name="adj" fmla="val 4878"/>
            </a:avLst>
          </a:prstGeom>
          <a:solidFill>
            <a:srgbClr val="163D6B"/>
          </a:solidFill>
          <a:ln w="12700">
            <a:solidFill>
              <a:srgbClr val="163D6B"/>
            </a:solidFill>
            <a:prstDash val="solid"/>
          </a:ln>
        </p:spPr>
      </p:sp>
      <p:sp>
        <p:nvSpPr>
          <p:cNvPr id="13" name="Shape 11"/>
          <p:cNvSpPr/>
          <p:nvPr/>
        </p:nvSpPr>
        <p:spPr>
          <a:xfrm>
            <a:off x="2322576" y="2560320"/>
            <a:ext cx="347472" cy="347472"/>
          </a:xfrm>
          <a:prstGeom prst="ellipse">
            <a:avLst/>
          </a:prstGeom>
          <a:solidFill>
            <a:srgbClr val="F15A22"/>
          </a:solidFill>
          <a:ln w="12700">
            <a:solidFill>
              <a:srgbClr val="F15A22"/>
            </a:solidFill>
            <a:prstDash val="solid"/>
          </a:ln>
        </p:spPr>
      </p:sp>
      <p:sp>
        <p:nvSpPr>
          <p:cNvPr id="14" name="Text 12"/>
          <p:cNvSpPr txBox="1"/>
          <p:nvPr/>
        </p:nvSpPr>
        <p:spPr>
          <a:xfrm>
            <a:off x="2322576"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2761488"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Où ?</a:t>
            </a:r>
            <a:endParaRPr lang="en-US" sz="1150" dirty="0"/>
          </a:p>
        </p:txBody>
      </p:sp>
      <p:sp>
        <p:nvSpPr>
          <p:cNvPr id="16" name="Text 14"/>
          <p:cNvSpPr txBox="1"/>
          <p:nvPr/>
        </p:nvSpPr>
        <p:spPr>
          <a:xfrm>
            <a:off x="2322576"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Sur quelle instance, quelle route, quelle dépendance ?</a:t>
            </a:r>
            <a:endParaRPr lang="en-US" sz="1050" dirty="0"/>
          </a:p>
        </p:txBody>
      </p:sp>
      <p:sp>
        <p:nvSpPr>
          <p:cNvPr id="17" name="Shape 15"/>
          <p:cNvSpPr/>
          <p:nvPr/>
        </p:nvSpPr>
        <p:spPr>
          <a:xfrm>
            <a:off x="3822192" y="2377440"/>
            <a:ext cx="1499616" cy="2194560"/>
          </a:xfrm>
          <a:prstGeom prst="roundRect">
            <a:avLst>
              <a:gd name="adj" fmla="val 4878"/>
            </a:avLst>
          </a:prstGeom>
          <a:solidFill>
            <a:srgbClr val="163D6B"/>
          </a:solidFill>
          <a:ln w="12700">
            <a:solidFill>
              <a:srgbClr val="163D6B"/>
            </a:solidFill>
            <a:prstDash val="solid"/>
          </a:ln>
        </p:spPr>
      </p:sp>
      <p:sp>
        <p:nvSpPr>
          <p:cNvPr id="18" name="Shape 16"/>
          <p:cNvSpPr/>
          <p:nvPr/>
        </p:nvSpPr>
        <p:spPr>
          <a:xfrm>
            <a:off x="4005072" y="2560320"/>
            <a:ext cx="347472" cy="347472"/>
          </a:xfrm>
          <a:prstGeom prst="ellipse">
            <a:avLst/>
          </a:prstGeom>
          <a:solidFill>
            <a:srgbClr val="F15A22"/>
          </a:solidFill>
          <a:ln w="12700">
            <a:solidFill>
              <a:srgbClr val="F15A22"/>
            </a:solidFill>
            <a:prstDash val="solid"/>
          </a:ln>
        </p:spPr>
      </p:sp>
      <p:sp>
        <p:nvSpPr>
          <p:cNvPr id="19" name="Text 17"/>
          <p:cNvSpPr txBox="1"/>
          <p:nvPr/>
        </p:nvSpPr>
        <p:spPr>
          <a:xfrm>
            <a:off x="4005072"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4443984"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Depuis quand ?</a:t>
            </a:r>
            <a:endParaRPr lang="en-US" sz="1150" dirty="0"/>
          </a:p>
        </p:txBody>
      </p:sp>
      <p:sp>
        <p:nvSpPr>
          <p:cNvPr id="21" name="Text 19"/>
          <p:cNvSpPr txBox="1"/>
          <p:nvPr/>
        </p:nvSpPr>
        <p:spPr>
          <a:xfrm>
            <a:off x="4005072"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L'heure de début, à la minute.</a:t>
            </a:r>
            <a:endParaRPr lang="en-US" sz="1050" dirty="0"/>
          </a:p>
        </p:txBody>
      </p:sp>
      <p:sp>
        <p:nvSpPr>
          <p:cNvPr id="22" name="Shape 20"/>
          <p:cNvSpPr/>
          <p:nvPr/>
        </p:nvSpPr>
        <p:spPr>
          <a:xfrm>
            <a:off x="5504688" y="2377440"/>
            <a:ext cx="1499616" cy="2194560"/>
          </a:xfrm>
          <a:prstGeom prst="roundRect">
            <a:avLst>
              <a:gd name="adj" fmla="val 4878"/>
            </a:avLst>
          </a:prstGeom>
          <a:solidFill>
            <a:srgbClr val="163D6B"/>
          </a:solidFill>
          <a:ln w="12700">
            <a:solidFill>
              <a:srgbClr val="163D6B"/>
            </a:solidFill>
            <a:prstDash val="solid"/>
          </a:ln>
        </p:spPr>
      </p:sp>
      <p:sp>
        <p:nvSpPr>
          <p:cNvPr id="23" name="Shape 21"/>
          <p:cNvSpPr/>
          <p:nvPr/>
        </p:nvSpPr>
        <p:spPr>
          <a:xfrm>
            <a:off x="5687568" y="2560320"/>
            <a:ext cx="347472" cy="347472"/>
          </a:xfrm>
          <a:prstGeom prst="ellipse">
            <a:avLst/>
          </a:prstGeom>
          <a:solidFill>
            <a:srgbClr val="F15A22"/>
          </a:solidFill>
          <a:ln w="12700">
            <a:solidFill>
              <a:srgbClr val="F15A22"/>
            </a:solidFill>
            <a:prstDash val="solid"/>
          </a:ln>
        </p:spPr>
      </p:sp>
      <p:sp>
        <p:nvSpPr>
          <p:cNvPr id="24" name="Text 22"/>
          <p:cNvSpPr txBox="1"/>
          <p:nvPr/>
        </p:nvSpPr>
        <p:spPr>
          <a:xfrm>
            <a:off x="5687568"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126480"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Qui a sonné ?</a:t>
            </a:r>
            <a:endParaRPr lang="en-US" sz="1150" dirty="0"/>
          </a:p>
        </p:txBody>
      </p:sp>
      <p:sp>
        <p:nvSpPr>
          <p:cNvPr id="26" name="Text 24"/>
          <p:cNvSpPr txBox="1"/>
          <p:nvPr/>
        </p:nvSpPr>
        <p:spPr>
          <a:xfrm>
            <a:off x="5687568"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Quelle alerte a sonné, laquelle aurait dû ?</a:t>
            </a:r>
            <a:endParaRPr lang="en-US" sz="1050" dirty="0"/>
          </a:p>
        </p:txBody>
      </p:sp>
      <p:sp>
        <p:nvSpPr>
          <p:cNvPr id="27" name="Shape 25"/>
          <p:cNvSpPr/>
          <p:nvPr/>
        </p:nvSpPr>
        <p:spPr>
          <a:xfrm>
            <a:off x="7187184" y="2377440"/>
            <a:ext cx="1499616" cy="2194560"/>
          </a:xfrm>
          <a:prstGeom prst="roundRect">
            <a:avLst>
              <a:gd name="adj" fmla="val 4878"/>
            </a:avLst>
          </a:prstGeom>
          <a:solidFill>
            <a:srgbClr val="163D6B"/>
          </a:solidFill>
          <a:ln w="12700">
            <a:solidFill>
              <a:srgbClr val="163D6B"/>
            </a:solidFill>
            <a:prstDash val="solid"/>
          </a:ln>
        </p:spPr>
      </p:sp>
      <p:sp>
        <p:nvSpPr>
          <p:cNvPr id="28" name="Shape 26"/>
          <p:cNvSpPr/>
          <p:nvPr/>
        </p:nvSpPr>
        <p:spPr>
          <a:xfrm>
            <a:off x="7370064" y="2560320"/>
            <a:ext cx="347472" cy="347472"/>
          </a:xfrm>
          <a:prstGeom prst="ellipse">
            <a:avLst/>
          </a:prstGeom>
          <a:solidFill>
            <a:srgbClr val="F15A22"/>
          </a:solidFill>
          <a:ln w="12700">
            <a:solidFill>
              <a:srgbClr val="F15A22"/>
            </a:solidFill>
            <a:prstDash val="solid"/>
          </a:ln>
        </p:spPr>
      </p:sp>
      <p:sp>
        <p:nvSpPr>
          <p:cNvPr id="29" name="Text 27"/>
          <p:cNvSpPr txBox="1"/>
          <p:nvPr/>
        </p:nvSpPr>
        <p:spPr>
          <a:xfrm>
            <a:off x="7370064" y="25603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7808976" y="2542032"/>
            <a:ext cx="722376" cy="38404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Action</a:t>
            </a:r>
            <a:endParaRPr lang="en-US" sz="1150" dirty="0"/>
          </a:p>
        </p:txBody>
      </p:sp>
      <p:sp>
        <p:nvSpPr>
          <p:cNvPr id="31" name="Text 29"/>
          <p:cNvSpPr txBox="1"/>
          <p:nvPr/>
        </p:nvSpPr>
        <p:spPr>
          <a:xfrm>
            <a:off x="7370064" y="3017520"/>
            <a:ext cx="1133856" cy="1463040"/>
          </a:xfrm>
          <a:prstGeom prst="rect">
            <a:avLst/>
          </a:prstGeom>
          <a:noFill/>
          <a:ln/>
        </p:spPr>
        <p:txBody>
          <a:bodyPr wrap="square" lIns="0" tIns="0" rIns="0" bIns="0" rtlCol="0" anchor="t"/>
          <a:lstStyle/>
          <a:p>
            <a:pPr indent="0" marL="0">
              <a:buNone/>
            </a:pPr>
            <a:r>
              <a:rPr lang="en-US" sz="1050" dirty="0">
                <a:solidFill>
                  <a:srgbClr val="DBE6F3"/>
                </a:solidFill>
                <a:latin typeface="Calibri" pitchFamily="34" charset="0"/>
                <a:ea typeface="Calibri" pitchFamily="34" charset="-122"/>
                <a:cs typeface="Calibri" pitchFamily="34" charset="-120"/>
              </a:rPr>
              <a:t>La première action. Par écrit.</a:t>
            </a:r>
            <a:endParaRPr lang="en-US" sz="1050" dirty="0"/>
          </a:p>
        </p:txBody>
      </p:sp>
      <p:sp>
        <p:nvSpPr>
          <p:cNvPr id="32" name="Text 30"/>
          <p:cNvSpPr txBox="1"/>
          <p:nvPr/>
        </p:nvSpPr>
        <p:spPr>
          <a:xfrm>
            <a:off x="457200" y="4709160"/>
            <a:ext cx="8229600" cy="274320"/>
          </a:xfrm>
          <a:prstGeom prst="rect">
            <a:avLst/>
          </a:prstGeom>
          <a:noFill/>
          <a:ln/>
        </p:spPr>
        <p:txBody>
          <a:bodyPr wrap="square" lIns="0" tIns="0" rIns="0" bIns="0" rtlCol="0" anchor="ctr"/>
          <a:lstStyle/>
          <a:p>
            <a:pPr indent="0" marL="0">
              <a:buNone/>
            </a:pPr>
            <a:r>
              <a:rPr lang="en-US" sz="1000" i="1" dirty="0">
                <a:solidFill>
                  <a:srgbClr val="8FA3BD"/>
                </a:solidFill>
                <a:latin typeface="Calibri" pitchFamily="34" charset="0"/>
                <a:ea typeface="Calibri" pitchFamily="34" charset="-122"/>
                <a:cs typeface="Calibri" pitchFamily="34" charset="-120"/>
              </a:rPr>
              <a:t>Énoncé complet dans le guide stagiaire · corrigé projeté après recherche</a:t>
            </a:r>
            <a:endParaRPr lang="en-US" sz="10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0F2A4A"/>
        </a:solidFill>
      </p:bgPr>
    </p:bg>
    <p:spTree>
      <p:nvGrpSpPr>
        <p:cNvPr id="1" name=""/>
        <p:cNvGrpSpPr/>
        <p:nvPr/>
      </p:nvGrpSpPr>
      <p:grpSpPr>
        <a:xfrm>
          <a:off x="0" y="0"/>
          <a:ext cx="0" cy="0"/>
          <a:chOff x="0" y="0"/>
          <a:chExt cx="0" cy="0"/>
        </a:xfrm>
      </p:grpSpPr>
      <p:sp>
        <p:nvSpPr>
          <p:cNvPr id="2" name="Text 0"/>
          <p:cNvSpPr txBox="1"/>
          <p:nvPr/>
        </p:nvSpPr>
        <p:spPr>
          <a:xfrm>
            <a:off x="640080" y="822960"/>
            <a:ext cx="7863840" cy="64008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Lundi matin</a:t>
            </a:r>
            <a:endParaRPr lang="en-US" sz="3200" dirty="0"/>
          </a:p>
        </p:txBody>
      </p:sp>
      <p:sp>
        <p:nvSpPr>
          <p:cNvPr id="3" name="Text 1"/>
          <p:cNvSpPr txBox="1"/>
          <p:nvPr/>
        </p:nvSpPr>
        <p:spPr>
          <a:xfrm>
            <a:off x="640080" y="1554480"/>
            <a:ext cx="7863840" cy="1463040"/>
          </a:xfrm>
          <a:prstGeom prst="rect">
            <a:avLst/>
          </a:prstGeom>
          <a:noFill/>
          <a:ln/>
        </p:spPr>
        <p:txBody>
          <a:bodyPr wrap="square" lIns="0" tIns="0" rIns="0" bIns="0" rtlCol="0" anchor="ctr"/>
          <a:lstStyle/>
          <a:p>
            <a:pPr indent="0" marL="0">
              <a:buNone/>
            </a:pPr>
            <a:r>
              <a:rPr lang="en-US" sz="2000" dirty="0">
                <a:solidFill>
                  <a:srgbClr val="DBE6F3"/>
                </a:solidFill>
                <a:latin typeface="Calibri" pitchFamily="34" charset="0"/>
                <a:ea typeface="Calibri" pitchFamily="34" charset="-122"/>
                <a:cs typeface="Calibri" pitchFamily="34" charset="-120"/>
              </a:rPr>
              <a:t>Choisissez un service. Un seul.</a:t>
            </a:r>
            <a:endParaRPr lang="en-US" sz="2000" dirty="0"/>
          </a:p>
          <a:p>
            <a:pPr indent="0" marL="0">
              <a:buNone/>
            </a:pPr>
            <a:r>
              <a:rPr lang="en-US" sz="2000" dirty="0">
                <a:solidFill>
                  <a:srgbClr val="DBE6F3"/>
                </a:solidFill>
                <a:latin typeface="Calibri" pitchFamily="34" charset="0"/>
                <a:ea typeface="Calibri" pitchFamily="34" charset="-122"/>
                <a:cs typeface="Calibri" pitchFamily="34" charset="-120"/>
              </a:rPr>
              <a:t>Instrumentez-le en RED. Un dashboard. Deux alertes symptômes. Un runbook.</a:t>
            </a:r>
            <a:endParaRPr lang="en-US" sz="2000" dirty="0"/>
          </a:p>
          <a:p>
            <a:pPr indent="0" marL="0">
              <a:buNone/>
            </a:pPr>
            <a:r>
              <a:rPr lang="en-US" sz="2000" dirty="0">
                <a:solidFill>
                  <a:srgbClr val="DBE6F3"/>
                </a:solidFill>
                <a:latin typeface="Calibri" pitchFamily="34" charset="0"/>
                <a:ea typeface="Calibri" pitchFamily="34" charset="-122"/>
                <a:cs typeface="Calibri" pitchFamily="34" charset="-120"/>
              </a:rPr>
              <a:t>Pas plus. Le reste viendra.</a:t>
            </a:r>
            <a:endParaRPr lang="en-US" sz="2000" dirty="0"/>
          </a:p>
        </p:txBody>
      </p:sp>
      <p:sp>
        <p:nvSpPr>
          <p:cNvPr id="4" name="Text 2"/>
          <p:cNvSpPr txBox="1"/>
          <p:nvPr/>
        </p:nvSpPr>
        <p:spPr>
          <a:xfrm>
            <a:off x="640080" y="3200400"/>
            <a:ext cx="7863840" cy="822960"/>
          </a:xfrm>
          <a:prstGeom prst="rect">
            <a:avLst/>
          </a:prstGeom>
          <a:noFill/>
          <a:ln/>
        </p:spPr>
        <p:txBody>
          <a:bodyPr wrap="square" lIns="0" tIns="0" rIns="0" bIns="0" rtlCol="0" anchor="ctr"/>
          <a:lstStyle/>
          <a:p>
            <a:pPr indent="0" marL="0">
              <a:buNone/>
            </a:pPr>
            <a:r>
              <a:rPr lang="en-US" sz="1200" dirty="0">
                <a:solidFill>
                  <a:srgbClr val="FFB48F"/>
                </a:solidFill>
                <a:latin typeface="Calibri" pitchFamily="34" charset="0"/>
                <a:ea typeface="Calibri" pitchFamily="34" charset="-122"/>
                <a:cs typeface="Calibri" pitchFamily="34" charset="-120"/>
              </a:rPr>
              <a:t>Le dépôt : github.com/yparent/formation-observabilite-lab (branche formation-2026)</a:t>
            </a:r>
            <a:endParaRPr lang="en-US" sz="1200" dirty="0"/>
          </a:p>
          <a:p>
            <a:pPr indent="0" marL="0">
              <a:buNone/>
            </a:pPr>
            <a:r>
              <a:rPr lang="en-US" sz="1200" dirty="0">
                <a:solidFill>
                  <a:srgbClr val="FFB48F"/>
                </a:solidFill>
                <a:latin typeface="Calibri" pitchFamily="34" charset="0"/>
                <a:ea typeface="Calibri" pitchFamily="34" charset="-122"/>
                <a:cs typeface="Calibri" pitchFamily="34" charset="-120"/>
              </a:rPr>
              <a:t>prometheus.io/docs · grafana.com/docs · samber.github.io/awesome-prometheus-alerts · grafana.com/grafana/dashboards</a:t>
            </a:r>
            <a:endParaRPr lang="en-US" sz="1200" dirty="0"/>
          </a:p>
        </p:txBody>
      </p:sp>
      <p:sp>
        <p:nvSpPr>
          <p:cNvPr id="5" name="Text 3"/>
          <p:cNvSpPr txBox="1"/>
          <p:nvPr/>
        </p:nvSpPr>
        <p:spPr>
          <a:xfrm>
            <a:off x="640080" y="4114800"/>
            <a:ext cx="65836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Merci. Questionnaire d'évaluation, puis je reste pour vos questions.</a:t>
            </a:r>
            <a:endParaRPr lang="en-US" sz="1400" dirty="0"/>
          </a:p>
        </p:txBody>
      </p:sp>
      <p:sp>
        <p:nvSpPr>
          <p:cNvPr id="6" name="Shape 4"/>
          <p:cNvSpPr/>
          <p:nvPr/>
        </p:nvSpPr>
        <p:spPr>
          <a:xfrm>
            <a:off x="7498080" y="4206240"/>
            <a:ext cx="1371600" cy="621792"/>
          </a:xfrm>
          <a:prstGeom prst="roundRect">
            <a:avLst>
              <a:gd name="adj" fmla="val 8824"/>
            </a:avLst>
          </a:prstGeom>
          <a:solidFill>
            <a:srgbClr val="FFFFFF"/>
          </a:solidFill>
          <a:ln w="12700">
            <a:solidFill>
              <a:srgbClr val="FFFFFF"/>
            </a:solidFill>
            <a:prstDash val="solid"/>
          </a:ln>
        </p:spPr>
      </p:sp>
      <p:pic>
        <p:nvPicPr>
          <p:cNvPr id="7" name="Image 0" descr="/home/claude/formation-observabilite-lab/docs/assets/logo-sparks.png">    </p:cNvPr>
          <p:cNvPicPr>
            <a:picLocks noChangeAspect="1"/>
          </p:cNvPicPr>
          <p:nvPr/>
        </p:nvPicPr>
        <p:blipFill>
          <a:blip r:embed="rId1"/>
          <a:stretch>
            <a:fillRect/>
          </a:stretch>
        </p:blipFill>
        <p:spPr>
          <a:xfrm>
            <a:off x="7589520" y="4279392"/>
            <a:ext cx="1188720" cy="4754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106</Slides>
  <Notes>106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106</vt:i4>
      </vt:variant>
    </vt:vector>
  </HeadingPairs>
  <TitlesOfParts>
    <vt:vector size="10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Prometheus &amp; Grafana</dc:title>
  <dc:subject>PptxGenJS Presentation</dc:subject>
  <dc:creator>Yohan Parent</dc:creator>
  <cp:lastModifiedBy>Yohan Parent</cp:lastModifiedBy>
  <cp:revision>1</cp:revision>
  <dcterms:created xsi:type="dcterms:W3CDTF">2026-09-26T16:15:07Z</dcterms:created>
  <dcterms:modified xsi:type="dcterms:W3CDTF">2026-09-26T16:15:07Z</dcterms:modified>
</cp:coreProperties>
</file>