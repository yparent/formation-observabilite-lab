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Lst>
  <p:notesMasterIdLst>
    <p:notesMasterId r:id="rId9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notesMaster" Target="notesMasters/notesMaster1.xml"/><Relationship Id="rId99" Type="http://schemas.openxmlformats.org/officeDocument/2006/relationships/presProps" Target="presProps.xml"/><Relationship Id="rId100" Type="http://schemas.openxmlformats.org/officeDocument/2006/relationships/viewProps" Target="viewProps.xml"/><Relationship Id="rId101" Type="http://schemas.openxmlformats.org/officeDocument/2006/relationships/theme" Target="theme/theme1.xml"/><Relationship Id="rId10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projetée à l'arrivée des stagiaires. Ma stack tourne déjà depuis 30 minutes, Grafana ouvert sur le dashboard Boutique dans un autre onglet.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minutes, pas plus. Ce qui compte : la douleur des pannes m'a amené à l'observabilité, pas l'inverse.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note les pannes au paperboard. Trois questions de positionnement : pull vs push, série temporelle, bug infra vs applicatif.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promesse est concrète et mesurable : le war game de mercredi 17h la vérifie.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9h-17h30, déjeuner 12h30-14h, deux pauses. Jamais plus de 20 minutes sans clavier.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montre le dashboard Boutique tout vert, puis ./lab.sh chaos errors on. À la pause, il sera rouge : voilà ce qu'on saura construire mercredi.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Définition utilisable : un système est observable quand « pourquoi c'est lent ? » a une réponse en moins de cinq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Pourquoi les métriques d'abord : une métrique coûte quelques octets, un log des centaines. Et c'est sur les métriques qu'on alerte.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Anecdote fondatrice : surveiller la machine ne suffit jamais. C'est pour ça que la boutique expose shop_orders_total et shop_revenue_euros_total.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push garde un cas d'usage : les jobs éphémères, via la Pushgateway (TP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dessine au tableau dans cet ordre : cibles, serveur (scraper, stocker, évaluer), Alertmanager, Grafana, découverte de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concept le plus important de la journée. Je le fais reformuler par un stagiaire.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voiture : 150 000 km au compteur, est-ce que je roule vite ? rate() transforme les km en km/h. Histogram &gt; Summary en 2026 ; native histograms à l'horizon.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montre localhost:5001/metrics en vrai, puis Status → Target health.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Détail de la TSDB au jour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Même chose pour Grafana : Helm, Docker, dépôts Grafana Labs (à jour),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J'ouvre docker-compose.yml et je commente les flags de Prometheus : lifecycle, admin-api, remote-write-receiver, external-url.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passe dans les rangs. Erreurs classiques : port pris, Docker pas lancé, politique d'exécution PowerShell.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Trop vite = surcharge, trop lent = pics ratés. 15 s est le standard.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Démo : je casse l'indentation, ./lab.sh check refuse, je répare, ./lab.sh reload, Status → Configuration.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Chemins relatifs au dossier prometheus/ (monté dans /etc/prometheus). Erreur classique : chemin absolu de la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catalogue officiel en liste des centaines. Avant d'en écrire un, on vérifie. De plus en plus de logiciels exposent nativement.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montre localhost:9100/metrics : node_cpu_seconds_total, node_memory_MemAvailable_bytes, node_filesystem_avail_bytes.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Démo : localhost:9115/probe?module=http_2xx&amp;target=http://shop-api-1:5000/health → probe_success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minutes. La formule CPU est la requête la plus recopiée de l'histoire de Prometheus : j'y passe cinq minutes. Anecdote des sauvegardes fantômes.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J'ouvre apps/shop-api/app.py : les déclarations, le middleware after_request, la route checkout, le TODO du TP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Anecdote du label customer_id : 15 millions de séries, 60 Go de RAM, redémarrages toutes les heures. Les données à forte cardinalité vont dans les logs et les traces.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minutes. À la fin, prometheus.yml compte sept jobs. Le relabeling blackbox se décortique au tableau, règle par règle.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Quiz à l'oral, réponses au tableau. Je projette le corrigé de prometheus.yml et chacun compare avec le sien.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PromQL n'est pas SQL : pas de SELECT. On nomme, on filtre, on applique. Ça se lit de l'intérieur vers l'extérieur.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Démo dans l'onglet Query, Table puis Graph, et l'onglet Explain de Prometheus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Seuls, dans Prometheus. Je projette le corrigé de deux exercices toutes les cinq minutes. Les rapides : codes HTTP distincts par route.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Toutes gèrent les remises à zéro. Fenêtre ≥ 4 × scrape_interval, [5m] en pratique, $__rate_interval dans Grafana. Démo rate vs irate avec ./lab.sh traffic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Démo : histogram_quantile avec et sans by (le) ; la jointure en Table pour voir arriver le label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L'erreur numéro un : oublier by (le) en 2.15. Vérifier que le chaos est remis à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minutes, déborde souvent sur 14h. Une règle non testée sonnera un dimanche pour rien.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Explore avant de construire : on ne fait jamais un panel à l'aveugle.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qui a changé en 13 : nouvelle édition, rows et tabs, éditeur de variables refait, restauration de dashboards supprimés, Git Sync en OSS, plugin image renderer retiré.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Visite guidée en cinq minutes : Connections, Explore, New dashboard, un panel, Save, Exit edit, le cadenas du dashboard provisionné.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minutes. Le piège de l'étape 2 : diviser par count() sans scalar(). Le dashboard doit finir dans le dossier Formation (le TP 5 y fait un lien).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projette ce résultat au début du TP et je le laisse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minutes. Export : Model Classic pour le provisioning fichier, V2 Resource pour Git Sync et la nouvelle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Bonne pratique : un dossier par équipe, une team par équipe, la team Editor sur son dossier, dashboards provisionnés en lecture seule dans un dossier Officiel.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 réponse honnête : 90 % des entreprises n'ont pas besoin d'Enterprise. On y va pour SAML/SCIM, un connecteur commercial ou les rapports.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soir : recording.yml rempli, TP 4 et TP 5 sauvegardés, tp5-boutique.json provisionné.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Google SRE : on alerte sur la douleur du client. Trois niveaux suffisent : critical (on réveille), warning (demain matin), info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Démo : localhost:9093, amtool config routes show, amtool config routes test severity=critical.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démarre le module en arrêtant shop-api-2 : pending, firing, notification dans l'Inbox, resolved au redémarrage.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minutes. Piège garanti : un intervalle 20:00 → 08:00 est refusé, il faut le couper à minuit. Même règle dans Grafana.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 à pas complet en annexe E du guide. Si j'ai un tenant de démo, je crée le flux en direct.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minutes. Pour tester sans attendre : POST /api/v2/alerts sur Alertmanager.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Grafana-managed (évalué par Grafana) vs Data source-managed (écrit dans Mimir/Loki). On reste sur Grafana-managed.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deux coexistent très bien. Ce qu'il ne faut pas faire : dupliquer la même alerte des deux côtés.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minutes. Un fichier de provisioning invalide empêche Grafana de démarrer : docker compose logs grafana.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tueur après la cardinalité : le churn, des séries qui changent de labels sans arrêt (pods qui redémarrent, label avec timestamp).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minutes. Un snapshot = liens durs vers les blocs + le head : instantané. Ne jamais copier data/ à chaud sans snapshot.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signaux : OOM et compactions → trop de séries. &gt; 30-60 jours → longue durée. Multi-sites → central. HA vraie → duo ou stockage distribué.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suite logique de cette formation : Loki et Tempo.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minutes chrono, par binôme. Puis débrief : qui a trouvé quoi avec quel outil, et ce qui manquait (redis_up, panneau par instance, lien vers les logs).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Questionnaire de fin (annexe A), correction à l'oral tout de suite. Rappel du questionnaire de satisfaction Sparks.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slideLayout" Target="../slideLayouts/slideLayout1.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slideLayout" Target="../slideLayouts/slideLayout1.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slideLayout" Target="../slideLayouts/slideLayout1.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1.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slideLayout" Target="../slideLayouts/slideLayout1.xml"/><Relationship Id="rId3" Type="http://schemas.openxmlformats.org/officeDocument/2006/relationships/notesSlide" Target="../notesSlides/notesSlide9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A1A30">
              <a:alpha val="65000"/>
            </a:srgbClr>
          </a:solidFill>
          <a:ln w="12700">
            <a:solidFill>
              <a:srgbClr val="0A1A30">
                <a:alpha val="0"/>
              </a:srgbClr>
            </a:solidFill>
            <a:prstDash val="solid"/>
          </a:ln>
        </p:spPr>
      </p:sp>
      <p:sp>
        <p:nvSpPr>
          <p:cNvPr id="3" name="Shape 1"/>
          <p:cNvSpPr/>
          <p:nvPr/>
        </p:nvSpPr>
        <p:spPr>
          <a:xfrm>
            <a:off x="548640" y="365760"/>
            <a:ext cx="1828800" cy="804672"/>
          </a:xfrm>
          <a:prstGeom prst="roundRect">
            <a:avLst>
              <a:gd name="adj" fmla="val 6818"/>
            </a:avLst>
          </a:prstGeom>
          <a:solidFill>
            <a:srgbClr val="FFFFFF"/>
          </a:solidFill>
          <a:ln w="12700">
            <a:solidFill>
              <a:srgbClr val="FFFFFF"/>
            </a:solidFill>
            <a:prstDash val="solid"/>
          </a:ln>
        </p:spPr>
      </p:sp>
      <p:pic>
        <p:nvPicPr>
          <p:cNvPr id="4" name="Image 0" descr="/home/claude/formation-observabilite-lab/docs/assets/logo-sparks.png">    </p:cNvPr>
          <p:cNvPicPr>
            <a:picLocks noChangeAspect="1"/>
          </p:cNvPicPr>
          <p:nvPr/>
        </p:nvPicPr>
        <p:blipFill>
          <a:blip r:embed="rId2"/>
          <a:stretch>
            <a:fillRect/>
          </a:stretch>
        </p:blipFill>
        <p:spPr>
          <a:xfrm>
            <a:off x="640080" y="438912"/>
            <a:ext cx="1645920" cy="658368"/>
          </a:xfrm>
          <a:prstGeom prst="rect">
            <a:avLst/>
          </a:prstGeom>
        </p:spPr>
      </p:pic>
      <p:sp>
        <p:nvSpPr>
          <p:cNvPr id="5" name="Shape 2"/>
          <p:cNvSpPr/>
          <p:nvPr/>
        </p:nvSpPr>
        <p:spPr>
          <a:xfrm>
            <a:off x="7498080" y="365760"/>
            <a:ext cx="1188720" cy="868680"/>
          </a:xfrm>
          <a:prstGeom prst="roundRect">
            <a:avLst>
              <a:gd name="adj" fmla="val 6316"/>
            </a:avLst>
          </a:prstGeom>
          <a:solidFill>
            <a:srgbClr val="FFFFFF"/>
          </a:solidFill>
          <a:ln w="12700">
            <a:solidFill>
              <a:srgbClr val="FFFFFF"/>
            </a:solidFill>
            <a:prstDash val="solid"/>
          </a:ln>
        </p:spPr>
      </p:sp>
      <p:pic>
        <p:nvPicPr>
          <p:cNvPr id="6" name="Image 1" descr="/home/claude/formation-observabilite-lab/docs/assets/logo-ysycloud.png">    </p:cNvPr>
          <p:cNvPicPr>
            <a:picLocks noChangeAspect="1"/>
          </p:cNvPicPr>
          <p:nvPr/>
        </p:nvPicPr>
        <p:blipFill>
          <a:blip r:embed="rId3"/>
          <a:stretch>
            <a:fillRect/>
          </a:stretch>
        </p:blipFill>
        <p:spPr>
          <a:xfrm>
            <a:off x="7607808" y="429768"/>
            <a:ext cx="969264" cy="731520"/>
          </a:xfrm>
          <a:prstGeom prst="rect">
            <a:avLst/>
          </a:prstGeom>
        </p:spPr>
      </p:pic>
      <p:sp>
        <p:nvSpPr>
          <p:cNvPr id="7" name="Text 3"/>
          <p:cNvSpPr txBox="1"/>
          <p:nvPr/>
        </p:nvSpPr>
        <p:spPr>
          <a:xfrm>
            <a:off x="548640" y="1737360"/>
            <a:ext cx="7315200" cy="365760"/>
          </a:xfrm>
          <a:prstGeom prst="rect">
            <a:avLst/>
          </a:prstGeom>
          <a:noFill/>
          <a:ln/>
        </p:spPr>
        <p:txBody>
          <a:bodyPr wrap="square" lIns="0" tIns="0" rIns="0" bIns="0" rtlCol="0" anchor="ctr"/>
          <a:lstStyle/>
          <a:p>
            <a:pPr indent="0" marL="0">
              <a:buNone/>
            </a:pPr>
            <a:r>
              <a:rPr lang="en-US" sz="1300" b="1" spc="500" kern="0" dirty="0">
                <a:solidFill>
                  <a:srgbClr val="FFB48F"/>
                </a:solidFill>
                <a:latin typeface="Calibri" pitchFamily="34" charset="0"/>
                <a:ea typeface="Calibri" pitchFamily="34" charset="-122"/>
                <a:cs typeface="Calibri" pitchFamily="34" charset="-120"/>
              </a:rPr>
              <a:t>FORMATION · 3 JOURS</a:t>
            </a:r>
            <a:endParaRPr lang="en-US" sz="1300" dirty="0"/>
          </a:p>
        </p:txBody>
      </p:sp>
      <p:sp>
        <p:nvSpPr>
          <p:cNvPr id="8" name="Text 4"/>
          <p:cNvSpPr txBox="1"/>
          <p:nvPr/>
        </p:nvSpPr>
        <p:spPr>
          <a:xfrm>
            <a:off x="548640" y="2103120"/>
            <a:ext cx="8046720" cy="914400"/>
          </a:xfrm>
          <a:prstGeom prst="rect">
            <a:avLst/>
          </a:prstGeom>
          <a:noFill/>
          <a:ln/>
        </p:spPr>
        <p:txBody>
          <a:bodyPr wrap="square" lIns="0" tIns="0" rIns="0" bIns="0" rtlCol="0" anchor="ctr"/>
          <a:lstStyle/>
          <a:p>
            <a:pPr indent="0" marL="0">
              <a:buNone/>
            </a:pPr>
            <a:r>
              <a:rPr lang="en-US" sz="4600" b="1" dirty="0">
                <a:solidFill>
                  <a:srgbClr val="FFFFFF"/>
                </a:solidFill>
                <a:latin typeface="Calibri" pitchFamily="34" charset="0"/>
                <a:ea typeface="Calibri" pitchFamily="34" charset="-122"/>
                <a:cs typeface="Calibri" pitchFamily="34" charset="-120"/>
              </a:rPr>
              <a:t>Prometheus &amp; Grafana</a:t>
            </a:r>
            <a:endParaRPr lang="en-US" sz="4600" dirty="0"/>
          </a:p>
        </p:txBody>
      </p:sp>
      <p:sp>
        <p:nvSpPr>
          <p:cNvPr id="9" name="Text 5"/>
          <p:cNvSpPr txBox="1"/>
          <p:nvPr/>
        </p:nvSpPr>
        <p:spPr>
          <a:xfrm>
            <a:off x="548640" y="3017520"/>
            <a:ext cx="7772400" cy="45720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De l'écran noir à la vision rayon X : collecter, comprendre, réagir</a:t>
            </a:r>
            <a:endParaRPr lang="en-US" sz="1800" dirty="0"/>
          </a:p>
        </p:txBody>
      </p:sp>
      <p:sp>
        <p:nvSpPr>
          <p:cNvPr id="10" name="Text 6"/>
          <p:cNvSpPr txBox="1"/>
          <p:nvPr/>
        </p:nvSpPr>
        <p:spPr>
          <a:xfrm>
            <a:off x="548640" y="4343400"/>
            <a:ext cx="7315200" cy="320040"/>
          </a:xfrm>
          <a:prstGeom prst="rect">
            <a:avLst/>
          </a:prstGeom>
          <a:noFill/>
          <a:ln/>
        </p:spPr>
        <p:txBody>
          <a:bodyPr wrap="square" lIns="0" tIns="0" rIns="0" bIns="0" rtlCol="0" anchor="ctr"/>
          <a:lstStyle/>
          <a:p>
            <a:pPr indent="0" marL="0">
              <a:buNone/>
            </a:pPr>
            <a:r>
              <a:rPr lang="en-US" sz="1200" dirty="0">
                <a:solidFill>
                  <a:srgbClr val="DBE6F3"/>
                </a:solidFill>
                <a:latin typeface="Calibri" pitchFamily="34" charset="0"/>
                <a:ea typeface="Calibri" pitchFamily="34" charset="-122"/>
                <a:cs typeface="Calibri" pitchFamily="34" charset="-120"/>
              </a:rPr>
              <a:t>Yohan Parent · Architecte cloud · Édition septembre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2</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Votre formateur</a:t>
            </a:r>
            <a:endParaRPr lang="en-US" sz="2800" dirty="0"/>
          </a:p>
        </p:txBody>
      </p:sp>
      <p:pic>
        <p:nvPicPr>
          <p:cNvPr id="5" name="Image 0" descr="/home/claude/formation-observabilite-lab/docs/slides/yohan.jpg">    </p:cNvPr>
          <p:cNvPicPr>
            <a:picLocks noChangeAspect="1"/>
          </p:cNvPicPr>
          <p:nvPr/>
        </p:nvPicPr>
        <p:blipFill>
          <a:blip r:embed="rId1"/>
          <a:srcRect l="0" r="0" t="0" b="0"/>
          <a:stretch/>
        </p:blipFill>
        <p:spPr>
          <a:xfrm>
            <a:off x="457200" y="1234440"/>
            <a:ext cx="3108960" cy="2926080"/>
          </a:xfrm>
          <a:prstGeom prst="ellipse">
            <a:avLst/>
          </a:prstGeom>
        </p:spPr>
      </p:pic>
      <p:sp>
        <p:nvSpPr>
          <p:cNvPr id="6" name="Text 3"/>
          <p:cNvSpPr txBox="1"/>
          <p:nvPr/>
        </p:nvSpPr>
        <p:spPr>
          <a:xfrm>
            <a:off x="3931920" y="1280160"/>
            <a:ext cx="4754880" cy="457200"/>
          </a:xfrm>
          <a:prstGeom prst="rect">
            <a:avLst/>
          </a:prstGeom>
          <a:noFill/>
          <a:ln/>
        </p:spPr>
        <p:txBody>
          <a:bodyPr wrap="square" lIns="0" tIns="0" rIns="0" bIns="0" rtlCol="0" anchor="ctr"/>
          <a:lstStyle/>
          <a:p>
            <a:pPr indent="0" marL="0">
              <a:buNone/>
            </a:pPr>
            <a:r>
              <a:rPr lang="en-US" sz="2400" b="1" dirty="0">
                <a:solidFill>
                  <a:srgbClr val="0F2A4A"/>
                </a:solidFill>
                <a:latin typeface="Calibri" pitchFamily="34" charset="0"/>
                <a:ea typeface="Calibri" pitchFamily="34" charset="-122"/>
                <a:cs typeface="Calibri" pitchFamily="34" charset="-120"/>
              </a:rPr>
              <a:t>Yohan Parent</a:t>
            </a:r>
            <a:endParaRPr lang="en-US" sz="2400" dirty="0"/>
          </a:p>
        </p:txBody>
      </p:sp>
      <p:sp>
        <p:nvSpPr>
          <p:cNvPr id="7" name="Text 4"/>
          <p:cNvSpPr txBox="1"/>
          <p:nvPr/>
        </p:nvSpPr>
        <p:spPr>
          <a:xfrm>
            <a:off x="3931920" y="1828800"/>
            <a:ext cx="4754880" cy="22860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B1F2A"/>
                </a:solidFill>
                <a:latin typeface="Calibri" pitchFamily="34" charset="0"/>
                <a:ea typeface="Calibri" pitchFamily="34" charset="-122"/>
                <a:cs typeface="Calibri" pitchFamily="34" charset="-120"/>
              </a:rPr>
              <a:t>Architecte cloud, 15 ans d'infrastructure, DevOps, Kubernetes et IA</a:t>
            </a:r>
            <a:endParaRPr lang="en-US" sz="1400" dirty="0"/>
          </a:p>
          <a:p>
            <a:pPr marL="342900" indent="-342900">
              <a:spcAft>
                <a:spcPts val="800"/>
              </a:spcAft>
              <a:buSzPct val="100000"/>
              <a:buChar char="▪"/>
            </a:pPr>
            <a:r>
              <a:rPr lang="en-US" sz="1400" dirty="0">
                <a:solidFill>
                  <a:srgbClr val="1B1F2A"/>
                </a:solidFill>
                <a:latin typeface="Calibri" pitchFamily="34" charset="0"/>
                <a:ea typeface="Calibri" pitchFamily="34" charset="-122"/>
                <a:cs typeface="Calibri" pitchFamily="34" charset="-120"/>
              </a:rPr>
              <a:t>Banque, santé (HDS), industrie, SecNumCloud, OIV</a:t>
            </a:r>
            <a:endParaRPr lang="en-US" sz="1400" dirty="0"/>
          </a:p>
          <a:p>
            <a:pPr marL="342900" indent="-342900">
              <a:spcAft>
                <a:spcPts val="800"/>
              </a:spcAft>
              <a:buSzPct val="100000"/>
              <a:buChar char="▪"/>
            </a:pPr>
            <a:r>
              <a:rPr lang="en-US" sz="1400" dirty="0">
                <a:solidFill>
                  <a:srgbClr val="1B1F2A"/>
                </a:solidFill>
                <a:latin typeface="Calibri" pitchFamily="34" charset="0"/>
                <a:ea typeface="Calibri" pitchFamily="34" charset="-122"/>
                <a:cs typeface="Calibri" pitchFamily="34" charset="-120"/>
              </a:rPr>
              <a:t>Enseignant au CESI et à l'Université de Lorraine</a:t>
            </a:r>
            <a:endParaRPr lang="en-US" sz="1400" dirty="0"/>
          </a:p>
          <a:p>
            <a:pPr marL="342900" indent="-342900">
              <a:spcAft>
                <a:spcPts val="800"/>
              </a:spcAft>
              <a:buSzPct val="100000"/>
              <a:buChar char="▪"/>
            </a:pPr>
            <a:r>
              <a:rPr lang="en-US" sz="1400" dirty="0">
                <a:solidFill>
                  <a:srgbClr val="1B1F2A"/>
                </a:solidFill>
                <a:latin typeface="Calibri" pitchFamily="34" charset="0"/>
                <a:ea typeface="Calibri" pitchFamily="34" charset="-122"/>
                <a:cs typeface="Calibri" pitchFamily="34" charset="-120"/>
              </a:rPr>
              <a:t>Certifié CKS (Kubernetes Security Specialist)</a:t>
            </a:r>
            <a:endParaRPr lang="en-US" sz="1400" dirty="0"/>
          </a:p>
          <a:p>
            <a:pPr marL="342900" indent="-342900">
              <a:spcAft>
                <a:spcPts val="800"/>
              </a:spcAft>
              <a:buSzPct val="100000"/>
              <a:buChar char="▪"/>
            </a:pPr>
            <a:r>
              <a:rPr lang="en-US" sz="1400" dirty="0">
                <a:solidFill>
                  <a:srgbClr val="1B1F2A"/>
                </a:solidFill>
                <a:latin typeface="Calibri" pitchFamily="34" charset="0"/>
                <a:ea typeface="Calibri" pitchFamily="34" charset="-122"/>
                <a:cs typeface="Calibri" pitchFamily="34" charset="-120"/>
              </a:rPr>
              <a:t>Et surtout : beaucoup de nuits devant des écrans noirs</a:t>
            </a:r>
            <a:endParaRPr lang="en-US" sz="1400" dirty="0"/>
          </a:p>
        </p:txBody>
      </p:sp>
      <p:sp>
        <p:nvSpPr>
          <p:cNvPr id="8" name="Text 5"/>
          <p:cNvSpPr txBox="1"/>
          <p:nvPr/>
        </p:nvSpPr>
        <p:spPr>
          <a:xfrm>
            <a:off x="3931920" y="4114800"/>
            <a:ext cx="4754880" cy="274320"/>
          </a:xfrm>
          <a:prstGeom prst="rect">
            <a:avLst/>
          </a:prstGeom>
          <a:noFill/>
          <a:ln/>
        </p:spPr>
        <p:txBody>
          <a:bodyPr wrap="square" lIns="0" tIns="0" rIns="0" bIns="0" rtlCol="0" anchor="ctr"/>
          <a:lstStyle/>
          <a:p>
            <a:pPr indent="0" marL="0">
              <a:buNone/>
            </a:pPr>
            <a:r>
              <a:rPr lang="en-US" sz="1200" dirty="0">
                <a:solidFill>
                  <a:srgbClr val="F15A22"/>
                </a:solidFill>
                <a:latin typeface="Calibri" pitchFamily="34" charset="0"/>
                <a:ea typeface="Calibri" pitchFamily="34" charset="-122"/>
                <a:cs typeface="Calibri" pitchFamily="34" charset="-120"/>
              </a:rPr>
              <a:t>linkedin.com/in/yohan-parent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3</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Faisons connaissance</a:t>
            </a:r>
            <a:endParaRPr lang="en-US" sz="2800" dirty="0"/>
          </a:p>
        </p:txBody>
      </p:sp>
      <p:sp>
        <p:nvSpPr>
          <p:cNvPr id="5" name="Shape 3"/>
          <p:cNvSpPr/>
          <p:nvPr/>
        </p:nvSpPr>
        <p:spPr>
          <a:xfrm>
            <a:off x="457200" y="1234440"/>
            <a:ext cx="2590800" cy="2468880"/>
          </a:xfrm>
          <a:prstGeom prst="roundRect">
            <a:avLst>
              <a:gd name="adj" fmla="val 2963"/>
            </a:avLst>
          </a:prstGeom>
          <a:solidFill>
            <a:srgbClr val="F4F5F7"/>
          </a:solidFill>
          <a:ln w="12700">
            <a:solidFill>
              <a:srgbClr val="F4F5F7"/>
            </a:solidFill>
            <a:prstDash val="solid"/>
          </a:ln>
        </p:spPr>
      </p:sp>
      <p:sp>
        <p:nvSpPr>
          <p:cNvPr id="6" name="Shape 4"/>
          <p:cNvSpPr/>
          <p:nvPr/>
        </p:nvSpPr>
        <p:spPr>
          <a:xfrm>
            <a:off x="640080" y="1417320"/>
            <a:ext cx="365760" cy="365760"/>
          </a:xfrm>
          <a:prstGeom prst="ellipse">
            <a:avLst/>
          </a:prstGeom>
          <a:solidFill>
            <a:srgbClr val="F15A22"/>
          </a:solidFill>
          <a:ln w="12700">
            <a:solidFill>
              <a:srgbClr val="F15A22"/>
            </a:solidFill>
            <a:prstDash val="solid"/>
          </a:ln>
        </p:spPr>
      </p:sp>
      <p:sp>
        <p:nvSpPr>
          <p:cNvPr id="7" name="Text 5"/>
          <p:cNvSpPr txBox="1"/>
          <p:nvPr/>
        </p:nvSpPr>
        <p:spPr>
          <a:xfrm>
            <a:off x="640080" y="1417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1097280" y="1399032"/>
            <a:ext cx="17678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Qui êtes-vous ?</a:t>
            </a:r>
            <a:endParaRPr lang="en-US" sz="1600" dirty="0"/>
          </a:p>
        </p:txBody>
      </p:sp>
      <p:sp>
        <p:nvSpPr>
          <p:cNvPr id="9" name="Text 7"/>
          <p:cNvSpPr txBox="1"/>
          <p:nvPr/>
        </p:nvSpPr>
        <p:spPr>
          <a:xfrm>
            <a:off x="6400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Prénom, poste, équipe. Ce que vous surveillez aujourd'hui, et avec quoi (Zabbix, Centreon, Datadog, rien…).</a:t>
            </a:r>
            <a:endParaRPr lang="en-US" sz="1300" dirty="0"/>
          </a:p>
        </p:txBody>
      </p:sp>
      <p:sp>
        <p:nvSpPr>
          <p:cNvPr id="10" name="Shape 8"/>
          <p:cNvSpPr/>
          <p:nvPr/>
        </p:nvSpPr>
        <p:spPr>
          <a:xfrm>
            <a:off x="3276600" y="1234440"/>
            <a:ext cx="2590800" cy="2468880"/>
          </a:xfrm>
          <a:prstGeom prst="roundRect">
            <a:avLst>
              <a:gd name="adj" fmla="val 2963"/>
            </a:avLst>
          </a:prstGeom>
          <a:solidFill>
            <a:srgbClr val="F4F5F7"/>
          </a:solidFill>
          <a:ln w="12700">
            <a:solidFill>
              <a:srgbClr val="F4F5F7"/>
            </a:solidFill>
            <a:prstDash val="solid"/>
          </a:ln>
        </p:spPr>
      </p:sp>
      <p:sp>
        <p:nvSpPr>
          <p:cNvPr id="11" name="Shape 9"/>
          <p:cNvSpPr/>
          <p:nvPr/>
        </p:nvSpPr>
        <p:spPr>
          <a:xfrm>
            <a:off x="3459480" y="1417320"/>
            <a:ext cx="365760" cy="365760"/>
          </a:xfrm>
          <a:prstGeom prst="ellipse">
            <a:avLst/>
          </a:prstGeom>
          <a:solidFill>
            <a:srgbClr val="F15A22"/>
          </a:solidFill>
          <a:ln w="12700">
            <a:solidFill>
              <a:srgbClr val="F15A22"/>
            </a:solidFill>
            <a:prstDash val="solid"/>
          </a:ln>
        </p:spPr>
      </p:sp>
      <p:sp>
        <p:nvSpPr>
          <p:cNvPr id="12" name="Text 10"/>
          <p:cNvSpPr txBox="1"/>
          <p:nvPr/>
        </p:nvSpPr>
        <p:spPr>
          <a:xfrm>
            <a:off x="3459480" y="1417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3916680" y="1399032"/>
            <a:ext cx="17678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Votre pire panne</a:t>
            </a:r>
            <a:endParaRPr lang="en-US" sz="1600" dirty="0"/>
          </a:p>
        </p:txBody>
      </p:sp>
      <p:sp>
        <p:nvSpPr>
          <p:cNvPr id="14" name="Text 12"/>
          <p:cNvSpPr txBox="1"/>
          <p:nvPr/>
        </p:nvSpPr>
        <p:spPr>
          <a:xfrm>
            <a:off x="34594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Le moment où vous vous êtes senti le plus seul devant un écran noir. On s'en resservira toute la semaine.</a:t>
            </a:r>
            <a:endParaRPr lang="en-US" sz="1300" dirty="0"/>
          </a:p>
        </p:txBody>
      </p:sp>
      <p:sp>
        <p:nvSpPr>
          <p:cNvPr id="15" name="Shape 13"/>
          <p:cNvSpPr/>
          <p:nvPr/>
        </p:nvSpPr>
        <p:spPr>
          <a:xfrm>
            <a:off x="6096000" y="1234440"/>
            <a:ext cx="2590800" cy="2468880"/>
          </a:xfrm>
          <a:prstGeom prst="roundRect">
            <a:avLst>
              <a:gd name="adj" fmla="val 2963"/>
            </a:avLst>
          </a:prstGeom>
          <a:solidFill>
            <a:srgbClr val="F4F5F7"/>
          </a:solidFill>
          <a:ln w="12700">
            <a:solidFill>
              <a:srgbClr val="F4F5F7"/>
            </a:solidFill>
            <a:prstDash val="solid"/>
          </a:ln>
        </p:spPr>
      </p:sp>
      <p:sp>
        <p:nvSpPr>
          <p:cNvPr id="16" name="Shape 14"/>
          <p:cNvSpPr/>
          <p:nvPr/>
        </p:nvSpPr>
        <p:spPr>
          <a:xfrm>
            <a:off x="6278880" y="1417320"/>
            <a:ext cx="365760" cy="365760"/>
          </a:xfrm>
          <a:prstGeom prst="ellipse">
            <a:avLst/>
          </a:prstGeom>
          <a:solidFill>
            <a:srgbClr val="F15A22"/>
          </a:solidFill>
          <a:ln w="12700">
            <a:solidFill>
              <a:srgbClr val="F15A22"/>
            </a:solidFill>
            <a:prstDash val="solid"/>
          </a:ln>
        </p:spPr>
      </p:sp>
      <p:sp>
        <p:nvSpPr>
          <p:cNvPr id="17" name="Text 15"/>
          <p:cNvSpPr txBox="1"/>
          <p:nvPr/>
        </p:nvSpPr>
        <p:spPr>
          <a:xfrm>
            <a:off x="6278880" y="1417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6736080" y="1399032"/>
            <a:ext cx="17678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Vos attentes</a:t>
            </a:r>
            <a:endParaRPr lang="en-US" sz="1600" dirty="0"/>
          </a:p>
        </p:txBody>
      </p:sp>
      <p:sp>
        <p:nvSpPr>
          <p:cNvPr id="19" name="Text 17"/>
          <p:cNvSpPr txBox="1"/>
          <p:nvPr/>
        </p:nvSpPr>
        <p:spPr>
          <a:xfrm>
            <a:off x="62788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Ce que vous voulez savoir faire mercredi soir et qui vous manque aujourd'hui.</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4</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Ce que je vous promets pour mercredi soir</a:t>
            </a:r>
            <a:endParaRPr lang="en-US" sz="2800" dirty="0"/>
          </a:p>
        </p:txBody>
      </p:sp>
      <p:sp>
        <p:nvSpPr>
          <p:cNvPr id="5" name="Shape 3"/>
          <p:cNvSpPr/>
          <p:nvPr/>
        </p:nvSpPr>
        <p:spPr>
          <a:xfrm>
            <a:off x="457200" y="1234440"/>
            <a:ext cx="2590800" cy="2468880"/>
          </a:xfrm>
          <a:prstGeom prst="roundRect">
            <a:avLst>
              <a:gd name="adj" fmla="val 2963"/>
            </a:avLst>
          </a:prstGeom>
          <a:solidFill>
            <a:srgbClr val="F4F5F7"/>
          </a:solidFill>
          <a:ln w="12700">
            <a:solidFill>
              <a:srgbClr val="F4F5F7"/>
            </a:solidFill>
            <a:prstDash val="solid"/>
          </a:ln>
        </p:spPr>
      </p:sp>
      <p:sp>
        <p:nvSpPr>
          <p:cNvPr id="6" name="Text 4"/>
          <p:cNvSpPr txBox="1"/>
          <p:nvPr/>
        </p:nvSpPr>
        <p:spPr>
          <a:xfrm>
            <a:off x="6400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Voir</a:t>
            </a:r>
            <a:endParaRPr lang="en-US" sz="1600" dirty="0"/>
          </a:p>
        </p:txBody>
      </p:sp>
      <p:sp>
        <p:nvSpPr>
          <p:cNvPr id="7" name="Text 5"/>
          <p:cNvSpPr txBox="1"/>
          <p:nvPr/>
        </p:nvSpPr>
        <p:spPr>
          <a:xfrm>
            <a:off x="6400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Une stack complète que vous aurez assemblée vous-même : machine, application, services tiers, sondes externes.</a:t>
            </a:r>
            <a:endParaRPr lang="en-US" sz="1300" dirty="0"/>
          </a:p>
        </p:txBody>
      </p:sp>
      <p:sp>
        <p:nvSpPr>
          <p:cNvPr id="8" name="Shape 6"/>
          <p:cNvSpPr/>
          <p:nvPr/>
        </p:nvSpPr>
        <p:spPr>
          <a:xfrm>
            <a:off x="3276600" y="1234440"/>
            <a:ext cx="2590800" cy="2468880"/>
          </a:xfrm>
          <a:prstGeom prst="roundRect">
            <a:avLst>
              <a:gd name="adj" fmla="val 2963"/>
            </a:avLst>
          </a:prstGeom>
          <a:solidFill>
            <a:srgbClr val="F4F5F7"/>
          </a:solidFill>
          <a:ln w="12700">
            <a:solidFill>
              <a:srgbClr val="F4F5F7"/>
            </a:solidFill>
            <a:prstDash val="solid"/>
          </a:ln>
        </p:spPr>
      </p:sp>
      <p:sp>
        <p:nvSpPr>
          <p:cNvPr id="9" name="Text 7"/>
          <p:cNvSpPr txBox="1"/>
          <p:nvPr/>
        </p:nvSpPr>
        <p:spPr>
          <a:xfrm>
            <a:off x="34594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Comprendre</a:t>
            </a:r>
            <a:endParaRPr lang="en-US" sz="1600" dirty="0"/>
          </a:p>
        </p:txBody>
      </p:sp>
      <p:sp>
        <p:nvSpPr>
          <p:cNvPr id="10" name="Text 8"/>
          <p:cNvSpPr txBox="1"/>
          <p:nvPr/>
        </p:nvSpPr>
        <p:spPr>
          <a:xfrm>
            <a:off x="34594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PromQL comme un réflexe, des tableaux de bord qui répondent à de vraies questions, versionnés dans Git.</a:t>
            </a:r>
            <a:endParaRPr lang="en-US" sz="1300" dirty="0"/>
          </a:p>
        </p:txBody>
      </p:sp>
      <p:sp>
        <p:nvSpPr>
          <p:cNvPr id="11" name="Shape 9"/>
          <p:cNvSpPr/>
          <p:nvPr/>
        </p:nvSpPr>
        <p:spPr>
          <a:xfrm>
            <a:off x="6096000" y="1234440"/>
            <a:ext cx="2590800" cy="2468880"/>
          </a:xfrm>
          <a:prstGeom prst="roundRect">
            <a:avLst>
              <a:gd name="adj" fmla="val 2963"/>
            </a:avLst>
          </a:prstGeom>
          <a:solidFill>
            <a:srgbClr val="F4F5F7"/>
          </a:solidFill>
          <a:ln w="12700">
            <a:solidFill>
              <a:srgbClr val="F4F5F7"/>
            </a:solidFill>
            <a:prstDash val="solid"/>
          </a:ln>
        </p:spPr>
      </p:sp>
      <p:sp>
        <p:nvSpPr>
          <p:cNvPr id="12" name="Text 10"/>
          <p:cNvSpPr txBox="1"/>
          <p:nvPr/>
        </p:nvSpPr>
        <p:spPr>
          <a:xfrm>
            <a:off x="62788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Réagir</a:t>
            </a:r>
            <a:endParaRPr lang="en-US" sz="1600" dirty="0"/>
          </a:p>
        </p:txBody>
      </p:sp>
      <p:sp>
        <p:nvSpPr>
          <p:cNvPr id="13" name="Text 11"/>
          <p:cNvSpPr txBox="1"/>
          <p:nvPr/>
        </p:nvSpPr>
        <p:spPr>
          <a:xfrm>
            <a:off x="62788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Diagnostiquer une panne de la boutique en moins de cinq minutes. Et avoir été prévenu par Teams avant le client.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5</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Trois jours, un fil rouge</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463040"/>
                <a:gridCol w="3383280"/>
                <a:gridCol w="3383280"/>
              </a:tblGrid>
              <a:tr h="685800">
                <a:tc>
                  <a:txBody>
                    <a:bodyPr/>
                    <a:lstStyle/>
                    <a:p>
                      <a:pPr indent="0" marL="0">
                        <a:buNone/>
                      </a:pP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Matin</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Après-midi</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r>
              <a:tr h="685800">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Jour 1 · Voir</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Observabilité, architecture, installation, configuration, service discovery</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Exporters, Node Exporter (TP 1), instrumentation et services tiers (TP 2)</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685800">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Jour 2 · Comprendre</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PromQL de A à Z, 22 exercices, recording rules et tests (TP 3)</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Grafana 13, dashboard serveur Linux (TP 4), dashboard boutique + as code (TP 5), droits</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685800">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Jour 3 · Réagir</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Alertes, Alertmanager (TP 6), Slack / PagerDuty / Teams / GitHub, alerte CPU → Teams (TP 7)</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Alerting Grafana (TP 8), performances, sauvegarde et remote write (TP 9), échelle, war game</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6</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 lab : une boutique en ligne qu'on va casser</a:t>
            </a:r>
            <a:endParaRPr lang="en-US" sz="2800" dirty="0"/>
          </a:p>
        </p:txBody>
      </p:sp>
      <p:sp>
        <p:nvSpPr>
          <p:cNvPr id="5" name="Text 3"/>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400" i="1" dirty="0">
                <a:solidFill>
                  <a:srgbClr val="5B6270"/>
                </a:solidFill>
                <a:latin typeface="Calibri" pitchFamily="34" charset="0"/>
                <a:ea typeface="Calibri" pitchFamily="34" charset="-122"/>
                <a:cs typeface="Calibri" pitchFamily="34" charset="-120"/>
              </a:rPr>
              <a:t>Tout en conteneurs · Codespaces, macOS, Windows · rien à installer à part Docker</a:t>
            </a:r>
            <a:endParaRPr lang="en-US" sz="1400" dirty="0"/>
          </a:p>
        </p:txBody>
      </p:sp>
      <p:sp>
        <p:nvSpPr>
          <p:cNvPr id="6" name="Shape 4"/>
          <p:cNvSpPr/>
          <p:nvPr/>
        </p:nvSpPr>
        <p:spPr>
          <a:xfrm>
            <a:off x="457200" y="1600200"/>
            <a:ext cx="1554480" cy="640080"/>
          </a:xfrm>
          <a:prstGeom prst="roundRect">
            <a:avLst>
              <a:gd name="adj" fmla="val 11429"/>
            </a:avLst>
          </a:prstGeom>
          <a:solidFill>
            <a:srgbClr val="5B6270"/>
          </a:solidFill>
          <a:ln w="12700">
            <a:solidFill>
              <a:srgbClr val="5B6270"/>
            </a:solidFill>
            <a:prstDash val="solid"/>
          </a:ln>
        </p:spPr>
      </p:sp>
      <p:sp>
        <p:nvSpPr>
          <p:cNvPr id="7" name="Text 5"/>
          <p:cNvSpPr txBox="1"/>
          <p:nvPr/>
        </p:nvSpPr>
        <p:spPr>
          <a:xfrm>
            <a:off x="457200" y="1600200"/>
            <a:ext cx="1554480" cy="640080"/>
          </a:xfrm>
          <a:prstGeom prst="rect">
            <a:avLst/>
          </a:prstGeom>
          <a:noFill/>
          <a:ln/>
        </p:spPr>
        <p:txBody>
          <a:bodyPr wrap="square" lIns="635" tIns="635" rIns="635" bIns="635"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traffic</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(clients simulés)</a:t>
            </a:r>
            <a:endParaRPr lang="en-US" sz="1100" dirty="0"/>
          </a:p>
        </p:txBody>
      </p:sp>
      <p:sp>
        <p:nvSpPr>
          <p:cNvPr id="8" name="Shape 6"/>
          <p:cNvSpPr/>
          <p:nvPr/>
        </p:nvSpPr>
        <p:spPr>
          <a:xfrm>
            <a:off x="2468880" y="1417320"/>
            <a:ext cx="1737360" cy="457200"/>
          </a:xfrm>
          <a:prstGeom prst="roundRect">
            <a:avLst>
              <a:gd name="adj" fmla="val 16000"/>
            </a:avLst>
          </a:prstGeom>
          <a:solidFill>
            <a:srgbClr val="163D6B"/>
          </a:solidFill>
          <a:ln w="12700">
            <a:solidFill>
              <a:srgbClr val="163D6B"/>
            </a:solidFill>
            <a:prstDash val="solid"/>
          </a:ln>
        </p:spPr>
      </p:sp>
      <p:sp>
        <p:nvSpPr>
          <p:cNvPr id="9" name="Text 7"/>
          <p:cNvSpPr txBox="1"/>
          <p:nvPr/>
        </p:nvSpPr>
        <p:spPr>
          <a:xfrm>
            <a:off x="2468880" y="1417320"/>
            <a:ext cx="1737360" cy="457200"/>
          </a:xfrm>
          <a:prstGeom prst="rect">
            <a:avLst/>
          </a:prstGeom>
          <a:noFill/>
          <a:ln/>
        </p:spPr>
        <p:txBody>
          <a:bodyPr wrap="square" lIns="635" tIns="635" rIns="635" bIns="635"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shop-api-1</a:t>
            </a:r>
            <a:endParaRPr lang="en-US" sz="1200" dirty="0"/>
          </a:p>
        </p:txBody>
      </p:sp>
      <p:sp>
        <p:nvSpPr>
          <p:cNvPr id="10" name="Shape 8"/>
          <p:cNvSpPr/>
          <p:nvPr/>
        </p:nvSpPr>
        <p:spPr>
          <a:xfrm>
            <a:off x="2468880" y="1965960"/>
            <a:ext cx="1737360" cy="457200"/>
          </a:xfrm>
          <a:prstGeom prst="roundRect">
            <a:avLst>
              <a:gd name="adj" fmla="val 16000"/>
            </a:avLst>
          </a:prstGeom>
          <a:solidFill>
            <a:srgbClr val="163D6B"/>
          </a:solidFill>
          <a:ln w="12700">
            <a:solidFill>
              <a:srgbClr val="163D6B"/>
            </a:solidFill>
            <a:prstDash val="solid"/>
          </a:ln>
        </p:spPr>
      </p:sp>
      <p:sp>
        <p:nvSpPr>
          <p:cNvPr id="11" name="Text 9"/>
          <p:cNvSpPr txBox="1"/>
          <p:nvPr/>
        </p:nvSpPr>
        <p:spPr>
          <a:xfrm>
            <a:off x="2468880" y="1965960"/>
            <a:ext cx="1737360" cy="457200"/>
          </a:xfrm>
          <a:prstGeom prst="rect">
            <a:avLst/>
          </a:prstGeom>
          <a:noFill/>
          <a:ln/>
        </p:spPr>
        <p:txBody>
          <a:bodyPr wrap="square" lIns="635" tIns="635" rIns="635" bIns="635"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shop-api-2</a:t>
            </a:r>
            <a:endParaRPr lang="en-US" sz="1200" dirty="0"/>
          </a:p>
        </p:txBody>
      </p:sp>
      <p:sp>
        <p:nvSpPr>
          <p:cNvPr id="12" name="Shape 10"/>
          <p:cNvSpPr/>
          <p:nvPr/>
        </p:nvSpPr>
        <p:spPr>
          <a:xfrm>
            <a:off x="2468880" y="2651760"/>
            <a:ext cx="1737360" cy="457200"/>
          </a:xfrm>
          <a:prstGeom prst="roundRect">
            <a:avLst>
              <a:gd name="adj" fmla="val 16000"/>
            </a:avLst>
          </a:prstGeom>
          <a:solidFill>
            <a:srgbClr val="4A6FA5"/>
          </a:solidFill>
          <a:ln w="12700">
            <a:solidFill>
              <a:srgbClr val="4A6FA5"/>
            </a:solidFill>
            <a:prstDash val="solid"/>
          </a:ln>
        </p:spPr>
      </p:sp>
      <p:sp>
        <p:nvSpPr>
          <p:cNvPr id="13" name="Text 11"/>
          <p:cNvSpPr txBox="1"/>
          <p:nvPr/>
        </p:nvSpPr>
        <p:spPr>
          <a:xfrm>
            <a:off x="2468880" y="2651760"/>
            <a:ext cx="1737360" cy="457200"/>
          </a:xfrm>
          <a:prstGeom prst="rect">
            <a:avLst/>
          </a:prstGeom>
          <a:noFill/>
          <a:ln/>
        </p:spPr>
        <p:txBody>
          <a:bodyPr wrap="square" lIns="635" tIns="635" rIns="635" bIns="635"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Redis + exporter</a:t>
            </a:r>
            <a:endParaRPr lang="en-US" sz="1200" dirty="0"/>
          </a:p>
        </p:txBody>
      </p:sp>
      <p:sp>
        <p:nvSpPr>
          <p:cNvPr id="14" name="Shape 12"/>
          <p:cNvSpPr/>
          <p:nvPr/>
        </p:nvSpPr>
        <p:spPr>
          <a:xfrm>
            <a:off x="2468880" y="3200400"/>
            <a:ext cx="1737360" cy="457200"/>
          </a:xfrm>
          <a:prstGeom prst="roundRect">
            <a:avLst>
              <a:gd name="adj" fmla="val 16000"/>
            </a:avLst>
          </a:prstGeom>
          <a:solidFill>
            <a:srgbClr val="4A6FA5"/>
          </a:solidFill>
          <a:ln w="12700">
            <a:solidFill>
              <a:srgbClr val="4A6FA5"/>
            </a:solidFill>
            <a:prstDash val="solid"/>
          </a:ln>
        </p:spPr>
      </p:sp>
      <p:sp>
        <p:nvSpPr>
          <p:cNvPr id="15" name="Text 13"/>
          <p:cNvSpPr txBox="1"/>
          <p:nvPr/>
        </p:nvSpPr>
        <p:spPr>
          <a:xfrm>
            <a:off x="2468880" y="3200400"/>
            <a:ext cx="1737360" cy="457200"/>
          </a:xfrm>
          <a:prstGeom prst="rect">
            <a:avLst/>
          </a:prstGeom>
          <a:noFill/>
          <a:ln/>
        </p:spPr>
        <p:txBody>
          <a:bodyPr wrap="square" lIns="635" tIns="635" rIns="635" bIns="635"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Node Exporter</a:t>
            </a:r>
            <a:endParaRPr lang="en-US" sz="1200" dirty="0"/>
          </a:p>
        </p:txBody>
      </p:sp>
      <p:sp>
        <p:nvSpPr>
          <p:cNvPr id="16" name="Shape 14"/>
          <p:cNvSpPr/>
          <p:nvPr/>
        </p:nvSpPr>
        <p:spPr>
          <a:xfrm>
            <a:off x="2468880" y="3749040"/>
            <a:ext cx="1737360" cy="457200"/>
          </a:xfrm>
          <a:prstGeom prst="roundRect">
            <a:avLst>
              <a:gd name="adj" fmla="val 16000"/>
            </a:avLst>
          </a:prstGeom>
          <a:solidFill>
            <a:srgbClr val="4A6FA5"/>
          </a:solidFill>
          <a:ln w="12700">
            <a:solidFill>
              <a:srgbClr val="4A6FA5"/>
            </a:solidFill>
            <a:prstDash val="solid"/>
          </a:ln>
        </p:spPr>
      </p:sp>
      <p:sp>
        <p:nvSpPr>
          <p:cNvPr id="17" name="Text 15"/>
          <p:cNvSpPr txBox="1"/>
          <p:nvPr/>
        </p:nvSpPr>
        <p:spPr>
          <a:xfrm>
            <a:off x="2468880" y="3749040"/>
            <a:ext cx="1737360" cy="457200"/>
          </a:xfrm>
          <a:prstGeom prst="rect">
            <a:avLst/>
          </a:prstGeom>
          <a:noFill/>
          <a:ln/>
        </p:spPr>
        <p:txBody>
          <a:bodyPr wrap="square" lIns="635" tIns="635" rIns="635" bIns="635"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Blackbox · Pushgateway</a:t>
            </a:r>
            <a:endParaRPr lang="en-US" sz="1000" dirty="0"/>
          </a:p>
        </p:txBody>
      </p:sp>
      <p:sp>
        <p:nvSpPr>
          <p:cNvPr id="18" name="Shape 16"/>
          <p:cNvSpPr/>
          <p:nvPr/>
        </p:nvSpPr>
        <p:spPr>
          <a:xfrm>
            <a:off x="4846320" y="2103120"/>
            <a:ext cx="1737360" cy="914400"/>
          </a:xfrm>
          <a:prstGeom prst="roundRect">
            <a:avLst>
              <a:gd name="adj" fmla="val 8000"/>
            </a:avLst>
          </a:prstGeom>
          <a:solidFill>
            <a:srgbClr val="F15A22"/>
          </a:solidFill>
          <a:ln w="12700">
            <a:solidFill>
              <a:srgbClr val="F15A22"/>
            </a:solidFill>
            <a:prstDash val="solid"/>
          </a:ln>
        </p:spPr>
      </p:sp>
      <p:sp>
        <p:nvSpPr>
          <p:cNvPr id="19" name="Text 17"/>
          <p:cNvSpPr txBox="1"/>
          <p:nvPr/>
        </p:nvSpPr>
        <p:spPr>
          <a:xfrm>
            <a:off x="4846320" y="2103120"/>
            <a:ext cx="1737360" cy="914400"/>
          </a:xfrm>
          <a:prstGeom prst="rect">
            <a:avLst/>
          </a:prstGeom>
          <a:noFill/>
          <a:ln/>
        </p:spPr>
        <p:txBody>
          <a:bodyPr wrap="square" lIns="635" tIns="635" rIns="635" bIns="635"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Prometheus</a:t>
            </a:r>
            <a:endParaRPr lang="en-US" sz="1500" dirty="0"/>
          </a:p>
        </p:txBody>
      </p:sp>
      <p:sp>
        <p:nvSpPr>
          <p:cNvPr id="20" name="Shape 18"/>
          <p:cNvSpPr/>
          <p:nvPr/>
        </p:nvSpPr>
        <p:spPr>
          <a:xfrm>
            <a:off x="7040880" y="1463040"/>
            <a:ext cx="1645920" cy="731520"/>
          </a:xfrm>
          <a:prstGeom prst="roundRect">
            <a:avLst>
              <a:gd name="adj" fmla="val 10000"/>
            </a:avLst>
          </a:prstGeom>
          <a:solidFill>
            <a:srgbClr val="0F2A4A"/>
          </a:solidFill>
          <a:ln w="12700">
            <a:solidFill>
              <a:srgbClr val="0F2A4A"/>
            </a:solidFill>
            <a:prstDash val="solid"/>
          </a:ln>
        </p:spPr>
      </p:sp>
      <p:sp>
        <p:nvSpPr>
          <p:cNvPr id="21" name="Text 19"/>
          <p:cNvSpPr txBox="1"/>
          <p:nvPr/>
        </p:nvSpPr>
        <p:spPr>
          <a:xfrm>
            <a:off x="7040880" y="1463040"/>
            <a:ext cx="1645920" cy="731520"/>
          </a:xfrm>
          <a:prstGeom prst="rect">
            <a:avLst/>
          </a:prstGeom>
          <a:noFill/>
          <a:ln/>
        </p:spPr>
        <p:txBody>
          <a:bodyPr wrap="square" lIns="635" tIns="635" rIns="635" bIns="635"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Grafana</a:t>
            </a:r>
            <a:endParaRPr lang="en-US" sz="1400" dirty="0"/>
          </a:p>
        </p:txBody>
      </p:sp>
      <p:sp>
        <p:nvSpPr>
          <p:cNvPr id="22" name="Shape 20"/>
          <p:cNvSpPr/>
          <p:nvPr/>
        </p:nvSpPr>
        <p:spPr>
          <a:xfrm>
            <a:off x="7040880" y="2651760"/>
            <a:ext cx="1645920" cy="731520"/>
          </a:xfrm>
          <a:prstGeom prst="roundRect">
            <a:avLst>
              <a:gd name="adj" fmla="val 10000"/>
            </a:avLst>
          </a:prstGeom>
          <a:solidFill>
            <a:srgbClr val="0F2A4A"/>
          </a:solidFill>
          <a:ln w="12700">
            <a:solidFill>
              <a:srgbClr val="0F2A4A"/>
            </a:solidFill>
            <a:prstDash val="solid"/>
          </a:ln>
        </p:spPr>
      </p:sp>
      <p:sp>
        <p:nvSpPr>
          <p:cNvPr id="23" name="Text 21"/>
          <p:cNvSpPr txBox="1"/>
          <p:nvPr/>
        </p:nvSpPr>
        <p:spPr>
          <a:xfrm>
            <a:off x="7040880" y="2651760"/>
            <a:ext cx="1645920" cy="731520"/>
          </a:xfrm>
          <a:prstGeom prst="rect">
            <a:avLst/>
          </a:prstGeom>
          <a:noFill/>
          <a:ln/>
        </p:spPr>
        <p:txBody>
          <a:bodyPr wrap="square" lIns="635" tIns="635" rIns="635" bIns="635"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Alertmanager</a:t>
            </a:r>
            <a:endParaRPr lang="en-US" sz="1300" dirty="0"/>
          </a:p>
        </p:txBody>
      </p:sp>
      <p:sp>
        <p:nvSpPr>
          <p:cNvPr id="24" name="Shape 22"/>
          <p:cNvSpPr/>
          <p:nvPr/>
        </p:nvSpPr>
        <p:spPr>
          <a:xfrm>
            <a:off x="7040880" y="3749040"/>
            <a:ext cx="1645920" cy="548640"/>
          </a:xfrm>
          <a:prstGeom prst="roundRect">
            <a:avLst>
              <a:gd name="adj" fmla="val 13333"/>
            </a:avLst>
          </a:prstGeom>
          <a:solidFill>
            <a:srgbClr val="6264A7"/>
          </a:solidFill>
          <a:ln w="12700">
            <a:solidFill>
              <a:srgbClr val="6264A7"/>
            </a:solidFill>
            <a:prstDash val="solid"/>
          </a:ln>
        </p:spPr>
      </p:sp>
      <p:sp>
        <p:nvSpPr>
          <p:cNvPr id="25" name="Text 23"/>
          <p:cNvSpPr txBox="1"/>
          <p:nvPr/>
        </p:nvSpPr>
        <p:spPr>
          <a:xfrm>
            <a:off x="7040880" y="3749040"/>
            <a:ext cx="1645920" cy="548640"/>
          </a:xfrm>
          <a:prstGeom prst="rect">
            <a:avLst/>
          </a:prstGeom>
          <a:noFill/>
          <a:ln/>
        </p:spPr>
        <p:txBody>
          <a:bodyPr wrap="square" lIns="635" tIns="635" rIns="635" bIns="635"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Inbox (Teams / Slack)</a:t>
            </a:r>
            <a:endParaRPr lang="en-US" sz="1000" dirty="0"/>
          </a:p>
        </p:txBody>
      </p:sp>
      <p:sp>
        <p:nvSpPr>
          <p:cNvPr id="26" name="Shape 24"/>
          <p:cNvSpPr/>
          <p:nvPr/>
        </p:nvSpPr>
        <p:spPr>
          <a:xfrm>
            <a:off x="2011680" y="1920240"/>
            <a:ext cx="457200" cy="-91440"/>
          </a:xfrm>
          <a:prstGeom prst="line">
            <a:avLst/>
          </a:prstGeom>
          <a:noFill/>
          <a:ln w="22225">
            <a:solidFill>
              <a:srgbClr val="5B6270"/>
            </a:solidFill>
            <a:prstDash val="solid"/>
            <a:tailEnd type="triangle"/>
          </a:ln>
        </p:spPr>
      </p:sp>
      <p:sp>
        <p:nvSpPr>
          <p:cNvPr id="27" name="Shape 25"/>
          <p:cNvSpPr/>
          <p:nvPr/>
        </p:nvSpPr>
        <p:spPr>
          <a:xfrm>
            <a:off x="4846320" y="2560320"/>
            <a:ext cx="-640080" cy="-868680"/>
          </a:xfrm>
          <a:prstGeom prst="line">
            <a:avLst/>
          </a:prstGeom>
          <a:noFill/>
          <a:ln w="22225">
            <a:solidFill>
              <a:srgbClr val="5B6270"/>
            </a:solidFill>
            <a:prstDash val="solid"/>
            <a:tailEnd type="triangle"/>
          </a:ln>
        </p:spPr>
      </p:sp>
      <p:sp>
        <p:nvSpPr>
          <p:cNvPr id="28" name="Shape 26"/>
          <p:cNvSpPr/>
          <p:nvPr/>
        </p:nvSpPr>
        <p:spPr>
          <a:xfrm>
            <a:off x="4846320" y="2606040"/>
            <a:ext cx="-640080" cy="-411480"/>
          </a:xfrm>
          <a:prstGeom prst="line">
            <a:avLst/>
          </a:prstGeom>
          <a:noFill/>
          <a:ln w="22225">
            <a:solidFill>
              <a:srgbClr val="5B6270"/>
            </a:solidFill>
            <a:prstDash val="solid"/>
            <a:tailEnd type="triangle"/>
          </a:ln>
        </p:spPr>
      </p:sp>
      <p:sp>
        <p:nvSpPr>
          <p:cNvPr id="29" name="Shape 27"/>
          <p:cNvSpPr/>
          <p:nvPr/>
        </p:nvSpPr>
        <p:spPr>
          <a:xfrm>
            <a:off x="4846320" y="2651760"/>
            <a:ext cx="-640080" cy="228600"/>
          </a:xfrm>
          <a:prstGeom prst="line">
            <a:avLst/>
          </a:prstGeom>
          <a:noFill/>
          <a:ln w="22225">
            <a:solidFill>
              <a:srgbClr val="5B6270"/>
            </a:solidFill>
            <a:prstDash val="solid"/>
            <a:tailEnd type="triangle"/>
          </a:ln>
        </p:spPr>
      </p:sp>
      <p:sp>
        <p:nvSpPr>
          <p:cNvPr id="30" name="Shape 28"/>
          <p:cNvSpPr/>
          <p:nvPr/>
        </p:nvSpPr>
        <p:spPr>
          <a:xfrm>
            <a:off x="4846320" y="2697480"/>
            <a:ext cx="-640080" cy="731520"/>
          </a:xfrm>
          <a:prstGeom prst="line">
            <a:avLst/>
          </a:prstGeom>
          <a:noFill/>
          <a:ln w="22225">
            <a:solidFill>
              <a:srgbClr val="5B6270"/>
            </a:solidFill>
            <a:prstDash val="solid"/>
            <a:tailEnd type="triangle"/>
          </a:ln>
        </p:spPr>
      </p:sp>
      <p:sp>
        <p:nvSpPr>
          <p:cNvPr id="31" name="Shape 29"/>
          <p:cNvSpPr/>
          <p:nvPr/>
        </p:nvSpPr>
        <p:spPr>
          <a:xfrm>
            <a:off x="4846320" y="2743200"/>
            <a:ext cx="-640080" cy="1234440"/>
          </a:xfrm>
          <a:prstGeom prst="line">
            <a:avLst/>
          </a:prstGeom>
          <a:noFill/>
          <a:ln w="22225">
            <a:solidFill>
              <a:srgbClr val="5B6270"/>
            </a:solidFill>
            <a:prstDash val="solid"/>
            <a:tailEnd type="triangle"/>
          </a:ln>
        </p:spPr>
      </p:sp>
      <p:sp>
        <p:nvSpPr>
          <p:cNvPr id="32" name="Shape 30"/>
          <p:cNvSpPr/>
          <p:nvPr/>
        </p:nvSpPr>
        <p:spPr>
          <a:xfrm>
            <a:off x="7040880" y="1828800"/>
            <a:ext cx="-457200" cy="548640"/>
          </a:xfrm>
          <a:prstGeom prst="line">
            <a:avLst/>
          </a:prstGeom>
          <a:noFill/>
          <a:ln w="22225">
            <a:solidFill>
              <a:srgbClr val="5B6270"/>
            </a:solidFill>
            <a:prstDash val="solid"/>
            <a:tailEnd type="triangle"/>
          </a:ln>
        </p:spPr>
      </p:sp>
      <p:sp>
        <p:nvSpPr>
          <p:cNvPr id="33" name="Shape 31"/>
          <p:cNvSpPr/>
          <p:nvPr/>
        </p:nvSpPr>
        <p:spPr>
          <a:xfrm>
            <a:off x="6583680" y="2743200"/>
            <a:ext cx="457200" cy="182880"/>
          </a:xfrm>
          <a:prstGeom prst="line">
            <a:avLst/>
          </a:prstGeom>
          <a:noFill/>
          <a:ln w="22225">
            <a:solidFill>
              <a:srgbClr val="5B6270"/>
            </a:solidFill>
            <a:prstDash val="solid"/>
            <a:tailEnd type="triangle"/>
          </a:ln>
        </p:spPr>
      </p:sp>
      <p:sp>
        <p:nvSpPr>
          <p:cNvPr id="34" name="Shape 32"/>
          <p:cNvSpPr/>
          <p:nvPr/>
        </p:nvSpPr>
        <p:spPr>
          <a:xfrm>
            <a:off x="7863840" y="3383280"/>
            <a:ext cx="0" cy="365760"/>
          </a:xfrm>
          <a:prstGeom prst="line">
            <a:avLst/>
          </a:prstGeom>
          <a:noFill/>
          <a:ln w="22225">
            <a:solidFill>
              <a:srgbClr val="5B6270"/>
            </a:solidFill>
            <a:prstDash val="solid"/>
            <a:tailEnd type="triangle"/>
          </a:ln>
        </p:spPr>
      </p:sp>
      <p:sp>
        <p:nvSpPr>
          <p:cNvPr id="35" name="Text 33"/>
          <p:cNvSpPr txBox="1"/>
          <p:nvPr/>
        </p:nvSpPr>
        <p:spPr>
          <a:xfrm>
            <a:off x="457200" y="4434840"/>
            <a:ext cx="8229600" cy="274320"/>
          </a:xfrm>
          <a:prstGeom prst="rect">
            <a:avLst/>
          </a:prstGeom>
          <a:noFill/>
          <a:ln/>
        </p:spPr>
        <p:txBody>
          <a:bodyPr wrap="square" lIns="0" tIns="0" rIns="0" bIns="0" rtlCol="0" anchor="ctr"/>
          <a:lstStyle/>
          <a:p>
            <a:pPr indent="0" marL="0">
              <a:buNone/>
            </a:pPr>
            <a:r>
              <a:rPr lang="en-US" sz="1100" dirty="0">
                <a:solidFill>
                  <a:srgbClr val="0F2A4A"/>
                </a:solidFill>
                <a:latin typeface="Courier New" pitchFamily="34" charset="0"/>
                <a:ea typeface="Courier New" pitchFamily="34" charset="-122"/>
                <a:cs typeface="Courier New" pitchFamily="34" charset="-120"/>
              </a:rPr>
              <a:t>lab.sh up · status · check · reload · test · chaos · traffic · batch · longterm · snapshot</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JOUR 1</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Voir</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Architecture et collecte : à 17h30, votre Prometheus collecte la machine, l'application et les services tiers.</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1</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Pourquoi l'observabilité</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Monitoring, observabilité, les trois signaux, pull contre push.</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9</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Les deux pilotes</a:t>
            </a:r>
            <a:endParaRPr lang="en-US" sz="2800" dirty="0"/>
          </a:p>
        </p:txBody>
      </p:sp>
      <p:sp>
        <p:nvSpPr>
          <p:cNvPr id="5" name="Shape 3"/>
          <p:cNvSpPr/>
          <p:nvPr/>
        </p:nvSpPr>
        <p:spPr>
          <a:xfrm>
            <a:off x="457200" y="1234440"/>
            <a:ext cx="3977640" cy="3429000"/>
          </a:xfrm>
          <a:prstGeom prst="roundRect">
            <a:avLst>
              <a:gd name="adj" fmla="val 2133"/>
            </a:avLst>
          </a:prstGeom>
          <a:solidFill>
            <a:srgbClr val="F4F5F7"/>
          </a:solidFill>
          <a:ln w="12700">
            <a:solidFill>
              <a:srgbClr val="F4F5F7"/>
            </a:solidFill>
            <a:prstDash val="solid"/>
          </a:ln>
        </p:spPr>
      </p:sp>
      <p:sp>
        <p:nvSpPr>
          <p:cNvPr id="6" name="Text 4"/>
          <p:cNvSpPr txBox="1"/>
          <p:nvPr/>
        </p:nvSpPr>
        <p:spPr>
          <a:xfrm>
            <a:off x="68580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Pilote A — monitoring</a:t>
            </a:r>
            <a:endParaRPr lang="en-US" sz="1700" dirty="0"/>
          </a:p>
        </p:txBody>
      </p:sp>
      <p:sp>
        <p:nvSpPr>
          <p:cNvPr id="7" name="Text 5"/>
          <p:cNvSpPr txBox="1"/>
          <p:nvPr/>
        </p:nvSpPr>
        <p:spPr>
          <a:xfrm>
            <a:off x="68580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Un voyant rouge « MOTEUR » s'allume</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Il sait que c'est grave</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Il ne sait pas pourquoi</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Il panique</a:t>
            </a:r>
            <a:endParaRPr lang="en-US" sz="1300" dirty="0"/>
          </a:p>
        </p:txBody>
      </p:sp>
      <p:sp>
        <p:nvSpPr>
          <p:cNvPr id="8" name="Shape 6"/>
          <p:cNvSpPr/>
          <p:nvPr/>
        </p:nvSpPr>
        <p:spPr>
          <a:xfrm>
            <a:off x="4709160" y="1234440"/>
            <a:ext cx="3977640" cy="3429000"/>
          </a:xfrm>
          <a:prstGeom prst="roundRect">
            <a:avLst>
              <a:gd name="adj" fmla="val 2133"/>
            </a:avLst>
          </a:prstGeom>
          <a:solidFill>
            <a:srgbClr val="0F2A4A"/>
          </a:solidFill>
          <a:ln w="12700">
            <a:solidFill>
              <a:srgbClr val="0F2A4A"/>
            </a:solidFill>
            <a:prstDash val="solid"/>
          </a:ln>
        </p:spPr>
      </p:sp>
      <p:sp>
        <p:nvSpPr>
          <p:cNvPr id="9" name="Text 7"/>
          <p:cNvSpPr txBox="1"/>
          <p:nvPr/>
        </p:nvSpPr>
        <p:spPr>
          <a:xfrm>
            <a:off x="4937760" y="1371600"/>
            <a:ext cx="3566160" cy="41148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Pilote B — observabilité</a:t>
            </a:r>
            <a:endParaRPr lang="en-US" sz="1700" dirty="0"/>
          </a:p>
        </p:txBody>
      </p:sp>
      <p:sp>
        <p:nvSpPr>
          <p:cNvPr id="10" name="Text 8"/>
          <p:cNvSpPr txBox="1"/>
          <p:nvPr/>
        </p:nvSpPr>
        <p:spPr>
          <a:xfrm>
            <a:off x="493776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Un écran : pression d'huile −40 %, vibration axe Z</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Il coupe le moteur concerné</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Il compense, il se pose</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Notre métier : fabriquer l'écran</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10</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Les trois signaux</a:t>
            </a:r>
            <a:endParaRPr lang="en-US" sz="2800" dirty="0"/>
          </a:p>
        </p:txBody>
      </p:sp>
      <p:sp>
        <p:nvSpPr>
          <p:cNvPr id="5" name="Shape 3"/>
          <p:cNvSpPr/>
          <p:nvPr/>
        </p:nvSpPr>
        <p:spPr>
          <a:xfrm>
            <a:off x="457200" y="1234440"/>
            <a:ext cx="2590800" cy="2468880"/>
          </a:xfrm>
          <a:prstGeom prst="roundRect">
            <a:avLst>
              <a:gd name="adj" fmla="val 2963"/>
            </a:avLst>
          </a:prstGeom>
          <a:solidFill>
            <a:srgbClr val="F4F5F7"/>
          </a:solidFill>
          <a:ln w="12700">
            <a:solidFill>
              <a:srgbClr val="F4F5F7"/>
            </a:solidFill>
            <a:prstDash val="solid"/>
          </a:ln>
        </p:spPr>
      </p:sp>
      <p:sp>
        <p:nvSpPr>
          <p:cNvPr id="6" name="Text 4"/>
          <p:cNvSpPr txBox="1"/>
          <p:nvPr/>
        </p:nvSpPr>
        <p:spPr>
          <a:xfrm>
            <a:off x="6400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Métriques</a:t>
            </a:r>
            <a:endParaRPr lang="en-US" sz="1600" dirty="0"/>
          </a:p>
        </p:txBody>
      </p:sp>
      <p:sp>
        <p:nvSpPr>
          <p:cNvPr id="7" name="Text 5"/>
          <p:cNvSpPr txBox="1"/>
          <p:nvPr/>
        </p:nvSpPr>
        <p:spPr>
          <a:xfrm>
            <a:off x="6400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Des nombres horodatés. Quelques octets par point, agrégeables, parfaites pour les tendances et les alertes. Notre sujet pendant trois jours.</a:t>
            </a:r>
            <a:endParaRPr lang="en-US" sz="1300" dirty="0"/>
          </a:p>
        </p:txBody>
      </p:sp>
      <p:sp>
        <p:nvSpPr>
          <p:cNvPr id="8" name="Shape 6"/>
          <p:cNvSpPr/>
          <p:nvPr/>
        </p:nvSpPr>
        <p:spPr>
          <a:xfrm>
            <a:off x="3276600" y="1234440"/>
            <a:ext cx="2590800" cy="2468880"/>
          </a:xfrm>
          <a:prstGeom prst="roundRect">
            <a:avLst>
              <a:gd name="adj" fmla="val 2963"/>
            </a:avLst>
          </a:prstGeom>
          <a:solidFill>
            <a:srgbClr val="F4F5F7"/>
          </a:solidFill>
          <a:ln w="12700">
            <a:solidFill>
              <a:srgbClr val="F4F5F7"/>
            </a:solidFill>
            <a:prstDash val="solid"/>
          </a:ln>
        </p:spPr>
      </p:sp>
      <p:sp>
        <p:nvSpPr>
          <p:cNvPr id="9" name="Text 7"/>
          <p:cNvSpPr txBox="1"/>
          <p:nvPr/>
        </p:nvSpPr>
        <p:spPr>
          <a:xfrm>
            <a:off x="34594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Logs</a:t>
            </a:r>
            <a:endParaRPr lang="en-US" sz="1600" dirty="0"/>
          </a:p>
        </p:txBody>
      </p:sp>
      <p:sp>
        <p:nvSpPr>
          <p:cNvPr id="10" name="Text 8"/>
          <p:cNvSpPr txBox="1"/>
          <p:nvPr/>
        </p:nvSpPr>
        <p:spPr>
          <a:xfrm>
            <a:off x="34594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Des événements textuels. Riches, mais chers à stocker et à chercher. Loki côté Grafana.</a:t>
            </a:r>
            <a:endParaRPr lang="en-US" sz="1300" dirty="0"/>
          </a:p>
        </p:txBody>
      </p:sp>
      <p:sp>
        <p:nvSpPr>
          <p:cNvPr id="11" name="Shape 9"/>
          <p:cNvSpPr/>
          <p:nvPr/>
        </p:nvSpPr>
        <p:spPr>
          <a:xfrm>
            <a:off x="6096000" y="1234440"/>
            <a:ext cx="2590800" cy="2468880"/>
          </a:xfrm>
          <a:prstGeom prst="roundRect">
            <a:avLst>
              <a:gd name="adj" fmla="val 2963"/>
            </a:avLst>
          </a:prstGeom>
          <a:solidFill>
            <a:srgbClr val="F4F5F7"/>
          </a:solidFill>
          <a:ln w="12700">
            <a:solidFill>
              <a:srgbClr val="F4F5F7"/>
            </a:solidFill>
            <a:prstDash val="solid"/>
          </a:ln>
        </p:spPr>
      </p:sp>
      <p:sp>
        <p:nvSpPr>
          <p:cNvPr id="12" name="Text 10"/>
          <p:cNvSpPr txBox="1"/>
          <p:nvPr/>
        </p:nvSpPr>
        <p:spPr>
          <a:xfrm>
            <a:off x="62788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Traces</a:t>
            </a:r>
            <a:endParaRPr lang="en-US" sz="1600" dirty="0"/>
          </a:p>
        </p:txBody>
      </p:sp>
      <p:sp>
        <p:nvSpPr>
          <p:cNvPr id="13" name="Text 11"/>
          <p:cNvSpPr txBox="1"/>
          <p:nvPr/>
        </p:nvSpPr>
        <p:spPr>
          <a:xfrm>
            <a:off x="62788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Le parcours d'une requête à travers les services. Indispensables en microservices. Tempo, OpenTelemetry.</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731520" y="1371600"/>
            <a:ext cx="7680960" cy="164592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Black Friday. Tous les voyants infra au vert.</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Chiffre d'affaires de la journée : zéro.</a:t>
            </a:r>
            <a:endParaRPr lang="en-US" sz="3400" dirty="0"/>
          </a:p>
        </p:txBody>
      </p:sp>
      <p:sp>
        <p:nvSpPr>
          <p:cNvPr id="3" name="Text 1"/>
          <p:cNvSpPr txBox="1"/>
          <p:nvPr/>
        </p:nvSpPr>
        <p:spPr>
          <a:xfrm>
            <a:off x="731520" y="3108960"/>
            <a:ext cx="7680960" cy="914400"/>
          </a:xfrm>
          <a:prstGeom prst="rect">
            <a:avLst/>
          </a:prstGeom>
          <a:noFill/>
          <a:ln/>
        </p:spPr>
        <p:txBody>
          <a:bodyPr wrap="square" lIns="0" tIns="0" rIns="0" bIns="0" rtlCol="0" anchor="ctr"/>
          <a:lstStyle/>
          <a:p>
            <a:pPr indent="0" marL="0">
              <a:buNone/>
            </a:pPr>
            <a:r>
              <a:rPr lang="en-US" sz="1800" dirty="0">
                <a:solidFill>
                  <a:srgbClr val="FFB48F"/>
                </a:solidFill>
                <a:latin typeface="Calibri" pitchFamily="34" charset="0"/>
                <a:ea typeface="Calibri" pitchFamily="34" charset="-122"/>
                <a:cs typeface="Calibri" pitchFamily="34" charset="-120"/>
              </a:rPr>
              <a:t>Un bug JavaScript sur le bouton « Payer ». Personne n'avait de métrique « commandes par minute ».</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12</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Pull contre push</a:t>
            </a:r>
            <a:endParaRPr lang="en-US" sz="2800" dirty="0"/>
          </a:p>
        </p:txBody>
      </p:sp>
      <p:sp>
        <p:nvSpPr>
          <p:cNvPr id="5" name="Shape 3"/>
          <p:cNvSpPr/>
          <p:nvPr/>
        </p:nvSpPr>
        <p:spPr>
          <a:xfrm>
            <a:off x="457200" y="1234440"/>
            <a:ext cx="3977640" cy="3429000"/>
          </a:xfrm>
          <a:prstGeom prst="roundRect">
            <a:avLst>
              <a:gd name="adj" fmla="val 2133"/>
            </a:avLst>
          </a:prstGeom>
          <a:solidFill>
            <a:srgbClr val="F4F5F7"/>
          </a:solidFill>
          <a:ln w="12700">
            <a:solidFill>
              <a:srgbClr val="F4F5F7"/>
            </a:solidFill>
            <a:prstDash val="solid"/>
          </a:ln>
        </p:spPr>
      </p:sp>
      <p:sp>
        <p:nvSpPr>
          <p:cNvPr id="6" name="Text 4"/>
          <p:cNvSpPr txBox="1"/>
          <p:nvPr/>
        </p:nvSpPr>
        <p:spPr>
          <a:xfrm>
            <a:off x="68580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Push — l'ancien monde</a:t>
            </a:r>
            <a:endParaRPr lang="en-US" sz="1700" dirty="0"/>
          </a:p>
        </p:txBody>
      </p:sp>
      <p:sp>
        <p:nvSpPr>
          <p:cNvPr id="7" name="Text 5"/>
          <p:cNvSpPr txBox="1"/>
          <p:nvPr/>
        </p:nvSpPr>
        <p:spPr>
          <a:xfrm>
            <a:off x="68580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Un agent envoie ses données au serveur</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Le livreur de pizza : mille serveurs en panne = mille livreurs qui sonnent en même temps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Le monitoring tombe quand on en a besoin</a:t>
            </a:r>
            <a:endParaRPr lang="en-US" sz="1300" dirty="0"/>
          </a:p>
        </p:txBody>
      </p:sp>
      <p:sp>
        <p:nvSpPr>
          <p:cNvPr id="8" name="Shape 6"/>
          <p:cNvSpPr/>
          <p:nvPr/>
        </p:nvSpPr>
        <p:spPr>
          <a:xfrm>
            <a:off x="4709160" y="1234440"/>
            <a:ext cx="3977640" cy="3429000"/>
          </a:xfrm>
          <a:prstGeom prst="roundRect">
            <a:avLst>
              <a:gd name="adj" fmla="val 2133"/>
            </a:avLst>
          </a:prstGeom>
          <a:solidFill>
            <a:srgbClr val="0F2A4A"/>
          </a:solidFill>
          <a:ln w="12700">
            <a:solidFill>
              <a:srgbClr val="0F2A4A"/>
            </a:solidFill>
            <a:prstDash val="solid"/>
          </a:ln>
        </p:spPr>
      </p:sp>
      <p:sp>
        <p:nvSpPr>
          <p:cNvPr id="9" name="Text 7"/>
          <p:cNvSpPr txBox="1"/>
          <p:nvPr/>
        </p:nvSpPr>
        <p:spPr>
          <a:xfrm>
            <a:off x="4937760" y="1371600"/>
            <a:ext cx="3566160" cy="41148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Pull — Prometheus</a:t>
            </a:r>
            <a:endParaRPr lang="en-US" sz="1700" dirty="0"/>
          </a:p>
        </p:txBody>
      </p:sp>
      <p:sp>
        <p:nvSpPr>
          <p:cNvPr id="10" name="Text 8"/>
          <p:cNvSpPr txBox="1"/>
          <p:nvPr/>
        </p:nvSpPr>
        <p:spPr>
          <a:xfrm>
            <a:off x="493776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Prometheus va chercher (scrape) les métriques en HTTP, à intervalle fixe</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Le buffet à volonté : il se sert à son rythme</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Une cible qui ne répond pas, c'est une information : up == 0</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Débogage au curl</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13</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Un peu d'histoire, vite</a:t>
            </a:r>
            <a:endParaRPr lang="en-US" sz="2800" dirty="0"/>
          </a:p>
        </p:txBody>
      </p:sp>
      <p:sp>
        <p:nvSpPr>
          <p:cNvPr id="5" name="Shape 3"/>
          <p:cNvSpPr/>
          <p:nvPr/>
        </p:nvSpPr>
        <p:spPr>
          <a:xfrm>
            <a:off x="457200" y="1234440"/>
            <a:ext cx="4000500" cy="1600200"/>
          </a:xfrm>
          <a:prstGeom prst="roundRect">
            <a:avLst>
              <a:gd name="adj" fmla="val 4571"/>
            </a:avLst>
          </a:prstGeom>
          <a:solidFill>
            <a:srgbClr val="F4F5F7"/>
          </a:solidFill>
          <a:ln w="12700">
            <a:solidFill>
              <a:srgbClr val="F4F5F7"/>
            </a:solidFill>
            <a:prstDash val="solid"/>
          </a:ln>
        </p:spPr>
      </p:sp>
      <p:sp>
        <p:nvSpPr>
          <p:cNvPr id="6" name="Text 4"/>
          <p:cNvSpPr txBox="1"/>
          <p:nvPr/>
        </p:nvSpPr>
        <p:spPr>
          <a:xfrm>
            <a:off x="6400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2012 — SoundCloud</a:t>
            </a:r>
            <a:endParaRPr lang="en-US" sz="1500" dirty="0"/>
          </a:p>
        </p:txBody>
      </p:sp>
      <p:sp>
        <p:nvSpPr>
          <p:cNvPr id="7" name="Text 5"/>
          <p:cNvSpPr txBox="1"/>
          <p:nvPr/>
        </p:nvSpPr>
        <p:spPr>
          <a:xfrm>
            <a:off x="6400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Inspiré de Borgmon (Google). Open source en 2015.</a:t>
            </a:r>
            <a:endParaRPr lang="en-US" sz="1200" dirty="0"/>
          </a:p>
        </p:txBody>
      </p:sp>
      <p:sp>
        <p:nvSpPr>
          <p:cNvPr id="8" name="Shape 6"/>
          <p:cNvSpPr/>
          <p:nvPr/>
        </p:nvSpPr>
        <p:spPr>
          <a:xfrm>
            <a:off x="4686300" y="1234440"/>
            <a:ext cx="4000500" cy="1600200"/>
          </a:xfrm>
          <a:prstGeom prst="roundRect">
            <a:avLst>
              <a:gd name="adj" fmla="val 4571"/>
            </a:avLst>
          </a:prstGeom>
          <a:solidFill>
            <a:srgbClr val="F4F5F7"/>
          </a:solidFill>
          <a:ln w="12700">
            <a:solidFill>
              <a:srgbClr val="F4F5F7"/>
            </a:solidFill>
            <a:prstDash val="solid"/>
          </a:ln>
        </p:spPr>
      </p:sp>
      <p:sp>
        <p:nvSpPr>
          <p:cNvPr id="9" name="Text 7"/>
          <p:cNvSpPr txBox="1"/>
          <p:nvPr/>
        </p:nvSpPr>
        <p:spPr>
          <a:xfrm>
            <a:off x="48691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2016 — CNCF</a:t>
            </a:r>
            <a:endParaRPr lang="en-US" sz="1500" dirty="0"/>
          </a:p>
        </p:txBody>
      </p:sp>
      <p:sp>
        <p:nvSpPr>
          <p:cNvPr id="10" name="Text 8"/>
          <p:cNvSpPr txBox="1"/>
          <p:nvPr/>
        </p:nvSpPr>
        <p:spPr>
          <a:xfrm>
            <a:off x="48691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Deuxième projet accueilli après Kubernetes. Gradué en 2018. Le standard de fait.</a:t>
            </a:r>
            <a:endParaRPr lang="en-US" sz="1200" dirty="0"/>
          </a:p>
        </p:txBody>
      </p:sp>
      <p:sp>
        <p:nvSpPr>
          <p:cNvPr id="11" name="Shape 9"/>
          <p:cNvSpPr/>
          <p:nvPr/>
        </p:nvSpPr>
        <p:spPr>
          <a:xfrm>
            <a:off x="457200" y="3063240"/>
            <a:ext cx="4000500" cy="1600200"/>
          </a:xfrm>
          <a:prstGeom prst="roundRect">
            <a:avLst>
              <a:gd name="adj" fmla="val 4571"/>
            </a:avLst>
          </a:prstGeom>
          <a:solidFill>
            <a:srgbClr val="F4F5F7"/>
          </a:solidFill>
          <a:ln w="12700">
            <a:solidFill>
              <a:srgbClr val="F4F5F7"/>
            </a:solidFill>
            <a:prstDash val="solid"/>
          </a:ln>
        </p:spPr>
      </p:sp>
      <p:sp>
        <p:nvSpPr>
          <p:cNvPr id="12" name="Text 10"/>
          <p:cNvSpPr txBox="1"/>
          <p:nvPr/>
        </p:nvSpPr>
        <p:spPr>
          <a:xfrm>
            <a:off x="6400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2024 — Prometheus 3</a:t>
            </a:r>
            <a:endParaRPr lang="en-US" sz="1500" dirty="0"/>
          </a:p>
        </p:txBody>
      </p:sp>
      <p:sp>
        <p:nvSpPr>
          <p:cNvPr id="13" name="Text 11"/>
          <p:cNvSpPr txBox="1"/>
          <p:nvPr/>
        </p:nvSpPr>
        <p:spPr>
          <a:xfrm>
            <a:off x="6400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UTF-8, OTLP natif, remote write 2.0, nouvelle interface. On travaille sur la 3.15 (sept. 2026).</a:t>
            </a:r>
            <a:endParaRPr lang="en-US" sz="1200" dirty="0"/>
          </a:p>
        </p:txBody>
      </p:sp>
      <p:sp>
        <p:nvSpPr>
          <p:cNvPr id="14" name="Shape 12"/>
          <p:cNvSpPr/>
          <p:nvPr/>
        </p:nvSpPr>
        <p:spPr>
          <a:xfrm>
            <a:off x="4686300" y="3063240"/>
            <a:ext cx="4000500" cy="1600200"/>
          </a:xfrm>
          <a:prstGeom prst="roundRect">
            <a:avLst>
              <a:gd name="adj" fmla="val 4571"/>
            </a:avLst>
          </a:prstGeom>
          <a:solidFill>
            <a:srgbClr val="F4F5F7"/>
          </a:solidFill>
          <a:ln w="12700">
            <a:solidFill>
              <a:srgbClr val="F4F5F7"/>
            </a:solidFill>
            <a:prstDash val="solid"/>
          </a:ln>
        </p:spPr>
      </p:sp>
      <p:sp>
        <p:nvSpPr>
          <p:cNvPr id="15" name="Text 13"/>
          <p:cNvSpPr txBox="1"/>
          <p:nvPr/>
        </p:nvSpPr>
        <p:spPr>
          <a:xfrm>
            <a:off x="48691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Grafana</a:t>
            </a:r>
            <a:endParaRPr lang="en-US" sz="1500" dirty="0"/>
          </a:p>
        </p:txBody>
      </p:sp>
      <p:sp>
        <p:nvSpPr>
          <p:cNvPr id="16" name="Text 14"/>
          <p:cNvSpPr txBox="1"/>
          <p:nvPr/>
        </p:nvSpPr>
        <p:spPr>
          <a:xfrm>
            <a:off x="48691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Né en 2014, fork de Kibana 3. N'importe quelle source, ne stocke rien. Version 13 depuis avril 2026, on utilise la 13.2.</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2</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Architecture de Prometheus</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Les composants, le modèle de données, les quatre types de métriques.</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15</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Les composants</a:t>
            </a:r>
            <a:endParaRPr lang="en-US" sz="2800" dirty="0"/>
          </a:p>
        </p:txBody>
      </p:sp>
      <p:sp>
        <p:nvSpPr>
          <p:cNvPr id="5" name="Text 3"/>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400" i="1" dirty="0">
                <a:solidFill>
                  <a:srgbClr val="5B6270"/>
                </a:solidFill>
                <a:latin typeface="Calibri" pitchFamily="34" charset="0"/>
                <a:ea typeface="Calibri" pitchFamily="34" charset="-122"/>
                <a:cs typeface="Calibri" pitchFamily="34" charset="-120"/>
              </a:rPr>
              <a:t>Un journaliste qui fait sa tournée toutes les 15 secondes, un rédacteur en chef, une maquette</a:t>
            </a:r>
            <a:endParaRPr lang="en-US" sz="1400" dirty="0"/>
          </a:p>
        </p:txBody>
      </p:sp>
      <p:sp>
        <p:nvSpPr>
          <p:cNvPr id="6" name="Shape 4"/>
          <p:cNvSpPr/>
          <p:nvPr/>
        </p:nvSpPr>
        <p:spPr>
          <a:xfrm>
            <a:off x="457200" y="2011680"/>
            <a:ext cx="1554480" cy="822960"/>
          </a:xfrm>
          <a:prstGeom prst="roundRect">
            <a:avLst>
              <a:gd name="adj" fmla="val 8889"/>
            </a:avLst>
          </a:prstGeom>
          <a:solidFill>
            <a:srgbClr val="4A6FA5"/>
          </a:solidFill>
          <a:ln w="12700">
            <a:solidFill>
              <a:srgbClr val="4A6FA5"/>
            </a:solidFill>
            <a:prstDash val="solid"/>
          </a:ln>
        </p:spPr>
      </p:sp>
      <p:sp>
        <p:nvSpPr>
          <p:cNvPr id="7" name="Text 5"/>
          <p:cNvSpPr txBox="1"/>
          <p:nvPr/>
        </p:nvSpPr>
        <p:spPr>
          <a:xfrm>
            <a:off x="457200" y="2011680"/>
            <a:ext cx="1554480" cy="822960"/>
          </a:xfrm>
          <a:prstGeom prst="rect">
            <a:avLst/>
          </a:prstGeom>
          <a:noFill/>
          <a:ln/>
        </p:spPr>
        <p:txBody>
          <a:bodyPr wrap="square" lIns="635" tIns="635" rIns="635" bIns="635"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Cibles</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/metrics</a:t>
            </a:r>
            <a:endParaRPr lang="en-US" sz="1200" dirty="0"/>
          </a:p>
        </p:txBody>
      </p:sp>
      <p:sp>
        <p:nvSpPr>
          <p:cNvPr id="8" name="Shape 6"/>
          <p:cNvSpPr/>
          <p:nvPr/>
        </p:nvSpPr>
        <p:spPr>
          <a:xfrm>
            <a:off x="457200" y="3108960"/>
            <a:ext cx="1554480" cy="640080"/>
          </a:xfrm>
          <a:prstGeom prst="roundRect">
            <a:avLst>
              <a:gd name="adj" fmla="val 11429"/>
            </a:avLst>
          </a:prstGeom>
          <a:solidFill>
            <a:srgbClr val="5B6270"/>
          </a:solidFill>
          <a:ln w="12700">
            <a:solidFill>
              <a:srgbClr val="5B6270"/>
            </a:solidFill>
            <a:prstDash val="solid"/>
          </a:ln>
        </p:spPr>
      </p:sp>
      <p:sp>
        <p:nvSpPr>
          <p:cNvPr id="9" name="Text 7"/>
          <p:cNvSpPr txBox="1"/>
          <p:nvPr/>
        </p:nvSpPr>
        <p:spPr>
          <a:xfrm>
            <a:off x="457200" y="3108960"/>
            <a:ext cx="1554480" cy="640080"/>
          </a:xfrm>
          <a:prstGeom prst="rect">
            <a:avLst/>
          </a:prstGeom>
          <a:noFill/>
          <a:ln/>
        </p:spPr>
        <p:txBody>
          <a:bodyPr wrap="square" lIns="635" tIns="635" rIns="635" bIns="635"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Service</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discovery</a:t>
            </a:r>
            <a:endParaRPr lang="en-US" sz="1100" dirty="0"/>
          </a:p>
        </p:txBody>
      </p:sp>
      <p:sp>
        <p:nvSpPr>
          <p:cNvPr id="10" name="Shape 8"/>
          <p:cNvSpPr/>
          <p:nvPr/>
        </p:nvSpPr>
        <p:spPr>
          <a:xfrm>
            <a:off x="2926080" y="1737360"/>
            <a:ext cx="2377440" cy="1463040"/>
          </a:xfrm>
          <a:prstGeom prst="roundRect">
            <a:avLst>
              <a:gd name="adj" fmla="val 5000"/>
            </a:avLst>
          </a:prstGeom>
          <a:solidFill>
            <a:srgbClr val="F15A22"/>
          </a:solidFill>
          <a:ln w="12700">
            <a:solidFill>
              <a:srgbClr val="F15A22"/>
            </a:solidFill>
            <a:prstDash val="solid"/>
          </a:ln>
        </p:spPr>
      </p:sp>
      <p:sp>
        <p:nvSpPr>
          <p:cNvPr id="11" name="Text 9"/>
          <p:cNvSpPr txBox="1"/>
          <p:nvPr/>
        </p:nvSpPr>
        <p:spPr>
          <a:xfrm>
            <a:off x="2926080" y="1737360"/>
            <a:ext cx="2377440" cy="1463040"/>
          </a:xfrm>
          <a:prstGeom prst="rect">
            <a:avLst/>
          </a:prstGeom>
          <a:noFill/>
          <a:ln/>
        </p:spPr>
        <p:txBody>
          <a:bodyPr wrap="square" lIns="635" tIns="635" rIns="635" bIns="635"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Prometheus</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scrape · TSDB · règles</a:t>
            </a:r>
            <a:endParaRPr lang="en-US" sz="1400" dirty="0"/>
          </a:p>
        </p:txBody>
      </p:sp>
      <p:sp>
        <p:nvSpPr>
          <p:cNvPr id="12" name="Shape 10"/>
          <p:cNvSpPr/>
          <p:nvPr/>
        </p:nvSpPr>
        <p:spPr>
          <a:xfrm>
            <a:off x="6309360" y="1554480"/>
            <a:ext cx="2194560" cy="731520"/>
          </a:xfrm>
          <a:prstGeom prst="roundRect">
            <a:avLst>
              <a:gd name="adj" fmla="val 10000"/>
            </a:avLst>
          </a:prstGeom>
          <a:solidFill>
            <a:srgbClr val="0F2A4A"/>
          </a:solidFill>
          <a:ln w="12700">
            <a:solidFill>
              <a:srgbClr val="0F2A4A"/>
            </a:solidFill>
            <a:prstDash val="solid"/>
          </a:ln>
        </p:spPr>
      </p:sp>
      <p:sp>
        <p:nvSpPr>
          <p:cNvPr id="13" name="Text 11"/>
          <p:cNvSpPr txBox="1"/>
          <p:nvPr/>
        </p:nvSpPr>
        <p:spPr>
          <a:xfrm>
            <a:off x="6309360" y="1554480"/>
            <a:ext cx="2194560" cy="731520"/>
          </a:xfrm>
          <a:prstGeom prst="rect">
            <a:avLst/>
          </a:prstGeom>
          <a:noFill/>
          <a:ln/>
        </p:spPr>
        <p:txBody>
          <a:bodyPr wrap="square" lIns="635" tIns="635" rIns="635" bIns="635"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Grafana</a:t>
            </a:r>
            <a:endParaRPr lang="en-US" sz="1400" dirty="0"/>
          </a:p>
        </p:txBody>
      </p:sp>
      <p:sp>
        <p:nvSpPr>
          <p:cNvPr id="14" name="Shape 12"/>
          <p:cNvSpPr/>
          <p:nvPr/>
        </p:nvSpPr>
        <p:spPr>
          <a:xfrm>
            <a:off x="6309360" y="2743200"/>
            <a:ext cx="2194560" cy="731520"/>
          </a:xfrm>
          <a:prstGeom prst="roundRect">
            <a:avLst>
              <a:gd name="adj" fmla="val 10000"/>
            </a:avLst>
          </a:prstGeom>
          <a:solidFill>
            <a:srgbClr val="0F2A4A"/>
          </a:solidFill>
          <a:ln w="12700">
            <a:solidFill>
              <a:srgbClr val="0F2A4A"/>
            </a:solidFill>
            <a:prstDash val="solid"/>
          </a:ln>
        </p:spPr>
      </p:sp>
      <p:sp>
        <p:nvSpPr>
          <p:cNvPr id="15" name="Text 13"/>
          <p:cNvSpPr txBox="1"/>
          <p:nvPr/>
        </p:nvSpPr>
        <p:spPr>
          <a:xfrm>
            <a:off x="6309360" y="2743200"/>
            <a:ext cx="2194560" cy="731520"/>
          </a:xfrm>
          <a:prstGeom prst="rect">
            <a:avLst/>
          </a:prstGeom>
          <a:noFill/>
          <a:ln/>
        </p:spPr>
        <p:txBody>
          <a:bodyPr wrap="square" lIns="635" tIns="635" rIns="635" bIns="635"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Alertmanager</a:t>
            </a:r>
            <a:endParaRPr lang="en-US" sz="1400" dirty="0"/>
          </a:p>
        </p:txBody>
      </p:sp>
      <p:sp>
        <p:nvSpPr>
          <p:cNvPr id="16" name="Shape 14"/>
          <p:cNvSpPr/>
          <p:nvPr/>
        </p:nvSpPr>
        <p:spPr>
          <a:xfrm>
            <a:off x="6309360" y="3749040"/>
            <a:ext cx="2194560" cy="548640"/>
          </a:xfrm>
          <a:prstGeom prst="roundRect">
            <a:avLst>
              <a:gd name="adj" fmla="val 13333"/>
            </a:avLst>
          </a:prstGeom>
          <a:solidFill>
            <a:srgbClr val="5B6270"/>
          </a:solidFill>
          <a:ln w="12700">
            <a:solidFill>
              <a:srgbClr val="5B6270"/>
            </a:solidFill>
            <a:prstDash val="solid"/>
          </a:ln>
        </p:spPr>
      </p:sp>
      <p:sp>
        <p:nvSpPr>
          <p:cNvPr id="17" name="Text 15"/>
          <p:cNvSpPr txBox="1"/>
          <p:nvPr/>
        </p:nvSpPr>
        <p:spPr>
          <a:xfrm>
            <a:off x="6309360" y="3749040"/>
            <a:ext cx="2194560" cy="548640"/>
          </a:xfrm>
          <a:prstGeom prst="rect">
            <a:avLst/>
          </a:prstGeom>
          <a:noFill/>
          <a:ln/>
        </p:spPr>
        <p:txBody>
          <a:bodyPr wrap="square" lIns="635" tIns="635" rIns="635" bIns="635"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Slack · Teams · PagerDuty</a:t>
            </a:r>
            <a:endParaRPr lang="en-US" sz="1100" dirty="0"/>
          </a:p>
        </p:txBody>
      </p:sp>
      <p:sp>
        <p:nvSpPr>
          <p:cNvPr id="18" name="Shape 16"/>
          <p:cNvSpPr/>
          <p:nvPr/>
        </p:nvSpPr>
        <p:spPr>
          <a:xfrm>
            <a:off x="2926080" y="2423160"/>
            <a:ext cx="-914400" cy="0"/>
          </a:xfrm>
          <a:prstGeom prst="line">
            <a:avLst/>
          </a:prstGeom>
          <a:noFill/>
          <a:ln w="22225">
            <a:solidFill>
              <a:srgbClr val="5B6270"/>
            </a:solidFill>
            <a:prstDash val="solid"/>
            <a:tailEnd type="triangle"/>
          </a:ln>
        </p:spPr>
      </p:sp>
      <p:sp>
        <p:nvSpPr>
          <p:cNvPr id="19" name="Shape 17"/>
          <p:cNvSpPr/>
          <p:nvPr/>
        </p:nvSpPr>
        <p:spPr>
          <a:xfrm>
            <a:off x="2011680" y="3429000"/>
            <a:ext cx="914400" cy="-502920"/>
          </a:xfrm>
          <a:prstGeom prst="line">
            <a:avLst/>
          </a:prstGeom>
          <a:noFill/>
          <a:ln w="22225">
            <a:solidFill>
              <a:srgbClr val="5B6270"/>
            </a:solidFill>
            <a:prstDash val="solid"/>
            <a:tailEnd type="triangle"/>
          </a:ln>
        </p:spPr>
      </p:sp>
      <p:sp>
        <p:nvSpPr>
          <p:cNvPr id="20" name="Shape 18"/>
          <p:cNvSpPr/>
          <p:nvPr/>
        </p:nvSpPr>
        <p:spPr>
          <a:xfrm>
            <a:off x="6309360" y="1920240"/>
            <a:ext cx="-1005840" cy="274320"/>
          </a:xfrm>
          <a:prstGeom prst="line">
            <a:avLst/>
          </a:prstGeom>
          <a:noFill/>
          <a:ln w="22225">
            <a:solidFill>
              <a:srgbClr val="5B6270"/>
            </a:solidFill>
            <a:prstDash val="solid"/>
            <a:tailEnd type="triangle"/>
          </a:ln>
        </p:spPr>
      </p:sp>
      <p:sp>
        <p:nvSpPr>
          <p:cNvPr id="21" name="Shape 19"/>
          <p:cNvSpPr/>
          <p:nvPr/>
        </p:nvSpPr>
        <p:spPr>
          <a:xfrm>
            <a:off x="5303520" y="2834640"/>
            <a:ext cx="1005840" cy="274320"/>
          </a:xfrm>
          <a:prstGeom prst="line">
            <a:avLst/>
          </a:prstGeom>
          <a:noFill/>
          <a:ln w="22225">
            <a:solidFill>
              <a:srgbClr val="5B6270"/>
            </a:solidFill>
            <a:prstDash val="solid"/>
            <a:tailEnd type="triangle"/>
          </a:ln>
        </p:spPr>
      </p:sp>
      <p:sp>
        <p:nvSpPr>
          <p:cNvPr id="22" name="Shape 20"/>
          <p:cNvSpPr/>
          <p:nvPr/>
        </p:nvSpPr>
        <p:spPr>
          <a:xfrm>
            <a:off x="7406640" y="3474720"/>
            <a:ext cx="0" cy="274320"/>
          </a:xfrm>
          <a:prstGeom prst="line">
            <a:avLst/>
          </a:prstGeom>
          <a:noFill/>
          <a:ln w="22225">
            <a:solidFill>
              <a:srgbClr val="5B6270"/>
            </a:solidFill>
            <a:prstDash val="solid"/>
            <a:tailEnd type="triangle"/>
          </a:ln>
        </p:spPr>
      </p:sp>
      <p:sp>
        <p:nvSpPr>
          <p:cNvPr id="23" name="Text 21"/>
          <p:cNvSpPr txBox="1"/>
          <p:nvPr/>
        </p:nvSpPr>
        <p:spPr>
          <a:xfrm>
            <a:off x="5394960" y="1691640"/>
            <a:ext cx="822960" cy="274320"/>
          </a:xfrm>
          <a:prstGeom prst="rect">
            <a:avLst/>
          </a:prstGeom>
          <a:noFill/>
          <a:ln/>
        </p:spPr>
        <p:txBody>
          <a:bodyPr wrap="square" lIns="0" tIns="0" rIns="0" bIns="0" rtlCol="0" anchor="ctr"/>
          <a:lstStyle/>
          <a:p>
            <a:pPr indent="0" marL="0">
              <a:buNone/>
            </a:pPr>
            <a:r>
              <a:rPr lang="en-US" sz="1000" dirty="0">
                <a:solidFill>
                  <a:srgbClr val="5B6270"/>
                </a:solidFill>
                <a:latin typeface="Calibri" pitchFamily="34" charset="0"/>
                <a:ea typeface="Calibri" pitchFamily="34" charset="-122"/>
                <a:cs typeface="Calibri" pitchFamily="34" charset="-120"/>
              </a:rPr>
              <a:t>PromQL</a:t>
            </a:r>
            <a:endParaRPr lang="en-US" sz="1000" dirty="0"/>
          </a:p>
        </p:txBody>
      </p:sp>
      <p:sp>
        <p:nvSpPr>
          <p:cNvPr id="24" name="Text 22"/>
          <p:cNvSpPr txBox="1"/>
          <p:nvPr/>
        </p:nvSpPr>
        <p:spPr>
          <a:xfrm>
            <a:off x="5394960" y="2971800"/>
            <a:ext cx="822960" cy="274320"/>
          </a:xfrm>
          <a:prstGeom prst="rect">
            <a:avLst/>
          </a:prstGeom>
          <a:noFill/>
          <a:ln/>
        </p:spPr>
        <p:txBody>
          <a:bodyPr wrap="square" lIns="0" tIns="0" rIns="0" bIns="0" rtlCol="0" anchor="ctr"/>
          <a:lstStyle/>
          <a:p>
            <a:pPr indent="0" marL="0">
              <a:buNone/>
            </a:pPr>
            <a:r>
              <a:rPr lang="en-US" sz="1000" dirty="0">
                <a:solidFill>
                  <a:srgbClr val="5B6270"/>
                </a:solidFill>
                <a:latin typeface="Calibri" pitchFamily="34" charset="0"/>
                <a:ea typeface="Calibri" pitchFamily="34" charset="-122"/>
                <a:cs typeface="Calibri" pitchFamily="34" charset="-120"/>
              </a:rPr>
              <a:t>alertes</a:t>
            </a:r>
            <a:endParaRPr lang="en-US" sz="1000" dirty="0"/>
          </a:p>
        </p:txBody>
      </p:sp>
      <p:sp>
        <p:nvSpPr>
          <p:cNvPr id="25" name="Text 23"/>
          <p:cNvSpPr txBox="1"/>
          <p:nvPr/>
        </p:nvSpPr>
        <p:spPr>
          <a:xfrm>
            <a:off x="2057400" y="1874520"/>
            <a:ext cx="868680" cy="457200"/>
          </a:xfrm>
          <a:prstGeom prst="rect">
            <a:avLst/>
          </a:prstGeom>
          <a:noFill/>
          <a:ln/>
        </p:spPr>
        <p:txBody>
          <a:bodyPr wrap="square" lIns="0" tIns="0" rIns="0" bIns="0" rtlCol="0" anchor="ctr"/>
          <a:lstStyle/>
          <a:p>
            <a:pPr indent="0" marL="0">
              <a:buNone/>
            </a:pPr>
            <a:r>
              <a:rPr lang="en-US" sz="900" dirty="0">
                <a:solidFill>
                  <a:srgbClr val="5B6270"/>
                </a:solidFill>
                <a:latin typeface="Calibri" pitchFamily="34" charset="0"/>
                <a:ea typeface="Calibri" pitchFamily="34" charset="-122"/>
                <a:cs typeface="Calibri" pitchFamily="34" charset="-120"/>
              </a:rPr>
              <a:t>pull HTTP</a:t>
            </a:r>
            <a:endParaRPr lang="en-US" sz="900" dirty="0"/>
          </a:p>
          <a:p>
            <a:pPr indent="0" marL="0">
              <a:buNone/>
            </a:pPr>
            <a:r>
              <a:rPr lang="en-US" sz="900" dirty="0">
                <a:solidFill>
                  <a:srgbClr val="5B6270"/>
                </a:solidFill>
                <a:latin typeface="Calibri" pitchFamily="34" charset="0"/>
                <a:ea typeface="Calibri" pitchFamily="34" charset="-122"/>
                <a:cs typeface="Calibri" pitchFamily="34" charset="-120"/>
              </a:rPr>
              <a:t>toutes les 15 s</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16</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 modèle de données</a:t>
            </a:r>
            <a:endParaRPr lang="en-US" sz="2800" dirty="0"/>
          </a:p>
        </p:txBody>
      </p:sp>
      <p:sp>
        <p:nvSpPr>
          <p:cNvPr id="5" name="Shape 3"/>
          <p:cNvSpPr/>
          <p:nvPr/>
        </p:nvSpPr>
        <p:spPr>
          <a:xfrm>
            <a:off x="457200" y="1234440"/>
            <a:ext cx="5943600" cy="3429000"/>
          </a:xfrm>
          <a:prstGeom prst="roundRect">
            <a:avLst>
              <a:gd name="adj" fmla="val 2133"/>
            </a:avLst>
          </a:prstGeom>
          <a:solidFill>
            <a:srgbClr val="1E2633"/>
          </a:solidFill>
          <a:ln w="12700">
            <a:solidFill>
              <a:srgbClr val="1E2633"/>
            </a:solidFill>
            <a:prstDash val="solid"/>
          </a:ln>
        </p:spPr>
      </p:sp>
      <p:sp>
        <p:nvSpPr>
          <p:cNvPr id="6" name="Text 4"/>
          <p:cNvSpPr txBox="1"/>
          <p:nvPr/>
        </p:nvSpPr>
        <p:spPr>
          <a:xfrm>
            <a:off x="640080" y="1371600"/>
            <a:ext cx="5577840" cy="315468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http_requests_total{method="GET", route="/api/products", status="200"} 51</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                                                   │</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métrique            labels (dimensions)                                valeur</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Une série = un nom + un jeu de labels.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Un échantillon = une valeur + un timestamp (ms).</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Labels réservés : job, instance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Internes : tout ce qui commence par __</a:t>
            </a:r>
            <a:endParaRPr lang="en-US" sz="1000" dirty="0"/>
          </a:p>
        </p:txBody>
      </p:sp>
      <p:sp>
        <p:nvSpPr>
          <p:cNvPr id="7" name="Text 5"/>
          <p:cNvSpPr txBox="1"/>
          <p:nvPr/>
        </p:nvSpPr>
        <p:spPr>
          <a:xfrm>
            <a:off x="6583680" y="1234440"/>
            <a:ext cx="2103120" cy="342900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Chaque combinaison de valeurs de labels crée une série distincte</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Puissant : on découpe par n'importe quelle dimension</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Dangereux : la cardinalité (module 6)</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17</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Les quatre types</a:t>
            </a:r>
            <a:endParaRPr lang="en-US" sz="2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280160"/>
                <a:gridCol w="2011680"/>
                <a:gridCol w="2194560"/>
                <a:gridCol w="274320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Type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Il fait quoi</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Exemples</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Ce qu'on en fait</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r>
              <a:tr h="45720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Counter</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Ne fait que monter</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requêtes, erreurs, commandes</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rate(), increase() — jamais brut</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5720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Gauge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Monte et descend</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mémoire, stock, connexions</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valeur brute, *_over_time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5720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Histogram</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Compte par tranches (buckets)</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latences, tailles</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histogram_quantile() → p95</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5720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Summary</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Quantiles côté client</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latences (ancienne école)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lecture directe, non agrégeable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18</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 format d'exposition : du texte, lisible</a:t>
            </a:r>
            <a:endParaRPr lang="en-US" sz="2800" dirty="0"/>
          </a:p>
        </p:txBody>
      </p:sp>
      <p:sp>
        <p:nvSpPr>
          <p:cNvPr id="5" name="Shape 3"/>
          <p:cNvSpPr/>
          <p:nvPr/>
        </p:nvSpPr>
        <p:spPr>
          <a:xfrm>
            <a:off x="457200" y="1234440"/>
            <a:ext cx="5943600" cy="3429000"/>
          </a:xfrm>
          <a:prstGeom prst="roundRect">
            <a:avLst>
              <a:gd name="adj" fmla="val 2133"/>
            </a:avLst>
          </a:prstGeom>
          <a:solidFill>
            <a:srgbClr val="1E2633"/>
          </a:solidFill>
          <a:ln w="12700">
            <a:solidFill>
              <a:srgbClr val="1E2633"/>
            </a:solidFill>
            <a:prstDash val="solid"/>
          </a:ln>
        </p:spPr>
      </p:sp>
      <p:sp>
        <p:nvSpPr>
          <p:cNvPr id="6" name="Text 4"/>
          <p:cNvSpPr txBox="1"/>
          <p:nvPr/>
        </p:nvSpPr>
        <p:spPr>
          <a:xfrm>
            <a:off x="640080" y="1371600"/>
            <a:ext cx="5577840" cy="315468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 HELP http_requests_total Nombre total de requêtes HTTP reçues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TYPE http_requests_total counter</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http_requests_total{method="GET",route="/api/products",status="200"} 51.0</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http_requests_total{method="POST",route="/api/checkout",status="201"} 17.0</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TYPE http_request_duration_seconds histogram</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http_request_duration_seconds_bucket{route="/api/checkout",le="0.1"} 12</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http_request_duration_seconds_bucket{route="/api/checkout",le="0.25"} 17</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http_request_duration_seconds_bucket{route="/api/checkout",le="+Inf"} 17</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http_request_duration_seconds_sum{route="/api/checkout"} 1.83</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http_request_duration_seconds_count{route="/api/checkout"} 17</a:t>
            </a:r>
            <a:endParaRPr lang="en-US" sz="1000" dirty="0"/>
          </a:p>
        </p:txBody>
      </p:sp>
      <p:sp>
        <p:nvSpPr>
          <p:cNvPr id="7" name="Text 5"/>
          <p:cNvSpPr txBox="1"/>
          <p:nvPr/>
        </p:nvSpPr>
        <p:spPr>
          <a:xfrm>
            <a:off x="6583680" y="1234440"/>
            <a:ext cx="2103120" cy="342900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HELP, TYPE, puis une ligne par série</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N'importe quel langage peut produire ça avec un printf</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Les buckets sont cumulatifs : le="0.25" compte tout ce qui est sous 250 ms</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19</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La TSDB en deux mots</a:t>
            </a:r>
            <a:endParaRPr lang="en-US" sz="2800" dirty="0"/>
          </a:p>
        </p:txBody>
      </p:sp>
      <p:sp>
        <p:nvSpPr>
          <p:cNvPr id="5" name="Shape 3"/>
          <p:cNvSpPr/>
          <p:nvPr/>
        </p:nvSpPr>
        <p:spPr>
          <a:xfrm>
            <a:off x="457200" y="1234440"/>
            <a:ext cx="2590800" cy="2468880"/>
          </a:xfrm>
          <a:prstGeom prst="roundRect">
            <a:avLst>
              <a:gd name="adj" fmla="val 2963"/>
            </a:avLst>
          </a:prstGeom>
          <a:solidFill>
            <a:srgbClr val="F4F5F7"/>
          </a:solidFill>
          <a:ln w="12700">
            <a:solidFill>
              <a:srgbClr val="F4F5F7"/>
            </a:solidFill>
            <a:prstDash val="solid"/>
          </a:ln>
        </p:spPr>
      </p:sp>
      <p:sp>
        <p:nvSpPr>
          <p:cNvPr id="6" name="Text 4"/>
          <p:cNvSpPr txBox="1"/>
          <p:nvPr/>
        </p:nvSpPr>
        <p:spPr>
          <a:xfrm>
            <a:off x="6400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Head (mémoire)</a:t>
            </a:r>
            <a:endParaRPr lang="en-US" sz="1600" dirty="0"/>
          </a:p>
        </p:txBody>
      </p:sp>
      <p:sp>
        <p:nvSpPr>
          <p:cNvPr id="7" name="Text 5"/>
          <p:cNvSpPr txBox="1"/>
          <p:nvPr/>
        </p:nvSpPr>
        <p:spPr>
          <a:xfrm>
            <a:off x="6400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Les échantillons arrivent dans un bloc en mémoire, journalisés dans le WAL pour survivre à un crash.</a:t>
            </a:r>
            <a:endParaRPr lang="en-US" sz="1300" dirty="0"/>
          </a:p>
        </p:txBody>
      </p:sp>
      <p:sp>
        <p:nvSpPr>
          <p:cNvPr id="8" name="Shape 6"/>
          <p:cNvSpPr/>
          <p:nvPr/>
        </p:nvSpPr>
        <p:spPr>
          <a:xfrm>
            <a:off x="3276600" y="1234440"/>
            <a:ext cx="2590800" cy="2468880"/>
          </a:xfrm>
          <a:prstGeom prst="roundRect">
            <a:avLst>
              <a:gd name="adj" fmla="val 2963"/>
            </a:avLst>
          </a:prstGeom>
          <a:solidFill>
            <a:srgbClr val="F4F5F7"/>
          </a:solidFill>
          <a:ln w="12700">
            <a:solidFill>
              <a:srgbClr val="F4F5F7"/>
            </a:solidFill>
            <a:prstDash val="solid"/>
          </a:ln>
        </p:spPr>
      </p:sp>
      <p:sp>
        <p:nvSpPr>
          <p:cNvPr id="9" name="Text 7"/>
          <p:cNvSpPr txBox="1"/>
          <p:nvPr/>
        </p:nvSpPr>
        <p:spPr>
          <a:xfrm>
            <a:off x="34594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Blocs (disque)</a:t>
            </a:r>
            <a:endParaRPr lang="en-US" sz="1600" dirty="0"/>
          </a:p>
        </p:txBody>
      </p:sp>
      <p:sp>
        <p:nvSpPr>
          <p:cNvPr id="10" name="Text 8"/>
          <p:cNvSpPr txBox="1"/>
          <p:nvPr/>
        </p:nvSpPr>
        <p:spPr>
          <a:xfrm>
            <a:off x="34594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Toutes les deux heures, un bloc immuable. Compression : 1 à 2 octets par échantillon. Rétention par défaut 15 jours.</a:t>
            </a:r>
            <a:endParaRPr lang="en-US" sz="1300" dirty="0"/>
          </a:p>
        </p:txBody>
      </p:sp>
      <p:sp>
        <p:nvSpPr>
          <p:cNvPr id="11" name="Shape 9"/>
          <p:cNvSpPr/>
          <p:nvPr/>
        </p:nvSpPr>
        <p:spPr>
          <a:xfrm>
            <a:off x="6096000" y="1234440"/>
            <a:ext cx="2590800" cy="2468880"/>
          </a:xfrm>
          <a:prstGeom prst="roundRect">
            <a:avLst>
              <a:gd name="adj" fmla="val 2963"/>
            </a:avLst>
          </a:prstGeom>
          <a:solidFill>
            <a:srgbClr val="F4F5F7"/>
          </a:solidFill>
          <a:ln w="12700">
            <a:solidFill>
              <a:srgbClr val="F4F5F7"/>
            </a:solidFill>
            <a:prstDash val="solid"/>
          </a:ln>
        </p:spPr>
      </p:sp>
      <p:sp>
        <p:nvSpPr>
          <p:cNvPr id="12" name="Text 10"/>
          <p:cNvSpPr txBox="1"/>
          <p:nvPr/>
        </p:nvSpPr>
        <p:spPr>
          <a:xfrm>
            <a:off x="62788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Grafana</a:t>
            </a:r>
            <a:endParaRPr lang="en-US" sz="1600" dirty="0"/>
          </a:p>
        </p:txBody>
      </p:sp>
      <p:sp>
        <p:nvSpPr>
          <p:cNvPr id="13" name="Text 11"/>
          <p:cNvSpPr txBox="1"/>
          <p:nvPr/>
        </p:nvSpPr>
        <p:spPr>
          <a:xfrm>
            <a:off x="62788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Ne voit jamais les cibles. Il interroge Prometheus en PromQL. « No data » ? On teste la requête dans Prometheus d'abord.</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3</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Installation et prise en main</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Comment on installe pour de vrai, et l'environnement du lab.</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21</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Cinq façons d'installer Prometheus</a:t>
            </a:r>
            <a:endParaRPr lang="en-US" sz="28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2103120"/>
                <a:gridCol w="2560320"/>
                <a:gridCol w="3566160"/>
              </a:tblGrid>
              <a:tr h="45720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Méthode</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Quand</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Note</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r>
              <a:tr h="457200">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Kubernetes + opérateur</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Le cas majoritaire en production</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kube-prometheus-stack, ServiceMonitor, PrometheusRule</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57200">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Conteneur Docker</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Labs, petits sites, notre cas</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prom/prometheus:v3.15.0 + un YAML monté</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57200">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Binaire</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Pour comprendre</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Un exécutable Go, un YAML, un dossier data/</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57200">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Paquet distribution</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À éviter</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Souvent plusieurs versions de retard</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57200">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Managé</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Quand on ne veut pas opérer</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Grafana Cloud, AMP, GMP, Mimir/Thanos/VictoriaMetrics</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22</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Les fichiers et dossiers qui comptent</a:t>
            </a:r>
            <a:endParaRPr lang="en-US" sz="2800" dirty="0"/>
          </a:p>
        </p:txBody>
      </p:sp>
      <p:sp>
        <p:nvSpPr>
          <p:cNvPr id="5" name="Shape 3"/>
          <p:cNvSpPr/>
          <p:nvPr/>
        </p:nvSpPr>
        <p:spPr>
          <a:xfrm>
            <a:off x="457200" y="1234440"/>
            <a:ext cx="3977640" cy="3429000"/>
          </a:xfrm>
          <a:prstGeom prst="roundRect">
            <a:avLst>
              <a:gd name="adj" fmla="val 2133"/>
            </a:avLst>
          </a:prstGeom>
          <a:solidFill>
            <a:srgbClr val="F4F5F7"/>
          </a:solidFill>
          <a:ln w="12700">
            <a:solidFill>
              <a:srgbClr val="F4F5F7"/>
            </a:solidFill>
            <a:prstDash val="solid"/>
          </a:ln>
        </p:spPr>
      </p:sp>
      <p:sp>
        <p:nvSpPr>
          <p:cNvPr id="6" name="Text 4"/>
          <p:cNvSpPr txBox="1"/>
          <p:nvPr/>
        </p:nvSpPr>
        <p:spPr>
          <a:xfrm>
            <a:off x="68580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Prometheus</a:t>
            </a:r>
            <a:endParaRPr lang="en-US" sz="1700" dirty="0"/>
          </a:p>
        </p:txBody>
      </p:sp>
      <p:sp>
        <p:nvSpPr>
          <p:cNvPr id="7" name="Text 5"/>
          <p:cNvSpPr txBox="1"/>
          <p:nvPr/>
        </p:nvSpPr>
        <p:spPr>
          <a:xfrm>
            <a:off x="68580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prometheus.yml : la configuration</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--storage.tsdb.path (data/) : la base</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--storage.tsdb.retention.time (15d)</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--web.enable-lifecycle : reload par HTTP</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Port 9090, pas d'authentification</a:t>
            </a:r>
            <a:endParaRPr lang="en-US" sz="1300" dirty="0"/>
          </a:p>
        </p:txBody>
      </p:sp>
      <p:sp>
        <p:nvSpPr>
          <p:cNvPr id="8" name="Shape 6"/>
          <p:cNvSpPr/>
          <p:nvPr/>
        </p:nvSpPr>
        <p:spPr>
          <a:xfrm>
            <a:off x="4709160" y="1234440"/>
            <a:ext cx="3977640" cy="3429000"/>
          </a:xfrm>
          <a:prstGeom prst="roundRect">
            <a:avLst>
              <a:gd name="adj" fmla="val 2133"/>
            </a:avLst>
          </a:prstGeom>
          <a:solidFill>
            <a:srgbClr val="F4F5F7"/>
          </a:solidFill>
          <a:ln w="12700">
            <a:solidFill>
              <a:srgbClr val="F4F5F7"/>
            </a:solidFill>
            <a:prstDash val="solid"/>
          </a:ln>
        </p:spPr>
      </p:sp>
      <p:sp>
        <p:nvSpPr>
          <p:cNvPr id="9" name="Text 7"/>
          <p:cNvSpPr txBox="1"/>
          <p:nvPr/>
        </p:nvSpPr>
        <p:spPr>
          <a:xfrm>
            <a:off x="493776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Grafana</a:t>
            </a:r>
            <a:endParaRPr lang="en-US" sz="1700" dirty="0"/>
          </a:p>
        </p:txBody>
      </p:sp>
      <p:sp>
        <p:nvSpPr>
          <p:cNvPr id="10" name="Text 8"/>
          <p:cNvSpPr txBox="1"/>
          <p:nvPr/>
        </p:nvSpPr>
        <p:spPr>
          <a:xfrm>
            <a:off x="493776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grafana.ini ou variables GF_SECTION_CLE</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/var/lib/grafana : grafana.db (SQLite), plugins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/etc/grafana/provisioning : datasources, dashboards, alerting en YAML</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Port 3000, compte admin</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23</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Exercices 1.1 à 1.4 — prise en main (40 min)</a:t>
            </a:r>
            <a:endParaRPr lang="en-US" sz="2800" dirty="0"/>
          </a:p>
        </p:txBody>
      </p:sp>
      <p:sp>
        <p:nvSpPr>
          <p:cNvPr id="5" name="Shape 3"/>
          <p:cNvSpPr/>
          <p:nvPr/>
        </p:nvSpPr>
        <p:spPr>
          <a:xfrm>
            <a:off x="457200" y="1280160"/>
            <a:ext cx="384048" cy="384048"/>
          </a:xfrm>
          <a:prstGeom prst="ellipse">
            <a:avLst/>
          </a:prstGeom>
          <a:solidFill>
            <a:srgbClr val="F15A22"/>
          </a:solidFill>
          <a:ln w="12700">
            <a:solidFill>
              <a:srgbClr val="F15A22"/>
            </a:solidFill>
            <a:prstDash val="solid"/>
          </a:ln>
        </p:spPr>
      </p:sp>
      <p:sp>
        <p:nvSpPr>
          <p:cNvPr id="6" name="Text 4"/>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1.1</a:t>
            </a:r>
            <a:endParaRPr lang="en-US" sz="950" dirty="0"/>
          </a:p>
        </p:txBody>
      </p:sp>
      <p:sp>
        <p:nvSpPr>
          <p:cNvPr id="7" name="Text 5"/>
          <p:cNvSpPr txBox="1"/>
          <p:nvPr/>
        </p:nvSpPr>
        <p:spPr>
          <a:xfrm>
            <a:off x="960120" y="1234440"/>
            <a:ext cx="3520440" cy="548640"/>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Démarrer la stack, vérifier les conteneurs, compter les cibles UP</a:t>
            </a:r>
            <a:endParaRPr lang="en-US" sz="1200" dirty="0"/>
          </a:p>
        </p:txBody>
      </p:sp>
      <p:sp>
        <p:nvSpPr>
          <p:cNvPr id="8" name="Shape 6"/>
          <p:cNvSpPr/>
          <p:nvPr/>
        </p:nvSpPr>
        <p:spPr>
          <a:xfrm>
            <a:off x="457200" y="1938528"/>
            <a:ext cx="384048" cy="384048"/>
          </a:xfrm>
          <a:prstGeom prst="ellipse">
            <a:avLst/>
          </a:prstGeom>
          <a:solidFill>
            <a:srgbClr val="F15A22"/>
          </a:solidFill>
          <a:ln w="12700">
            <a:solidFill>
              <a:srgbClr val="F15A22"/>
            </a:solidFill>
            <a:prstDash val="solid"/>
          </a:ln>
        </p:spPr>
      </p:sp>
      <p:sp>
        <p:nvSpPr>
          <p:cNvPr id="9" name="Text 7"/>
          <p:cNvSpPr txBox="1"/>
          <p:nvPr/>
        </p:nvSpPr>
        <p:spPr>
          <a:xfrm>
            <a:off x="457200" y="1938528"/>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1.2</a:t>
            </a:r>
            <a:endParaRPr lang="en-US" sz="950" dirty="0"/>
          </a:p>
        </p:txBody>
      </p:sp>
      <p:sp>
        <p:nvSpPr>
          <p:cNvPr id="10" name="Text 8"/>
          <p:cNvSpPr txBox="1"/>
          <p:nvPr/>
        </p:nvSpPr>
        <p:spPr>
          <a:xfrm>
            <a:off x="960120" y="1892808"/>
            <a:ext cx="3520440" cy="548640"/>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Lire /metrics : un exemple de chaque type, les buckets, la version</a:t>
            </a:r>
            <a:endParaRPr lang="en-US" sz="1200" dirty="0"/>
          </a:p>
        </p:txBody>
      </p:sp>
      <p:sp>
        <p:nvSpPr>
          <p:cNvPr id="11" name="Shape 9"/>
          <p:cNvSpPr/>
          <p:nvPr/>
        </p:nvSpPr>
        <p:spPr>
          <a:xfrm>
            <a:off x="4663440" y="1280160"/>
            <a:ext cx="384048" cy="384048"/>
          </a:xfrm>
          <a:prstGeom prst="ellipse">
            <a:avLst/>
          </a:prstGeom>
          <a:solidFill>
            <a:srgbClr val="F15A22"/>
          </a:solidFill>
          <a:ln w="12700">
            <a:solidFill>
              <a:srgbClr val="F15A22"/>
            </a:solidFill>
            <a:prstDash val="solid"/>
          </a:ln>
        </p:spPr>
      </p:sp>
      <p:sp>
        <p:nvSpPr>
          <p:cNvPr id="12" name="Text 10"/>
          <p:cNvSpPr txBox="1"/>
          <p:nvPr/>
        </p:nvSpPr>
        <p:spPr>
          <a:xfrm>
            <a:off x="4663440" y="12801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1.3</a:t>
            </a:r>
            <a:endParaRPr lang="en-US" sz="950" dirty="0"/>
          </a:p>
        </p:txBody>
      </p:sp>
      <p:sp>
        <p:nvSpPr>
          <p:cNvPr id="13" name="Text 11"/>
          <p:cNvSpPr txBox="1"/>
          <p:nvPr/>
        </p:nvSpPr>
        <p:spPr>
          <a:xfrm>
            <a:off x="5166360" y="1234440"/>
            <a:ext cx="3520440" cy="548640"/>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L'interface : configuration, version, TSDB status, première requête</a:t>
            </a:r>
            <a:endParaRPr lang="en-US" sz="1200" dirty="0"/>
          </a:p>
        </p:txBody>
      </p:sp>
      <p:sp>
        <p:nvSpPr>
          <p:cNvPr id="14" name="Shape 12"/>
          <p:cNvSpPr/>
          <p:nvPr/>
        </p:nvSpPr>
        <p:spPr>
          <a:xfrm>
            <a:off x="4663440" y="1938528"/>
            <a:ext cx="384048" cy="384048"/>
          </a:xfrm>
          <a:prstGeom prst="ellipse">
            <a:avLst/>
          </a:prstGeom>
          <a:solidFill>
            <a:srgbClr val="F15A22"/>
          </a:solidFill>
          <a:ln w="12700">
            <a:solidFill>
              <a:srgbClr val="F15A22"/>
            </a:solidFill>
            <a:prstDash val="solid"/>
          </a:ln>
        </p:spPr>
      </p:sp>
      <p:sp>
        <p:nvSpPr>
          <p:cNvPr id="15" name="Text 13"/>
          <p:cNvSpPr txBox="1"/>
          <p:nvPr/>
        </p:nvSpPr>
        <p:spPr>
          <a:xfrm>
            <a:off x="4663440" y="1938528"/>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1.4</a:t>
            </a:r>
            <a:endParaRPr lang="en-US" sz="950" dirty="0"/>
          </a:p>
        </p:txBody>
      </p:sp>
      <p:sp>
        <p:nvSpPr>
          <p:cNvPr id="16" name="Text 14"/>
          <p:cNvSpPr txBox="1"/>
          <p:nvPr/>
        </p:nvSpPr>
        <p:spPr>
          <a:xfrm>
            <a:off x="5166360" y="1892808"/>
            <a:ext cx="3520440" cy="548640"/>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Filtrer : par instance, par code d'erreur (regex), par méthode et route</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4</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Configuration de Prometheus</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Lire et modifier prometheus.yml en sécurité.</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25</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Anatomie de prometheus.yml</a:t>
            </a:r>
            <a:endParaRPr lang="en-US" sz="2800" dirty="0"/>
          </a:p>
        </p:txBody>
      </p:sp>
      <p:sp>
        <p:nvSpPr>
          <p:cNvPr id="5" name="Shape 3"/>
          <p:cNvSpPr/>
          <p:nvPr/>
        </p:nvSpPr>
        <p:spPr>
          <a:xfrm>
            <a:off x="457200" y="1234440"/>
            <a:ext cx="5943600" cy="3429000"/>
          </a:xfrm>
          <a:prstGeom prst="roundRect">
            <a:avLst>
              <a:gd name="adj" fmla="val 2133"/>
            </a:avLst>
          </a:prstGeom>
          <a:solidFill>
            <a:srgbClr val="1E2633"/>
          </a:solidFill>
          <a:ln w="12700">
            <a:solidFill>
              <a:srgbClr val="1E2633"/>
            </a:solidFill>
            <a:prstDash val="solid"/>
          </a:ln>
        </p:spPr>
      </p:sp>
      <p:sp>
        <p:nvSpPr>
          <p:cNvPr id="6" name="Text 4"/>
          <p:cNvSpPr txBox="1"/>
          <p:nvPr/>
        </p:nvSpPr>
        <p:spPr>
          <a:xfrm>
            <a:off x="640080" y="1371600"/>
            <a:ext cx="5577840" cy="315468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global:</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scrape_interval: 15s        # le pouls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evaluation_interval: 15s    # rythme des règles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external_labels: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cluster: formation</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rule_files: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 rules/*.yml</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alerting:</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alertmanagers: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 static_configs: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 targets: ["alertmanager:9093"]</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scrape_configs: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 job_name: shop-api</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static_configs: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 targets: ["shop-api-1:5000", "shop-api-2:5000"]</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labels: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env: formation</a:t>
            </a:r>
            <a:endParaRPr lang="en-US" sz="1000" dirty="0"/>
          </a:p>
        </p:txBody>
      </p:sp>
      <p:sp>
        <p:nvSpPr>
          <p:cNvPr id="7" name="Text 5"/>
          <p:cNvSpPr txBox="1"/>
          <p:nvPr/>
        </p:nvSpPr>
        <p:spPr>
          <a:xfrm>
            <a:off x="6583680" y="1234440"/>
            <a:ext cx="2103120" cy="342900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Quatre blocs</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Un job = des cibles de même nature</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job et instance ajoutés automatiquement</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Fenêtre de rate() ≥ 4 × scrape_interval</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26</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Valider, recharger, découvrir</a:t>
            </a:r>
            <a:endParaRPr lang="en-US" sz="2800" dirty="0"/>
          </a:p>
        </p:txBody>
      </p:sp>
      <p:sp>
        <p:nvSpPr>
          <p:cNvPr id="5" name="Shape 3"/>
          <p:cNvSpPr/>
          <p:nvPr/>
        </p:nvSpPr>
        <p:spPr>
          <a:xfrm>
            <a:off x="457200" y="1234440"/>
            <a:ext cx="4000500" cy="1600200"/>
          </a:xfrm>
          <a:prstGeom prst="roundRect">
            <a:avLst>
              <a:gd name="adj" fmla="val 4571"/>
            </a:avLst>
          </a:prstGeom>
          <a:solidFill>
            <a:srgbClr val="F4F5F7"/>
          </a:solidFill>
          <a:ln w="12700">
            <a:solidFill>
              <a:srgbClr val="F4F5F7"/>
            </a:solidFill>
            <a:prstDash val="solid"/>
          </a:ln>
        </p:spPr>
      </p:sp>
      <p:sp>
        <p:nvSpPr>
          <p:cNvPr id="6" name="Text 4"/>
          <p:cNvSpPr txBox="1"/>
          <p:nvPr/>
        </p:nvSpPr>
        <p:spPr>
          <a:xfrm>
            <a:off x="6400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Valider avant</a:t>
            </a:r>
            <a:endParaRPr lang="en-US" sz="1500" dirty="0"/>
          </a:p>
        </p:txBody>
      </p:sp>
      <p:sp>
        <p:nvSpPr>
          <p:cNvPr id="7" name="Text 5"/>
          <p:cNvSpPr txBox="1"/>
          <p:nvPr/>
        </p:nvSpPr>
        <p:spPr>
          <a:xfrm>
            <a:off x="6400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promtool check config prometheus.yml. Le nginx -t de Prometheus. Dans le lab : ./lab.sh check.</a:t>
            </a:r>
            <a:endParaRPr lang="en-US" sz="1200" dirty="0"/>
          </a:p>
        </p:txBody>
      </p:sp>
      <p:sp>
        <p:nvSpPr>
          <p:cNvPr id="8" name="Shape 6"/>
          <p:cNvSpPr/>
          <p:nvPr/>
        </p:nvSpPr>
        <p:spPr>
          <a:xfrm>
            <a:off x="4686300" y="1234440"/>
            <a:ext cx="4000500" cy="1600200"/>
          </a:xfrm>
          <a:prstGeom prst="roundRect">
            <a:avLst>
              <a:gd name="adj" fmla="val 4571"/>
            </a:avLst>
          </a:prstGeom>
          <a:solidFill>
            <a:srgbClr val="F4F5F7"/>
          </a:solidFill>
          <a:ln w="12700">
            <a:solidFill>
              <a:srgbClr val="F4F5F7"/>
            </a:solidFill>
            <a:prstDash val="solid"/>
          </a:ln>
        </p:spPr>
      </p:sp>
      <p:sp>
        <p:nvSpPr>
          <p:cNvPr id="9" name="Text 7"/>
          <p:cNvSpPr txBox="1"/>
          <p:nvPr/>
        </p:nvSpPr>
        <p:spPr>
          <a:xfrm>
            <a:off x="48691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Recharger à chaud</a:t>
            </a:r>
            <a:endParaRPr lang="en-US" sz="1500" dirty="0"/>
          </a:p>
        </p:txBody>
      </p:sp>
      <p:sp>
        <p:nvSpPr>
          <p:cNvPr id="10" name="Text 8"/>
          <p:cNvSpPr txBox="1"/>
          <p:nvPr/>
        </p:nvSpPr>
        <p:spPr>
          <a:xfrm>
            <a:off x="48691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curl -X POST /-/reload. Fichier invalide ? L'ancienne config reste, prometheus_config_last_reload_successful passe à 0.</a:t>
            </a:r>
            <a:endParaRPr lang="en-US" sz="1200" dirty="0"/>
          </a:p>
        </p:txBody>
      </p:sp>
      <p:sp>
        <p:nvSpPr>
          <p:cNvPr id="11" name="Shape 9"/>
          <p:cNvSpPr/>
          <p:nvPr/>
        </p:nvSpPr>
        <p:spPr>
          <a:xfrm>
            <a:off x="457200" y="3063240"/>
            <a:ext cx="4000500" cy="1600200"/>
          </a:xfrm>
          <a:prstGeom prst="roundRect">
            <a:avLst>
              <a:gd name="adj" fmla="val 4571"/>
            </a:avLst>
          </a:prstGeom>
          <a:solidFill>
            <a:srgbClr val="F4F5F7"/>
          </a:solidFill>
          <a:ln w="12700">
            <a:solidFill>
              <a:srgbClr val="F4F5F7"/>
            </a:solidFill>
            <a:prstDash val="solid"/>
          </a:ln>
        </p:spPr>
      </p:sp>
      <p:sp>
        <p:nvSpPr>
          <p:cNvPr id="12" name="Text 10"/>
          <p:cNvSpPr txBox="1"/>
          <p:nvPr/>
        </p:nvSpPr>
        <p:spPr>
          <a:xfrm>
            <a:off x="6400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Service discovery</a:t>
            </a:r>
            <a:endParaRPr lang="en-US" sz="1500" dirty="0"/>
          </a:p>
        </p:txBody>
      </p:sp>
      <p:sp>
        <p:nvSpPr>
          <p:cNvPr id="13" name="Text 11"/>
          <p:cNvSpPr txBox="1"/>
          <p:nvPr/>
        </p:nvSpPr>
        <p:spPr>
          <a:xfrm>
            <a:off x="6400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Kubernetes, Consul, DNS, EC2/Azure/GCE, Docker… et file_sd : un fichier que n'importe quel script écrit, relu sans reload.</a:t>
            </a:r>
            <a:endParaRPr lang="en-US" sz="1200" dirty="0"/>
          </a:p>
        </p:txBody>
      </p:sp>
      <p:sp>
        <p:nvSpPr>
          <p:cNvPr id="14" name="Shape 12"/>
          <p:cNvSpPr/>
          <p:nvPr/>
        </p:nvSpPr>
        <p:spPr>
          <a:xfrm>
            <a:off x="4686300" y="3063240"/>
            <a:ext cx="4000500" cy="1600200"/>
          </a:xfrm>
          <a:prstGeom prst="roundRect">
            <a:avLst>
              <a:gd name="adj" fmla="val 4571"/>
            </a:avLst>
          </a:prstGeom>
          <a:solidFill>
            <a:srgbClr val="F4F5F7"/>
          </a:solidFill>
          <a:ln w="12700">
            <a:solidFill>
              <a:srgbClr val="F4F5F7"/>
            </a:solidFill>
            <a:prstDash val="solid"/>
          </a:ln>
        </p:spPr>
      </p:sp>
      <p:sp>
        <p:nvSpPr>
          <p:cNvPr id="15" name="Text 13"/>
          <p:cNvSpPr txBox="1"/>
          <p:nvPr/>
        </p:nvSpPr>
        <p:spPr>
          <a:xfrm>
            <a:off x="48691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Relabeling</a:t>
            </a:r>
            <a:endParaRPr lang="en-US" sz="1500" dirty="0"/>
          </a:p>
        </p:txBody>
      </p:sp>
      <p:sp>
        <p:nvSpPr>
          <p:cNvPr id="16" name="Text 14"/>
          <p:cNvSpPr txBox="1"/>
          <p:nvPr/>
        </p:nvSpPr>
        <p:spPr>
          <a:xfrm>
            <a:off x="48691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Le videur à l'entrée : relabel_configs avant le scrape (cibles), metric_relabel_configs après (séries). On jette avant que ça coûte.</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27</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Exercices 1.5 à 1.8 — configuration (40 min)</a:t>
            </a:r>
            <a:endParaRPr lang="en-US" sz="2800" dirty="0"/>
          </a:p>
        </p:txBody>
      </p:sp>
      <p:sp>
        <p:nvSpPr>
          <p:cNvPr id="5" name="Shape 3"/>
          <p:cNvSpPr/>
          <p:nvPr/>
        </p:nvSpPr>
        <p:spPr>
          <a:xfrm>
            <a:off x="457200" y="1280160"/>
            <a:ext cx="384048" cy="384048"/>
          </a:xfrm>
          <a:prstGeom prst="ellipse">
            <a:avLst/>
          </a:prstGeom>
          <a:solidFill>
            <a:srgbClr val="F15A22"/>
          </a:solidFill>
          <a:ln w="12700">
            <a:solidFill>
              <a:srgbClr val="F15A22"/>
            </a:solidFill>
            <a:prstDash val="solid"/>
          </a:ln>
        </p:spPr>
      </p:sp>
      <p:sp>
        <p:nvSpPr>
          <p:cNvPr id="6" name="Text 4"/>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1.5</a:t>
            </a:r>
            <a:endParaRPr lang="en-US" sz="950" dirty="0"/>
          </a:p>
        </p:txBody>
      </p:sp>
      <p:sp>
        <p:nvSpPr>
          <p:cNvPr id="7" name="Text 5"/>
          <p:cNvSpPr txBox="1"/>
          <p:nvPr/>
        </p:nvSpPr>
        <p:spPr>
          <a:xfrm>
            <a:off x="960120" y="1234440"/>
            <a:ext cx="3520440" cy="548640"/>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Passer shop-api à 5 s de scrape, vérifier, puis remettre 15 s</a:t>
            </a:r>
            <a:endParaRPr lang="en-US" sz="1200" dirty="0"/>
          </a:p>
        </p:txBody>
      </p:sp>
      <p:sp>
        <p:nvSpPr>
          <p:cNvPr id="8" name="Shape 6"/>
          <p:cNvSpPr/>
          <p:nvPr/>
        </p:nvSpPr>
        <p:spPr>
          <a:xfrm>
            <a:off x="457200" y="1938528"/>
            <a:ext cx="384048" cy="384048"/>
          </a:xfrm>
          <a:prstGeom prst="ellipse">
            <a:avLst/>
          </a:prstGeom>
          <a:solidFill>
            <a:srgbClr val="F15A22"/>
          </a:solidFill>
          <a:ln w="12700">
            <a:solidFill>
              <a:srgbClr val="F15A22"/>
            </a:solidFill>
            <a:prstDash val="solid"/>
          </a:ln>
        </p:spPr>
      </p:sp>
      <p:sp>
        <p:nvSpPr>
          <p:cNvPr id="9" name="Text 7"/>
          <p:cNvSpPr txBox="1"/>
          <p:nvPr/>
        </p:nvSpPr>
        <p:spPr>
          <a:xfrm>
            <a:off x="457200" y="1938528"/>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1.6</a:t>
            </a:r>
            <a:endParaRPr lang="en-US" sz="950" dirty="0"/>
          </a:p>
        </p:txBody>
      </p:sp>
      <p:sp>
        <p:nvSpPr>
          <p:cNvPr id="10" name="Text 8"/>
          <p:cNvSpPr txBox="1"/>
          <p:nvPr/>
        </p:nvSpPr>
        <p:spPr>
          <a:xfrm>
            <a:off x="960120" y="1892808"/>
            <a:ext cx="3520440" cy="548640"/>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Casser la config, recharger sans valider, observer la métrique</a:t>
            </a:r>
            <a:endParaRPr lang="en-US" sz="1200" dirty="0"/>
          </a:p>
        </p:txBody>
      </p:sp>
      <p:sp>
        <p:nvSpPr>
          <p:cNvPr id="11" name="Shape 9"/>
          <p:cNvSpPr/>
          <p:nvPr/>
        </p:nvSpPr>
        <p:spPr>
          <a:xfrm>
            <a:off x="4663440" y="1280160"/>
            <a:ext cx="384048" cy="384048"/>
          </a:xfrm>
          <a:prstGeom prst="ellipse">
            <a:avLst/>
          </a:prstGeom>
          <a:solidFill>
            <a:srgbClr val="F15A22"/>
          </a:solidFill>
          <a:ln w="12700">
            <a:solidFill>
              <a:srgbClr val="F15A22"/>
            </a:solidFill>
            <a:prstDash val="solid"/>
          </a:ln>
        </p:spPr>
      </p:sp>
      <p:sp>
        <p:nvSpPr>
          <p:cNvPr id="12" name="Text 10"/>
          <p:cNvSpPr txBox="1"/>
          <p:nvPr/>
        </p:nvSpPr>
        <p:spPr>
          <a:xfrm>
            <a:off x="4663440" y="12801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1.7</a:t>
            </a:r>
            <a:endParaRPr lang="en-US" sz="950" dirty="0"/>
          </a:p>
        </p:txBody>
      </p:sp>
      <p:sp>
        <p:nvSpPr>
          <p:cNvPr id="13" name="Text 11"/>
          <p:cNvSpPr txBox="1"/>
          <p:nvPr/>
        </p:nvSpPr>
        <p:spPr>
          <a:xfrm>
            <a:off x="5166360" y="1234440"/>
            <a:ext cx="3520440" cy="548640"/>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Ajouter l'Inbox par file_sd sans toucher à la liste des jobs</a:t>
            </a:r>
            <a:endParaRPr lang="en-US" sz="1200" dirty="0"/>
          </a:p>
        </p:txBody>
      </p:sp>
      <p:sp>
        <p:nvSpPr>
          <p:cNvPr id="14" name="Shape 12"/>
          <p:cNvSpPr/>
          <p:nvPr/>
        </p:nvSpPr>
        <p:spPr>
          <a:xfrm>
            <a:off x="4663440" y="1938528"/>
            <a:ext cx="384048" cy="384048"/>
          </a:xfrm>
          <a:prstGeom prst="ellipse">
            <a:avLst/>
          </a:prstGeom>
          <a:solidFill>
            <a:srgbClr val="F15A22"/>
          </a:solidFill>
          <a:ln w="12700">
            <a:solidFill>
              <a:srgbClr val="F15A22"/>
            </a:solidFill>
            <a:prstDash val="solid"/>
          </a:ln>
        </p:spPr>
      </p:sp>
      <p:sp>
        <p:nvSpPr>
          <p:cNvPr id="15" name="Text 13"/>
          <p:cNvSpPr txBox="1"/>
          <p:nvPr/>
        </p:nvSpPr>
        <p:spPr>
          <a:xfrm>
            <a:off x="4663440" y="1938528"/>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1.8</a:t>
            </a:r>
            <a:endParaRPr lang="en-US" sz="950" dirty="0"/>
          </a:p>
        </p:txBody>
      </p:sp>
      <p:sp>
        <p:nvSpPr>
          <p:cNvPr id="16" name="Text 14"/>
          <p:cNvSpPr txBox="1"/>
          <p:nvPr/>
        </p:nvSpPr>
        <p:spPr>
          <a:xfrm>
            <a:off x="5166360" y="1892808"/>
            <a:ext cx="3520440" cy="548640"/>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Bonus : jeter les métriques Go de l'exporter Redis (drop)</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5</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Les exporters</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L'adaptateur de prise universel.</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29</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Les incontournables</a:t>
            </a:r>
            <a:endParaRPr lang="en-US" sz="28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2926080"/>
                <a:gridCol w="3840480"/>
                <a:gridCol w="1463040"/>
              </a:tblGrid>
              <a:tr h="38404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Exporter</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Pour quoi</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Port</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r>
              <a:tr h="384048">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node_exporter / windows_exporter</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Linux, Windows : CPU, mémoire, disque, réseau</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9100 / 9182</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84048">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blackbox_exporter</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Sondes externes : HTTP, TCP, ICMP, DNS, TLS</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9115</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84048">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cAdvisor, kube-state-metrics</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Conteneurs, objets Kubernetes</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8080</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84048">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postgres, mysqld, redis, mongodb</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Bases de données</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9187, 9104, 9121, 9216</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84048">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snmp_exporter</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Équipements réseau</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9116</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84048">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pushgateway</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Pas un exporter : un relais pour les batchs</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9091</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30</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Node Exporter et le piège Docker</a:t>
            </a:r>
            <a:endParaRPr lang="en-US" sz="2800" dirty="0"/>
          </a:p>
        </p:txBody>
      </p:sp>
      <p:sp>
        <p:nvSpPr>
          <p:cNvPr id="5" name="Shape 3"/>
          <p:cNvSpPr/>
          <p:nvPr/>
        </p:nvSpPr>
        <p:spPr>
          <a:xfrm>
            <a:off x="457200" y="1234440"/>
            <a:ext cx="3977640" cy="3429000"/>
          </a:xfrm>
          <a:prstGeom prst="roundRect">
            <a:avLst>
              <a:gd name="adj" fmla="val 2133"/>
            </a:avLst>
          </a:prstGeom>
          <a:solidFill>
            <a:srgbClr val="F4F5F7"/>
          </a:solidFill>
          <a:ln w="12700">
            <a:solidFill>
              <a:srgbClr val="F4F5F7"/>
            </a:solidFill>
            <a:prstDash val="solid"/>
          </a:ln>
        </p:spPr>
      </p:sp>
      <p:sp>
        <p:nvSpPr>
          <p:cNvPr id="6" name="Text 4"/>
          <p:cNvSpPr txBox="1"/>
          <p:nvPr/>
        </p:nvSpPr>
        <p:spPr>
          <a:xfrm>
            <a:off x="68580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Node Exporter</a:t>
            </a:r>
            <a:endParaRPr lang="en-US" sz="1700" dirty="0"/>
          </a:p>
        </p:txBody>
      </p:sp>
      <p:sp>
        <p:nvSpPr>
          <p:cNvPr id="7" name="Text 5"/>
          <p:cNvSpPr txBox="1"/>
          <p:nvPr/>
        </p:nvSpPr>
        <p:spPr>
          <a:xfrm>
            <a:off x="68580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Une soixantaine de collectors, une trentaine actifs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--collector.x / --no-collector.x</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textfile : des fichiers .prom déposés par n'importe quel script</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La Pushgateway du pauvre, souvent préférable</a:t>
            </a:r>
            <a:endParaRPr lang="en-US" sz="1300" dirty="0"/>
          </a:p>
        </p:txBody>
      </p:sp>
      <p:sp>
        <p:nvSpPr>
          <p:cNvPr id="8" name="Shape 6"/>
          <p:cNvSpPr/>
          <p:nvPr/>
        </p:nvSpPr>
        <p:spPr>
          <a:xfrm>
            <a:off x="4709160" y="1234440"/>
            <a:ext cx="3977640" cy="3429000"/>
          </a:xfrm>
          <a:prstGeom prst="roundRect">
            <a:avLst>
              <a:gd name="adj" fmla="val 2133"/>
            </a:avLst>
          </a:prstGeom>
          <a:solidFill>
            <a:srgbClr val="0F2A4A"/>
          </a:solidFill>
          <a:ln w="12700">
            <a:solidFill>
              <a:srgbClr val="0F2A4A"/>
            </a:solidFill>
            <a:prstDash val="solid"/>
          </a:ln>
        </p:spPr>
      </p:sp>
      <p:sp>
        <p:nvSpPr>
          <p:cNvPr id="9" name="Text 7"/>
          <p:cNvSpPr txBox="1"/>
          <p:nvPr/>
        </p:nvSpPr>
        <p:spPr>
          <a:xfrm>
            <a:off x="4937760" y="1371600"/>
            <a:ext cx="3566160" cy="41148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Le piège Docker</a:t>
            </a:r>
            <a:endParaRPr lang="en-US" sz="1700" dirty="0"/>
          </a:p>
        </p:txBody>
      </p:sp>
      <p:sp>
        <p:nvSpPr>
          <p:cNvPr id="10" name="Text 8"/>
          <p:cNvSpPr txBox="1"/>
          <p:nvPr/>
        </p:nvSpPr>
        <p:spPr>
          <a:xfrm>
            <a:off x="493776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Dans un conteneur nu, il voit le conteneur : 1 CPU, quelques Mo, un overlay</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Monter /proc, /sys, / en lecture seule + --path.*</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Sur Docker Desktop, « l'hôte » est la VM Linux</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En prod Linux : binaire ou paquet sur l'hôte</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31</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Blackbox et Pushgateway</a:t>
            </a:r>
            <a:endParaRPr lang="en-US" sz="2800" dirty="0"/>
          </a:p>
        </p:txBody>
      </p:sp>
      <p:sp>
        <p:nvSpPr>
          <p:cNvPr id="5" name="Shape 3"/>
          <p:cNvSpPr/>
          <p:nvPr/>
        </p:nvSpPr>
        <p:spPr>
          <a:xfrm>
            <a:off x="457200" y="1234440"/>
            <a:ext cx="3977640" cy="3429000"/>
          </a:xfrm>
          <a:prstGeom prst="roundRect">
            <a:avLst>
              <a:gd name="adj" fmla="val 2133"/>
            </a:avLst>
          </a:prstGeom>
          <a:solidFill>
            <a:srgbClr val="F4F5F7"/>
          </a:solidFill>
          <a:ln w="12700">
            <a:solidFill>
              <a:srgbClr val="F4F5F7"/>
            </a:solidFill>
            <a:prstDash val="solid"/>
          </a:ln>
        </p:spPr>
      </p:sp>
      <p:sp>
        <p:nvSpPr>
          <p:cNvPr id="6" name="Text 4"/>
          <p:cNvSpPr txBox="1"/>
          <p:nvPr/>
        </p:nvSpPr>
        <p:spPr>
          <a:xfrm>
            <a:off x="68580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Blackbox Exporter</a:t>
            </a:r>
            <a:endParaRPr lang="en-US" sz="1700" dirty="0"/>
          </a:p>
        </p:txBody>
      </p:sp>
      <p:sp>
        <p:nvSpPr>
          <p:cNvPr id="7" name="Text 5"/>
          <p:cNvSpPr txBox="1"/>
          <p:nvPr/>
        </p:nvSpPr>
        <p:spPr>
          <a:xfrm>
            <a:off x="68580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Tous les autres disent « je vais bien » de l'intérieur</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Lui teste de l'extérieur, comme un client : 200 ? certificat ? port ouvert ?</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Prometheus l'appelle sur /probe?module=…&amp;target=…</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Le relabeling devient indispensable (TP 2)</a:t>
            </a:r>
            <a:endParaRPr lang="en-US" sz="1300" dirty="0"/>
          </a:p>
        </p:txBody>
      </p:sp>
      <p:sp>
        <p:nvSpPr>
          <p:cNvPr id="8" name="Shape 6"/>
          <p:cNvSpPr/>
          <p:nvPr/>
        </p:nvSpPr>
        <p:spPr>
          <a:xfrm>
            <a:off x="4709160" y="1234440"/>
            <a:ext cx="3977640" cy="3429000"/>
          </a:xfrm>
          <a:prstGeom prst="roundRect">
            <a:avLst>
              <a:gd name="adj" fmla="val 2133"/>
            </a:avLst>
          </a:prstGeom>
          <a:solidFill>
            <a:srgbClr val="F4F5F7"/>
          </a:solidFill>
          <a:ln w="12700">
            <a:solidFill>
              <a:srgbClr val="F4F5F7"/>
            </a:solidFill>
            <a:prstDash val="solid"/>
          </a:ln>
        </p:spPr>
      </p:sp>
      <p:sp>
        <p:nvSpPr>
          <p:cNvPr id="9" name="Text 7"/>
          <p:cNvSpPr txBox="1"/>
          <p:nvPr/>
        </p:nvSpPr>
        <p:spPr>
          <a:xfrm>
            <a:off x="493776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Pushgateway</a:t>
            </a:r>
            <a:endParaRPr lang="en-US" sz="1700" dirty="0"/>
          </a:p>
        </p:txBody>
      </p:sp>
      <p:sp>
        <p:nvSpPr>
          <p:cNvPr id="10" name="Text 8"/>
          <p:cNvSpPr txBox="1"/>
          <p:nvPr/>
        </p:nvSpPr>
        <p:spPr>
          <a:xfrm>
            <a:off x="493776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Pour les jobs trop courts pour être scrapés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Le batch pousse, la gateway garde, Prometheus scrape</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Pas de TTL : elle n'oublie jamais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Uniquement pour des batchs, jamais pour des services</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F2A4A"/>
        </a:solidFill>
      </p:bgPr>
    </p:bg>
    <p:spTree>
      <p:nvGrpSpPr>
        <p:cNvPr id="1" name=""/>
        <p:cNvGrpSpPr/>
        <p:nvPr/>
      </p:nvGrpSpPr>
      <p:grpSpPr>
        <a:xfrm>
          <a:off x="0" y="0"/>
          <a:ext cx="0" cy="0"/>
          <a:chOff x="0" y="0"/>
          <a:chExt cx="0" cy="0"/>
        </a:xfrm>
      </p:grpSpPr>
      <p:sp>
        <p:nvSpPr>
          <p:cNvPr id="2" name="Shape 0"/>
          <p:cNvSpPr/>
          <p:nvPr/>
        </p:nvSpPr>
        <p:spPr>
          <a:xfrm>
            <a:off x="457200" y="411480"/>
            <a:ext cx="1371600" cy="457200"/>
          </a:xfrm>
          <a:prstGeom prst="roundRect">
            <a:avLst>
              <a:gd name="adj" fmla="val 20000"/>
            </a:avLst>
          </a:prstGeom>
          <a:solidFill>
            <a:srgbClr val="F15A22"/>
          </a:solidFill>
          <a:ln w="12700">
            <a:solidFill>
              <a:srgbClr val="F15A22"/>
            </a:solidFill>
            <a:prstDash val="solid"/>
          </a:ln>
        </p:spPr>
      </p:sp>
      <p:sp>
        <p:nvSpPr>
          <p:cNvPr id="3" name="Text 1"/>
          <p:cNvSpPr txBox="1"/>
          <p:nvPr/>
        </p:nvSpPr>
        <p:spPr>
          <a:xfrm>
            <a:off x="457200" y="411480"/>
            <a:ext cx="13716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TP 1</a:t>
            </a:r>
            <a:endParaRPr lang="en-US" sz="1600" dirty="0"/>
          </a:p>
        </p:txBody>
      </p:sp>
      <p:sp>
        <p:nvSpPr>
          <p:cNvPr id="4" name="Text 2"/>
          <p:cNvSpPr txBox="1"/>
          <p:nvPr/>
        </p:nvSpPr>
        <p:spPr>
          <a:xfrm>
            <a:off x="2011680" y="365760"/>
            <a:ext cx="667512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Node Exporter : de la machine à Prometheus</a:t>
            </a:r>
            <a:endParaRPr lang="en-US" sz="2400" dirty="0"/>
          </a:p>
        </p:txBody>
      </p:sp>
      <p:sp>
        <p:nvSpPr>
          <p:cNvPr id="5" name="Text 3"/>
          <p:cNvSpPr txBox="1"/>
          <p:nvPr/>
        </p:nvSpPr>
        <p:spPr>
          <a:xfrm>
            <a:off x="457200" y="1097280"/>
            <a:ext cx="1828800" cy="274320"/>
          </a:xfrm>
          <a:prstGeom prst="rect">
            <a:avLst/>
          </a:prstGeom>
          <a:noFill/>
          <a:ln/>
        </p:spPr>
        <p:txBody>
          <a:bodyPr wrap="square" lIns="0" tIns="0" rIns="0" bIns="0" rtlCol="0" anchor="ctr"/>
          <a:lstStyle/>
          <a:p>
            <a:pPr indent="0" marL="0">
              <a:buNone/>
            </a:pPr>
            <a:r>
              <a:rPr lang="en-US" sz="1200" b="1" spc="300" kern="0" dirty="0">
                <a:solidFill>
                  <a:srgbClr val="FFB48F"/>
                </a:solidFill>
                <a:latin typeface="Calibri" pitchFamily="34" charset="0"/>
                <a:ea typeface="Calibri" pitchFamily="34" charset="-122"/>
                <a:cs typeface="Calibri" pitchFamily="34" charset="-120"/>
              </a:rPr>
              <a:t>Mission</a:t>
            </a:r>
            <a:endParaRPr lang="en-US" sz="1200" dirty="0"/>
          </a:p>
        </p:txBody>
      </p:sp>
      <p:sp>
        <p:nvSpPr>
          <p:cNvPr id="6" name="Text 4"/>
          <p:cNvSpPr txBox="1"/>
          <p:nvPr/>
        </p:nvSpPr>
        <p:spPr>
          <a:xfrm>
            <a:off x="457200" y="1371600"/>
            <a:ext cx="8229600" cy="868680"/>
          </a:xfrm>
          <a:prstGeom prst="rect">
            <a:avLst/>
          </a:prstGeom>
          <a:noFill/>
          <a:ln/>
        </p:spPr>
        <p:txBody>
          <a:bodyPr wrap="square" lIns="0" tIns="0" rIns="0" bIns="0" rtlCol="0" anchor="t"/>
          <a:lstStyle/>
          <a:p>
            <a:pPr indent="0" marL="0">
              <a:buNone/>
            </a:pPr>
            <a:r>
              <a:rPr lang="en-US" sz="1500" dirty="0">
                <a:solidFill>
                  <a:srgbClr val="DBE6F3"/>
                </a:solidFill>
                <a:latin typeface="Calibri" pitchFamily="34" charset="0"/>
                <a:ea typeface="Calibri" pitchFamily="34" charset="-122"/>
                <a:cs typeface="Calibri" pitchFamily="34" charset="-120"/>
              </a:rPr>
              <a:t>Vous venez de recevoir un serveur. Avant d'y déployer quoi que ce soit, vous voulez ses signes vitaux dans Prometheus, et pouvoir y ajouter vos propres indicateurs avec un simple script.</a:t>
            </a:r>
            <a:endParaRPr lang="en-US" sz="1500" dirty="0"/>
          </a:p>
        </p:txBody>
      </p:sp>
      <p:sp>
        <p:nvSpPr>
          <p:cNvPr id="7" name="Shape 5"/>
          <p:cNvSpPr/>
          <p:nvPr/>
        </p:nvSpPr>
        <p:spPr>
          <a:xfrm>
            <a:off x="457200" y="2377440"/>
            <a:ext cx="1499616" cy="2194560"/>
          </a:xfrm>
          <a:prstGeom prst="roundRect">
            <a:avLst>
              <a:gd name="adj" fmla="val 4878"/>
            </a:avLst>
          </a:prstGeom>
          <a:solidFill>
            <a:srgbClr val="163D6B"/>
          </a:solidFill>
          <a:ln w="12700">
            <a:solidFill>
              <a:srgbClr val="163D6B"/>
            </a:solidFill>
            <a:prstDash val="solid"/>
          </a:ln>
        </p:spPr>
      </p:sp>
      <p:sp>
        <p:nvSpPr>
          <p:cNvPr id="8" name="Shape 6"/>
          <p:cNvSpPr/>
          <p:nvPr/>
        </p:nvSpPr>
        <p:spPr>
          <a:xfrm>
            <a:off x="640080" y="2560320"/>
            <a:ext cx="347472" cy="347472"/>
          </a:xfrm>
          <a:prstGeom prst="ellipse">
            <a:avLst/>
          </a:prstGeom>
          <a:solidFill>
            <a:srgbClr val="F15A22"/>
          </a:solidFill>
          <a:ln w="12700">
            <a:solidFill>
              <a:srgbClr val="F15A22"/>
            </a:solidFill>
            <a:prstDash val="solid"/>
          </a:ln>
        </p:spPr>
      </p:sp>
      <p:sp>
        <p:nvSpPr>
          <p:cNvPr id="9" name="Text 7"/>
          <p:cNvSpPr txBox="1"/>
          <p:nvPr/>
        </p:nvSpPr>
        <p:spPr>
          <a:xfrm>
            <a:off x="64008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078992"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Brancher</a:t>
            </a:r>
            <a:endParaRPr lang="en-US" sz="1150" dirty="0"/>
          </a:p>
        </p:txBody>
      </p:sp>
      <p:sp>
        <p:nvSpPr>
          <p:cNvPr id="11" name="Text 9"/>
          <p:cNvSpPr txBox="1"/>
          <p:nvPr/>
        </p:nvSpPr>
        <p:spPr>
          <a:xfrm>
            <a:off x="640080"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Le job node dans prometheus.yml. Valider, recharger, node_uname_info.</a:t>
            </a:r>
            <a:endParaRPr lang="en-US" sz="1050" dirty="0"/>
          </a:p>
        </p:txBody>
      </p:sp>
      <p:sp>
        <p:nvSpPr>
          <p:cNvPr id="12" name="Shape 10"/>
          <p:cNvSpPr/>
          <p:nvPr/>
        </p:nvSpPr>
        <p:spPr>
          <a:xfrm>
            <a:off x="2139696" y="2377440"/>
            <a:ext cx="1499616" cy="2194560"/>
          </a:xfrm>
          <a:prstGeom prst="roundRect">
            <a:avLst>
              <a:gd name="adj" fmla="val 4878"/>
            </a:avLst>
          </a:prstGeom>
          <a:solidFill>
            <a:srgbClr val="163D6B"/>
          </a:solidFill>
          <a:ln w="12700">
            <a:solidFill>
              <a:srgbClr val="163D6B"/>
            </a:solidFill>
            <a:prstDash val="solid"/>
          </a:ln>
        </p:spPr>
      </p:sp>
      <p:sp>
        <p:nvSpPr>
          <p:cNvPr id="13" name="Shape 11"/>
          <p:cNvSpPr/>
          <p:nvPr/>
        </p:nvSpPr>
        <p:spPr>
          <a:xfrm>
            <a:off x="2322576" y="2560320"/>
            <a:ext cx="347472" cy="347472"/>
          </a:xfrm>
          <a:prstGeom prst="ellipse">
            <a:avLst/>
          </a:prstGeom>
          <a:solidFill>
            <a:srgbClr val="F15A22"/>
          </a:solidFill>
          <a:ln w="12700">
            <a:solidFill>
              <a:srgbClr val="F15A22"/>
            </a:solidFill>
            <a:prstDash val="solid"/>
          </a:ln>
        </p:spPr>
      </p:sp>
      <p:sp>
        <p:nvSpPr>
          <p:cNvPr id="14" name="Text 12"/>
          <p:cNvSpPr txBox="1"/>
          <p:nvPr/>
        </p:nvSpPr>
        <p:spPr>
          <a:xfrm>
            <a:off x="2322576"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2761488"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Indicateurs</a:t>
            </a:r>
            <a:endParaRPr lang="en-US" sz="1150" dirty="0"/>
          </a:p>
        </p:txBody>
      </p:sp>
      <p:sp>
        <p:nvSpPr>
          <p:cNvPr id="16" name="Text 14"/>
          <p:cNvSpPr txBox="1"/>
          <p:nvPr/>
        </p:nvSpPr>
        <p:spPr>
          <a:xfrm>
            <a:off x="2322576"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Uptime, mémoire %, disque %, charge, CPU % (la formule à comprendre). Chaos CPU.</a:t>
            </a:r>
            <a:endParaRPr lang="en-US" sz="1050" dirty="0"/>
          </a:p>
        </p:txBody>
      </p:sp>
      <p:sp>
        <p:nvSpPr>
          <p:cNvPr id="17" name="Shape 15"/>
          <p:cNvSpPr/>
          <p:nvPr/>
        </p:nvSpPr>
        <p:spPr>
          <a:xfrm>
            <a:off x="3822192" y="2377440"/>
            <a:ext cx="1499616" cy="2194560"/>
          </a:xfrm>
          <a:prstGeom prst="roundRect">
            <a:avLst>
              <a:gd name="adj" fmla="val 4878"/>
            </a:avLst>
          </a:prstGeom>
          <a:solidFill>
            <a:srgbClr val="163D6B"/>
          </a:solidFill>
          <a:ln w="12700">
            <a:solidFill>
              <a:srgbClr val="163D6B"/>
            </a:solidFill>
            <a:prstDash val="solid"/>
          </a:ln>
        </p:spPr>
      </p:sp>
      <p:sp>
        <p:nvSpPr>
          <p:cNvPr id="18" name="Shape 16"/>
          <p:cNvSpPr/>
          <p:nvPr/>
        </p:nvSpPr>
        <p:spPr>
          <a:xfrm>
            <a:off x="4005072" y="2560320"/>
            <a:ext cx="347472" cy="347472"/>
          </a:xfrm>
          <a:prstGeom prst="ellipse">
            <a:avLst/>
          </a:prstGeom>
          <a:solidFill>
            <a:srgbClr val="F15A22"/>
          </a:solidFill>
          <a:ln w="12700">
            <a:solidFill>
              <a:srgbClr val="F15A22"/>
            </a:solidFill>
            <a:prstDash val="solid"/>
          </a:ln>
        </p:spPr>
      </p:sp>
      <p:sp>
        <p:nvSpPr>
          <p:cNvPr id="19" name="Text 17"/>
          <p:cNvSpPr txBox="1"/>
          <p:nvPr/>
        </p:nvSpPr>
        <p:spPr>
          <a:xfrm>
            <a:off x="4005072"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4443984"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Collectors</a:t>
            </a:r>
            <a:endParaRPr lang="en-US" sz="1150" dirty="0"/>
          </a:p>
        </p:txBody>
      </p:sp>
      <p:sp>
        <p:nvSpPr>
          <p:cNvPr id="21" name="Text 19"/>
          <p:cNvSpPr txBox="1"/>
          <p:nvPr/>
        </p:nvSpPr>
        <p:spPr>
          <a:xfrm>
            <a:off x="4005072"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Activer processes, désactiver arp, dans docker-compose.yml.</a:t>
            </a:r>
            <a:endParaRPr lang="en-US" sz="1050" dirty="0"/>
          </a:p>
        </p:txBody>
      </p:sp>
      <p:sp>
        <p:nvSpPr>
          <p:cNvPr id="22" name="Shape 20"/>
          <p:cNvSpPr/>
          <p:nvPr/>
        </p:nvSpPr>
        <p:spPr>
          <a:xfrm>
            <a:off x="5504688" y="2377440"/>
            <a:ext cx="1499616" cy="2194560"/>
          </a:xfrm>
          <a:prstGeom prst="roundRect">
            <a:avLst>
              <a:gd name="adj" fmla="val 4878"/>
            </a:avLst>
          </a:prstGeom>
          <a:solidFill>
            <a:srgbClr val="163D6B"/>
          </a:solidFill>
          <a:ln w="12700">
            <a:solidFill>
              <a:srgbClr val="163D6B"/>
            </a:solidFill>
            <a:prstDash val="solid"/>
          </a:ln>
        </p:spPr>
      </p:sp>
      <p:sp>
        <p:nvSpPr>
          <p:cNvPr id="23" name="Shape 21"/>
          <p:cNvSpPr/>
          <p:nvPr/>
        </p:nvSpPr>
        <p:spPr>
          <a:xfrm>
            <a:off x="5687568" y="2560320"/>
            <a:ext cx="347472" cy="347472"/>
          </a:xfrm>
          <a:prstGeom prst="ellipse">
            <a:avLst/>
          </a:prstGeom>
          <a:solidFill>
            <a:srgbClr val="F15A22"/>
          </a:solidFill>
          <a:ln w="12700">
            <a:solidFill>
              <a:srgbClr val="F15A22"/>
            </a:solidFill>
            <a:prstDash val="solid"/>
          </a:ln>
        </p:spPr>
      </p:sp>
      <p:sp>
        <p:nvSpPr>
          <p:cNvPr id="24" name="Text 22"/>
          <p:cNvSpPr txBox="1"/>
          <p:nvPr/>
        </p:nvSpPr>
        <p:spPr>
          <a:xfrm>
            <a:off x="5687568"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6126480"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Textfile</a:t>
            </a:r>
            <a:endParaRPr lang="en-US" sz="1150" dirty="0"/>
          </a:p>
        </p:txBody>
      </p:sp>
      <p:sp>
        <p:nvSpPr>
          <p:cNvPr id="26" name="Text 24"/>
          <p:cNvSpPr txBox="1"/>
          <p:nvPr/>
        </p:nvSpPr>
        <p:spPr>
          <a:xfrm>
            <a:off x="5687568"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backup.prom déposé par un script : quand a tourné la dernière sauvegarde ?</a:t>
            </a:r>
            <a:endParaRPr lang="en-US" sz="1050" dirty="0"/>
          </a:p>
        </p:txBody>
      </p:sp>
      <p:sp>
        <p:nvSpPr>
          <p:cNvPr id="27" name="Shape 25"/>
          <p:cNvSpPr/>
          <p:nvPr/>
        </p:nvSpPr>
        <p:spPr>
          <a:xfrm>
            <a:off x="7187184" y="2377440"/>
            <a:ext cx="1499616" cy="2194560"/>
          </a:xfrm>
          <a:prstGeom prst="roundRect">
            <a:avLst>
              <a:gd name="adj" fmla="val 4878"/>
            </a:avLst>
          </a:prstGeom>
          <a:solidFill>
            <a:srgbClr val="163D6B"/>
          </a:solidFill>
          <a:ln w="12700">
            <a:solidFill>
              <a:srgbClr val="163D6B"/>
            </a:solidFill>
            <a:prstDash val="solid"/>
          </a:ln>
        </p:spPr>
      </p:sp>
      <p:sp>
        <p:nvSpPr>
          <p:cNvPr id="28" name="Shape 26"/>
          <p:cNvSpPr/>
          <p:nvPr/>
        </p:nvSpPr>
        <p:spPr>
          <a:xfrm>
            <a:off x="7370064" y="2560320"/>
            <a:ext cx="347472" cy="347472"/>
          </a:xfrm>
          <a:prstGeom prst="ellipse">
            <a:avLst/>
          </a:prstGeom>
          <a:solidFill>
            <a:srgbClr val="F15A22"/>
          </a:solidFill>
          <a:ln w="12700">
            <a:solidFill>
              <a:srgbClr val="F15A22"/>
            </a:solidFill>
            <a:prstDash val="solid"/>
          </a:ln>
        </p:spPr>
      </p:sp>
      <p:sp>
        <p:nvSpPr>
          <p:cNvPr id="29" name="Text 27"/>
          <p:cNvSpPr txBox="1"/>
          <p:nvPr/>
        </p:nvSpPr>
        <p:spPr>
          <a:xfrm>
            <a:off x="7370064"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0" name="Text 28"/>
          <p:cNvSpPr txBox="1"/>
          <p:nvPr/>
        </p:nvSpPr>
        <p:spPr>
          <a:xfrm>
            <a:off x="7808976"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Vue globale</a:t>
            </a:r>
            <a:endParaRPr lang="en-US" sz="1150" dirty="0"/>
          </a:p>
        </p:txBody>
      </p:sp>
      <p:sp>
        <p:nvSpPr>
          <p:cNvPr id="31" name="Text 29"/>
          <p:cNvSpPr txBox="1"/>
          <p:nvPr/>
        </p:nvSpPr>
        <p:spPr>
          <a:xfrm>
            <a:off x="7370064"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topk, réseau, Explore dans Grafana. Bonus : dashboard 1860.</a:t>
            </a:r>
            <a:endParaRPr lang="en-US" sz="1050" dirty="0"/>
          </a:p>
        </p:txBody>
      </p:sp>
      <p:sp>
        <p:nvSpPr>
          <p:cNvPr id="32" name="Text 30"/>
          <p:cNvSpPr txBox="1"/>
          <p:nvPr/>
        </p:nvSpPr>
        <p:spPr>
          <a:xfrm>
            <a:off x="457200" y="4709160"/>
            <a:ext cx="8229600" cy="274320"/>
          </a:xfrm>
          <a:prstGeom prst="rect">
            <a:avLst/>
          </a:prstGeom>
          <a:noFill/>
          <a:ln/>
        </p:spPr>
        <p:txBody>
          <a:bodyPr wrap="square" lIns="0" tIns="0" rIns="0" bIns="0" rtlCol="0" anchor="ctr"/>
          <a:lstStyle/>
          <a:p>
            <a:pPr indent="0" marL="0">
              <a:buNone/>
            </a:pPr>
            <a:r>
              <a:rPr lang="en-US" sz="1000" i="1" dirty="0">
                <a:solidFill>
                  <a:srgbClr val="8FA3BD"/>
                </a:solidFill>
                <a:latin typeface="Calibri" pitchFamily="34" charset="0"/>
                <a:ea typeface="Calibri" pitchFamily="34" charset="-122"/>
                <a:cs typeface="Calibri" pitchFamily="34" charset="-120"/>
              </a:rPr>
              <a:t>Énoncé complet dans le guide stagiaire · corrigé projeté après recherche</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6</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Instrumenter son application</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Whitebox : mettre les sondes à l'intérieur.</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34</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Une bibliothèque cliente, quatre objets</a:t>
            </a:r>
            <a:endParaRPr lang="en-US" sz="2800" dirty="0"/>
          </a:p>
        </p:txBody>
      </p:sp>
      <p:sp>
        <p:nvSpPr>
          <p:cNvPr id="5" name="Shape 3"/>
          <p:cNvSpPr/>
          <p:nvPr/>
        </p:nvSpPr>
        <p:spPr>
          <a:xfrm>
            <a:off x="457200" y="1234440"/>
            <a:ext cx="5943600" cy="3429000"/>
          </a:xfrm>
          <a:prstGeom prst="roundRect">
            <a:avLst>
              <a:gd name="adj" fmla="val 2133"/>
            </a:avLst>
          </a:prstGeom>
          <a:solidFill>
            <a:srgbClr val="1E2633"/>
          </a:solidFill>
          <a:ln w="12700">
            <a:solidFill>
              <a:srgbClr val="1E2633"/>
            </a:solidFill>
            <a:prstDash val="solid"/>
          </a:ln>
        </p:spPr>
      </p:sp>
      <p:sp>
        <p:nvSpPr>
          <p:cNvPr id="6" name="Text 4"/>
          <p:cNvSpPr txBox="1"/>
          <p:nvPr/>
        </p:nvSpPr>
        <p:spPr>
          <a:xfrm>
            <a:off x="640080" y="1371600"/>
            <a:ext cx="5577840" cy="315468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from prometheus_client import Counter, Gauge, Histogram</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HTTP_REQUESTS = Counter("http_requests_total", "Requêtes HTTP",</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["method", "route", "status"])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HTTP_DURATION = Histogram("http_request_duration_seconds", "Durée",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["route"], buckets=(0.005, 0.01, 0.025, 0.05,</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0.1, 0.25, 0.5, 1, 2.5, 5, 10))</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ORDERS = Counter("shop_orders_total", "Commandes", ["payment_method"])</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STOCK  = Gauge("shop_stock_units", "Stock", ["product"])</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HTTP_REQUESTS.labels("POST", "/api/checkout", "201").inc()</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HTTP_DURATION.labels(route="/api/checkout").observe(0.083)</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ORDERS.labels(payment_method="card").inc()</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STOCK.labels(product="clavier").set(84)</a:t>
            </a:r>
            <a:endParaRPr lang="en-US" sz="1000" dirty="0"/>
          </a:p>
        </p:txBody>
      </p:sp>
      <p:sp>
        <p:nvSpPr>
          <p:cNvPr id="7" name="Text 5"/>
          <p:cNvSpPr txBox="1"/>
          <p:nvPr/>
        </p:nvSpPr>
        <p:spPr>
          <a:xfrm>
            <a:off x="6583680" y="1234440"/>
            <a:ext cx="2103120" cy="342900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Go, Java/Micrometer, Python, Ruby, Rust officiels ; .NET, Node.js, PHP par la communauté</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Tout en mémoire dans le processus : d'où le compteur remis à zéro au redémarrage</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La bibliothèque expose /metrics toute seule</a:t>
            </a:r>
            <a:endParaRPr lang="en-US" sz="11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35</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Nommer, découper, ne pas se tuer</a:t>
            </a:r>
            <a:endParaRPr lang="en-US" sz="2800" dirty="0"/>
          </a:p>
        </p:txBody>
      </p:sp>
      <p:sp>
        <p:nvSpPr>
          <p:cNvPr id="5" name="Shape 3"/>
          <p:cNvSpPr/>
          <p:nvPr/>
        </p:nvSpPr>
        <p:spPr>
          <a:xfrm>
            <a:off x="457200" y="1234440"/>
            <a:ext cx="4000500" cy="1600200"/>
          </a:xfrm>
          <a:prstGeom prst="roundRect">
            <a:avLst>
              <a:gd name="adj" fmla="val 4571"/>
            </a:avLst>
          </a:prstGeom>
          <a:solidFill>
            <a:srgbClr val="F4F5F7"/>
          </a:solidFill>
          <a:ln w="12700">
            <a:solidFill>
              <a:srgbClr val="F4F5F7"/>
            </a:solidFill>
            <a:prstDash val="solid"/>
          </a:ln>
        </p:spPr>
      </p:sp>
      <p:sp>
        <p:nvSpPr>
          <p:cNvPr id="6" name="Text 4"/>
          <p:cNvSpPr txBox="1"/>
          <p:nvPr/>
        </p:nvSpPr>
        <p:spPr>
          <a:xfrm>
            <a:off x="6400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Nommage</a:t>
            </a:r>
            <a:endParaRPr lang="en-US" sz="1500" dirty="0"/>
          </a:p>
        </p:txBody>
      </p:sp>
      <p:sp>
        <p:nvSpPr>
          <p:cNvPr id="7" name="Text 5"/>
          <p:cNvSpPr txBox="1"/>
          <p:nvPr/>
        </p:nvSpPr>
        <p:spPr>
          <a:xfrm>
            <a:off x="6400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snake_case, préfixe du domaine (http_, shop_), unité de base en suffixe (_seconds, _bytes), _total pour les counters. Grafana convertit.</a:t>
            </a:r>
            <a:endParaRPr lang="en-US" sz="1200" dirty="0"/>
          </a:p>
        </p:txBody>
      </p:sp>
      <p:sp>
        <p:nvSpPr>
          <p:cNvPr id="8" name="Shape 6"/>
          <p:cNvSpPr/>
          <p:nvPr/>
        </p:nvSpPr>
        <p:spPr>
          <a:xfrm>
            <a:off x="4686300" y="1234440"/>
            <a:ext cx="4000500" cy="1600200"/>
          </a:xfrm>
          <a:prstGeom prst="roundRect">
            <a:avLst>
              <a:gd name="adj" fmla="val 4571"/>
            </a:avLst>
          </a:prstGeom>
          <a:solidFill>
            <a:srgbClr val="F4F5F7"/>
          </a:solidFill>
          <a:ln w="12700">
            <a:solidFill>
              <a:srgbClr val="F4F5F7"/>
            </a:solidFill>
            <a:prstDash val="solid"/>
          </a:ln>
        </p:spPr>
      </p:sp>
      <p:sp>
        <p:nvSpPr>
          <p:cNvPr id="9" name="Text 7"/>
          <p:cNvSpPr txBox="1"/>
          <p:nvPr/>
        </p:nvSpPr>
        <p:spPr>
          <a:xfrm>
            <a:off x="48691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RED et USE</a:t>
            </a:r>
            <a:endParaRPr lang="en-US" sz="1500" dirty="0"/>
          </a:p>
        </p:txBody>
      </p:sp>
      <p:sp>
        <p:nvSpPr>
          <p:cNvPr id="10" name="Text 8"/>
          <p:cNvSpPr txBox="1"/>
          <p:nvPr/>
        </p:nvSpPr>
        <p:spPr>
          <a:xfrm>
            <a:off x="48691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Service : Rate, Errors, Duration. Ressource : Utilisation, Saturation, Errors. Les golden signals de Google SRE.</a:t>
            </a:r>
            <a:endParaRPr lang="en-US" sz="1200" dirty="0"/>
          </a:p>
        </p:txBody>
      </p:sp>
      <p:sp>
        <p:nvSpPr>
          <p:cNvPr id="11" name="Shape 9"/>
          <p:cNvSpPr/>
          <p:nvPr/>
        </p:nvSpPr>
        <p:spPr>
          <a:xfrm>
            <a:off x="457200" y="3063240"/>
            <a:ext cx="4000500" cy="1600200"/>
          </a:xfrm>
          <a:prstGeom prst="roundRect">
            <a:avLst>
              <a:gd name="adj" fmla="val 4571"/>
            </a:avLst>
          </a:prstGeom>
          <a:solidFill>
            <a:srgbClr val="F4F5F7"/>
          </a:solidFill>
          <a:ln w="12700">
            <a:solidFill>
              <a:srgbClr val="F4F5F7"/>
            </a:solidFill>
            <a:prstDash val="solid"/>
          </a:ln>
        </p:spPr>
      </p:sp>
      <p:sp>
        <p:nvSpPr>
          <p:cNvPr id="12" name="Text 10"/>
          <p:cNvSpPr txBox="1"/>
          <p:nvPr/>
        </p:nvSpPr>
        <p:spPr>
          <a:xfrm>
            <a:off x="6400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Labels autorisés</a:t>
            </a:r>
            <a:endParaRPr lang="en-US" sz="1500" dirty="0"/>
          </a:p>
        </p:txBody>
      </p:sp>
      <p:sp>
        <p:nvSpPr>
          <p:cNvPr id="13" name="Text 11"/>
          <p:cNvSpPr txBox="1"/>
          <p:nvPr/>
        </p:nvSpPr>
        <p:spPr>
          <a:xfrm>
            <a:off x="6400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method (5 valeurs), status (10), route en pattern (50). Bornés, stables.</a:t>
            </a:r>
            <a:endParaRPr lang="en-US" sz="1200" dirty="0"/>
          </a:p>
        </p:txBody>
      </p:sp>
      <p:sp>
        <p:nvSpPr>
          <p:cNvPr id="14" name="Shape 12"/>
          <p:cNvSpPr/>
          <p:nvPr/>
        </p:nvSpPr>
        <p:spPr>
          <a:xfrm>
            <a:off x="4686300" y="3063240"/>
            <a:ext cx="4000500" cy="1600200"/>
          </a:xfrm>
          <a:prstGeom prst="roundRect">
            <a:avLst>
              <a:gd name="adj" fmla="val 4571"/>
            </a:avLst>
          </a:prstGeom>
          <a:solidFill>
            <a:srgbClr val="F4F5F7"/>
          </a:solidFill>
          <a:ln w="12700">
            <a:solidFill>
              <a:srgbClr val="F4F5F7"/>
            </a:solidFill>
            <a:prstDash val="solid"/>
          </a:ln>
        </p:spPr>
      </p:sp>
      <p:sp>
        <p:nvSpPr>
          <p:cNvPr id="15" name="Text 13"/>
          <p:cNvSpPr txBox="1"/>
          <p:nvPr/>
        </p:nvSpPr>
        <p:spPr>
          <a:xfrm>
            <a:off x="48691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Labels interdits</a:t>
            </a:r>
            <a:endParaRPr lang="en-US" sz="1500" dirty="0"/>
          </a:p>
        </p:txBody>
      </p:sp>
      <p:sp>
        <p:nvSpPr>
          <p:cNvPr id="16" name="Text 14"/>
          <p:cNvSpPr txBox="1"/>
          <p:nvPr/>
        </p:nvSpPr>
        <p:spPr>
          <a:xfrm>
            <a:off x="48691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user_id, session_id, request_id, IP, email, URL réelle, terme de recherche. Un million d'utilisateurs = un million de séries.</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F2A4A"/>
        </a:solidFill>
      </p:bgPr>
    </p:bg>
    <p:spTree>
      <p:nvGrpSpPr>
        <p:cNvPr id="1" name=""/>
        <p:cNvGrpSpPr/>
        <p:nvPr/>
      </p:nvGrpSpPr>
      <p:grpSpPr>
        <a:xfrm>
          <a:off x="0" y="0"/>
          <a:ext cx="0" cy="0"/>
          <a:chOff x="0" y="0"/>
          <a:chExt cx="0" cy="0"/>
        </a:xfrm>
      </p:grpSpPr>
      <p:sp>
        <p:nvSpPr>
          <p:cNvPr id="2" name="Shape 0"/>
          <p:cNvSpPr/>
          <p:nvPr/>
        </p:nvSpPr>
        <p:spPr>
          <a:xfrm>
            <a:off x="457200" y="411480"/>
            <a:ext cx="1371600" cy="457200"/>
          </a:xfrm>
          <a:prstGeom prst="roundRect">
            <a:avLst>
              <a:gd name="adj" fmla="val 20000"/>
            </a:avLst>
          </a:prstGeom>
          <a:solidFill>
            <a:srgbClr val="F15A22"/>
          </a:solidFill>
          <a:ln w="12700">
            <a:solidFill>
              <a:srgbClr val="F15A22"/>
            </a:solidFill>
            <a:prstDash val="solid"/>
          </a:ln>
        </p:spPr>
      </p:sp>
      <p:sp>
        <p:nvSpPr>
          <p:cNvPr id="3" name="Text 1"/>
          <p:cNvSpPr txBox="1"/>
          <p:nvPr/>
        </p:nvSpPr>
        <p:spPr>
          <a:xfrm>
            <a:off x="457200" y="411480"/>
            <a:ext cx="13716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TP 2</a:t>
            </a:r>
            <a:endParaRPr lang="en-US" sz="1600" dirty="0"/>
          </a:p>
        </p:txBody>
      </p:sp>
      <p:sp>
        <p:nvSpPr>
          <p:cNvPr id="4" name="Text 2"/>
          <p:cNvSpPr txBox="1"/>
          <p:nvPr/>
        </p:nvSpPr>
        <p:spPr>
          <a:xfrm>
            <a:off x="2011680" y="365760"/>
            <a:ext cx="667512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Instrumentation et services tiers</a:t>
            </a:r>
            <a:endParaRPr lang="en-US" sz="2400" dirty="0"/>
          </a:p>
        </p:txBody>
      </p:sp>
      <p:sp>
        <p:nvSpPr>
          <p:cNvPr id="5" name="Text 3"/>
          <p:cNvSpPr txBox="1"/>
          <p:nvPr/>
        </p:nvSpPr>
        <p:spPr>
          <a:xfrm>
            <a:off x="457200" y="1097280"/>
            <a:ext cx="1828800" cy="274320"/>
          </a:xfrm>
          <a:prstGeom prst="rect">
            <a:avLst/>
          </a:prstGeom>
          <a:noFill/>
          <a:ln/>
        </p:spPr>
        <p:txBody>
          <a:bodyPr wrap="square" lIns="0" tIns="0" rIns="0" bIns="0" rtlCol="0" anchor="ctr"/>
          <a:lstStyle/>
          <a:p>
            <a:pPr indent="0" marL="0">
              <a:buNone/>
            </a:pPr>
            <a:r>
              <a:rPr lang="en-US" sz="1200" b="1" spc="300" kern="0" dirty="0">
                <a:solidFill>
                  <a:srgbClr val="FFB48F"/>
                </a:solidFill>
                <a:latin typeface="Calibri" pitchFamily="34" charset="0"/>
                <a:ea typeface="Calibri" pitchFamily="34" charset="-122"/>
                <a:cs typeface="Calibri" pitchFamily="34" charset="-120"/>
              </a:rPr>
              <a:t>Mission</a:t>
            </a:r>
            <a:endParaRPr lang="en-US" sz="1200" dirty="0"/>
          </a:p>
        </p:txBody>
      </p:sp>
      <p:sp>
        <p:nvSpPr>
          <p:cNvPr id="6" name="Text 4"/>
          <p:cNvSpPr txBox="1"/>
          <p:nvPr/>
        </p:nvSpPr>
        <p:spPr>
          <a:xfrm>
            <a:off x="457200" y="1371600"/>
            <a:ext cx="8229600" cy="868680"/>
          </a:xfrm>
          <a:prstGeom prst="rect">
            <a:avLst/>
          </a:prstGeom>
          <a:noFill/>
          <a:ln/>
        </p:spPr>
        <p:txBody>
          <a:bodyPr wrap="square" lIns="0" tIns="0" rIns="0" bIns="0" rtlCol="0" anchor="t"/>
          <a:lstStyle/>
          <a:p>
            <a:pPr indent="0" marL="0">
              <a:buNone/>
            </a:pPr>
            <a:r>
              <a:rPr lang="en-US" sz="1500" dirty="0">
                <a:solidFill>
                  <a:srgbClr val="DBE6F3"/>
                </a:solidFill>
                <a:latin typeface="Calibri" pitchFamily="34" charset="0"/>
                <a:ea typeface="Calibri" pitchFamily="34" charset="-122"/>
                <a:cs typeface="Calibri" pitchFamily="34" charset="-120"/>
              </a:rPr>
              <a:t>Le directeur commercial veut savoir quelles fiches produit sont les plus consultées. L'infra veut surveiller Redis. Le support veut être prévenu si le site est inaccessible de l'extérieur. Et il y a ce batch nocturne…</a:t>
            </a:r>
            <a:endParaRPr lang="en-US" sz="1500" dirty="0"/>
          </a:p>
        </p:txBody>
      </p:sp>
      <p:sp>
        <p:nvSpPr>
          <p:cNvPr id="7" name="Shape 5"/>
          <p:cNvSpPr/>
          <p:nvPr/>
        </p:nvSpPr>
        <p:spPr>
          <a:xfrm>
            <a:off x="457200" y="2377440"/>
            <a:ext cx="1499616" cy="2194560"/>
          </a:xfrm>
          <a:prstGeom prst="roundRect">
            <a:avLst>
              <a:gd name="adj" fmla="val 4878"/>
            </a:avLst>
          </a:prstGeom>
          <a:solidFill>
            <a:srgbClr val="163D6B"/>
          </a:solidFill>
          <a:ln w="12700">
            <a:solidFill>
              <a:srgbClr val="163D6B"/>
            </a:solidFill>
            <a:prstDash val="solid"/>
          </a:ln>
        </p:spPr>
      </p:sp>
      <p:sp>
        <p:nvSpPr>
          <p:cNvPr id="8" name="Shape 6"/>
          <p:cNvSpPr/>
          <p:nvPr/>
        </p:nvSpPr>
        <p:spPr>
          <a:xfrm>
            <a:off x="640080" y="2560320"/>
            <a:ext cx="347472" cy="347472"/>
          </a:xfrm>
          <a:prstGeom prst="ellipse">
            <a:avLst/>
          </a:prstGeom>
          <a:solidFill>
            <a:srgbClr val="F15A22"/>
          </a:solidFill>
          <a:ln w="12700">
            <a:solidFill>
              <a:srgbClr val="F15A22"/>
            </a:solidFill>
            <a:prstDash val="solid"/>
          </a:ln>
        </p:spPr>
      </p:sp>
      <p:sp>
        <p:nvSpPr>
          <p:cNvPr id="9" name="Text 7"/>
          <p:cNvSpPr txBox="1"/>
          <p:nvPr/>
        </p:nvSpPr>
        <p:spPr>
          <a:xfrm>
            <a:off x="64008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078992"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Métier</a:t>
            </a:r>
            <a:endParaRPr lang="en-US" sz="1150" dirty="0"/>
          </a:p>
        </p:txBody>
      </p:sp>
      <p:sp>
        <p:nvSpPr>
          <p:cNvPr id="11" name="Text 9"/>
          <p:cNvSpPr txBox="1"/>
          <p:nvPr/>
        </p:nvSpPr>
        <p:spPr>
          <a:xfrm>
            <a:off x="640080"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shop_product_views_total dans le code, rebuild, topk.</a:t>
            </a:r>
            <a:endParaRPr lang="en-US" sz="1050" dirty="0"/>
          </a:p>
        </p:txBody>
      </p:sp>
      <p:sp>
        <p:nvSpPr>
          <p:cNvPr id="12" name="Shape 10"/>
          <p:cNvSpPr/>
          <p:nvPr/>
        </p:nvSpPr>
        <p:spPr>
          <a:xfrm>
            <a:off x="2139696" y="2377440"/>
            <a:ext cx="1499616" cy="2194560"/>
          </a:xfrm>
          <a:prstGeom prst="roundRect">
            <a:avLst>
              <a:gd name="adj" fmla="val 4878"/>
            </a:avLst>
          </a:prstGeom>
          <a:solidFill>
            <a:srgbClr val="163D6B"/>
          </a:solidFill>
          <a:ln w="12700">
            <a:solidFill>
              <a:srgbClr val="163D6B"/>
            </a:solidFill>
            <a:prstDash val="solid"/>
          </a:ln>
        </p:spPr>
      </p:sp>
      <p:sp>
        <p:nvSpPr>
          <p:cNvPr id="13" name="Shape 11"/>
          <p:cNvSpPr/>
          <p:nvPr/>
        </p:nvSpPr>
        <p:spPr>
          <a:xfrm>
            <a:off x="2322576" y="2560320"/>
            <a:ext cx="347472" cy="347472"/>
          </a:xfrm>
          <a:prstGeom prst="ellipse">
            <a:avLst/>
          </a:prstGeom>
          <a:solidFill>
            <a:srgbClr val="F15A22"/>
          </a:solidFill>
          <a:ln w="12700">
            <a:solidFill>
              <a:srgbClr val="F15A22"/>
            </a:solidFill>
            <a:prstDash val="solid"/>
          </a:ln>
        </p:spPr>
      </p:sp>
      <p:sp>
        <p:nvSpPr>
          <p:cNvPr id="14" name="Text 12"/>
          <p:cNvSpPr txBox="1"/>
          <p:nvPr/>
        </p:nvSpPr>
        <p:spPr>
          <a:xfrm>
            <a:off x="2322576"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2761488"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Redis</a:t>
            </a:r>
            <a:endParaRPr lang="en-US" sz="1150" dirty="0"/>
          </a:p>
        </p:txBody>
      </p:sp>
      <p:sp>
        <p:nvSpPr>
          <p:cNvPr id="16" name="Text 14"/>
          <p:cNvSpPr txBox="1"/>
          <p:nvPr/>
        </p:nvSpPr>
        <p:spPr>
          <a:xfrm>
            <a:off x="2322576"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Le job redis, redis_up, commandes par seconde.</a:t>
            </a:r>
            <a:endParaRPr lang="en-US" sz="1050" dirty="0"/>
          </a:p>
        </p:txBody>
      </p:sp>
      <p:sp>
        <p:nvSpPr>
          <p:cNvPr id="17" name="Shape 15"/>
          <p:cNvSpPr/>
          <p:nvPr/>
        </p:nvSpPr>
        <p:spPr>
          <a:xfrm>
            <a:off x="3822192" y="2377440"/>
            <a:ext cx="1499616" cy="2194560"/>
          </a:xfrm>
          <a:prstGeom prst="roundRect">
            <a:avLst>
              <a:gd name="adj" fmla="val 4878"/>
            </a:avLst>
          </a:prstGeom>
          <a:solidFill>
            <a:srgbClr val="163D6B"/>
          </a:solidFill>
          <a:ln w="12700">
            <a:solidFill>
              <a:srgbClr val="163D6B"/>
            </a:solidFill>
            <a:prstDash val="solid"/>
          </a:ln>
        </p:spPr>
      </p:sp>
      <p:sp>
        <p:nvSpPr>
          <p:cNvPr id="18" name="Shape 16"/>
          <p:cNvSpPr/>
          <p:nvPr/>
        </p:nvSpPr>
        <p:spPr>
          <a:xfrm>
            <a:off x="4005072" y="2560320"/>
            <a:ext cx="347472" cy="347472"/>
          </a:xfrm>
          <a:prstGeom prst="ellipse">
            <a:avLst/>
          </a:prstGeom>
          <a:solidFill>
            <a:srgbClr val="F15A22"/>
          </a:solidFill>
          <a:ln w="12700">
            <a:solidFill>
              <a:srgbClr val="F15A22"/>
            </a:solidFill>
            <a:prstDash val="solid"/>
          </a:ln>
        </p:spPr>
      </p:sp>
      <p:sp>
        <p:nvSpPr>
          <p:cNvPr id="19" name="Text 17"/>
          <p:cNvSpPr txBox="1"/>
          <p:nvPr/>
        </p:nvSpPr>
        <p:spPr>
          <a:xfrm>
            <a:off x="4005072"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4443984"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Blackbox</a:t>
            </a:r>
            <a:endParaRPr lang="en-US" sz="1150" dirty="0"/>
          </a:p>
        </p:txBody>
      </p:sp>
      <p:sp>
        <p:nvSpPr>
          <p:cNvPr id="21" name="Text 19"/>
          <p:cNvSpPr txBox="1"/>
          <p:nvPr/>
        </p:nvSpPr>
        <p:spPr>
          <a:xfrm>
            <a:off x="4005072"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Quatre sondes HTTP et les trois règles de relabeling. up ne veut plus dire ce qu'on croit.</a:t>
            </a:r>
            <a:endParaRPr lang="en-US" sz="1050" dirty="0"/>
          </a:p>
        </p:txBody>
      </p:sp>
      <p:sp>
        <p:nvSpPr>
          <p:cNvPr id="22" name="Shape 20"/>
          <p:cNvSpPr/>
          <p:nvPr/>
        </p:nvSpPr>
        <p:spPr>
          <a:xfrm>
            <a:off x="5504688" y="2377440"/>
            <a:ext cx="1499616" cy="2194560"/>
          </a:xfrm>
          <a:prstGeom prst="roundRect">
            <a:avLst>
              <a:gd name="adj" fmla="val 4878"/>
            </a:avLst>
          </a:prstGeom>
          <a:solidFill>
            <a:srgbClr val="163D6B"/>
          </a:solidFill>
          <a:ln w="12700">
            <a:solidFill>
              <a:srgbClr val="163D6B"/>
            </a:solidFill>
            <a:prstDash val="solid"/>
          </a:ln>
        </p:spPr>
      </p:sp>
      <p:sp>
        <p:nvSpPr>
          <p:cNvPr id="23" name="Shape 21"/>
          <p:cNvSpPr/>
          <p:nvPr/>
        </p:nvSpPr>
        <p:spPr>
          <a:xfrm>
            <a:off x="5687568" y="2560320"/>
            <a:ext cx="347472" cy="347472"/>
          </a:xfrm>
          <a:prstGeom prst="ellipse">
            <a:avLst/>
          </a:prstGeom>
          <a:solidFill>
            <a:srgbClr val="F15A22"/>
          </a:solidFill>
          <a:ln w="12700">
            <a:solidFill>
              <a:srgbClr val="F15A22"/>
            </a:solidFill>
            <a:prstDash val="solid"/>
          </a:ln>
        </p:spPr>
      </p:sp>
      <p:sp>
        <p:nvSpPr>
          <p:cNvPr id="24" name="Text 22"/>
          <p:cNvSpPr txBox="1"/>
          <p:nvPr/>
        </p:nvSpPr>
        <p:spPr>
          <a:xfrm>
            <a:off x="5687568"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6126480"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Batch</a:t>
            </a:r>
            <a:endParaRPr lang="en-US" sz="1150" dirty="0"/>
          </a:p>
        </p:txBody>
      </p:sp>
      <p:sp>
        <p:nvSpPr>
          <p:cNvPr id="26" name="Text 24"/>
          <p:cNvSpPr txBox="1"/>
          <p:nvPr/>
        </p:nvSpPr>
        <p:spPr>
          <a:xfrm>
            <a:off x="5687568"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./lab.sh batch, honor_labels: true, ancienneté de la sauvegarde.</a:t>
            </a:r>
            <a:endParaRPr lang="en-US" sz="1050" dirty="0"/>
          </a:p>
        </p:txBody>
      </p:sp>
      <p:sp>
        <p:nvSpPr>
          <p:cNvPr id="27" name="Shape 25"/>
          <p:cNvSpPr/>
          <p:nvPr/>
        </p:nvSpPr>
        <p:spPr>
          <a:xfrm>
            <a:off x="7187184" y="2377440"/>
            <a:ext cx="1499616" cy="2194560"/>
          </a:xfrm>
          <a:prstGeom prst="roundRect">
            <a:avLst>
              <a:gd name="adj" fmla="val 4878"/>
            </a:avLst>
          </a:prstGeom>
          <a:solidFill>
            <a:srgbClr val="163D6B"/>
          </a:solidFill>
          <a:ln w="12700">
            <a:solidFill>
              <a:srgbClr val="163D6B"/>
            </a:solidFill>
            <a:prstDash val="solid"/>
          </a:ln>
        </p:spPr>
      </p:sp>
      <p:sp>
        <p:nvSpPr>
          <p:cNvPr id="28" name="Shape 26"/>
          <p:cNvSpPr/>
          <p:nvPr/>
        </p:nvSpPr>
        <p:spPr>
          <a:xfrm>
            <a:off x="7370064" y="2560320"/>
            <a:ext cx="347472" cy="347472"/>
          </a:xfrm>
          <a:prstGeom prst="ellipse">
            <a:avLst/>
          </a:prstGeom>
          <a:solidFill>
            <a:srgbClr val="F15A22"/>
          </a:solidFill>
          <a:ln w="12700">
            <a:solidFill>
              <a:srgbClr val="F15A22"/>
            </a:solidFill>
            <a:prstDash val="solid"/>
          </a:ln>
        </p:spPr>
      </p:sp>
      <p:sp>
        <p:nvSpPr>
          <p:cNvPr id="29" name="Text 27"/>
          <p:cNvSpPr txBox="1"/>
          <p:nvPr/>
        </p:nvSpPr>
        <p:spPr>
          <a:xfrm>
            <a:off x="7370064"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0" name="Text 28"/>
          <p:cNvSpPr txBox="1"/>
          <p:nvPr/>
        </p:nvSpPr>
        <p:spPr>
          <a:xfrm>
            <a:off x="7808976"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Bonus</a:t>
            </a:r>
            <a:endParaRPr lang="en-US" sz="1150" dirty="0"/>
          </a:p>
        </p:txBody>
      </p:sp>
      <p:sp>
        <p:nvSpPr>
          <p:cNvPr id="31" name="Text 29"/>
          <p:cNvSpPr txBox="1"/>
          <p:nvPr/>
        </p:nvSpPr>
        <p:spPr>
          <a:xfrm>
            <a:off x="7370064"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Cardinalité : les dix métriques les plus lourdes, et 200 routes × 50 instances ?</a:t>
            </a:r>
            <a:endParaRPr lang="en-US" sz="1050" dirty="0"/>
          </a:p>
        </p:txBody>
      </p:sp>
      <p:sp>
        <p:nvSpPr>
          <p:cNvPr id="32" name="Text 30"/>
          <p:cNvSpPr txBox="1"/>
          <p:nvPr/>
        </p:nvSpPr>
        <p:spPr>
          <a:xfrm>
            <a:off x="457200" y="4709160"/>
            <a:ext cx="8229600" cy="274320"/>
          </a:xfrm>
          <a:prstGeom prst="rect">
            <a:avLst/>
          </a:prstGeom>
          <a:noFill/>
          <a:ln/>
        </p:spPr>
        <p:txBody>
          <a:bodyPr wrap="square" lIns="0" tIns="0" rIns="0" bIns="0" rtlCol="0" anchor="ctr"/>
          <a:lstStyle/>
          <a:p>
            <a:pPr indent="0" marL="0">
              <a:buNone/>
            </a:pPr>
            <a:r>
              <a:rPr lang="en-US" sz="1000" i="1" dirty="0">
                <a:solidFill>
                  <a:srgbClr val="8FA3BD"/>
                </a:solidFill>
                <a:latin typeface="Calibri" pitchFamily="34" charset="0"/>
                <a:ea typeface="Calibri" pitchFamily="34" charset="-122"/>
                <a:cs typeface="Calibri" pitchFamily="34" charset="-120"/>
              </a:rPr>
              <a:t>Énoncé complet dans le guide stagiaire · corrigé projeté après recherche</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37</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Récap du jour 1</a:t>
            </a:r>
            <a:endParaRPr lang="en-US" sz="2800" dirty="0"/>
          </a:p>
        </p:txBody>
      </p:sp>
      <p:sp>
        <p:nvSpPr>
          <p:cNvPr id="5" name="Text 3"/>
          <p:cNvSpPr txBox="1"/>
          <p:nvPr/>
        </p:nvSpPr>
        <p:spPr>
          <a:xfrm>
            <a:off x="457200" y="1188720"/>
            <a:ext cx="8229600" cy="34747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Pull : résilience, up == 0, débogage au curl</a:t>
            </a:r>
            <a:endParaRPr lang="en-US" sz="1600" dirty="0"/>
          </a:p>
          <a:p>
            <a:pPr marL="342900" indent="-3429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Un Counter ne se lit jamais brut : rate(), increase()</a:t>
            </a:r>
            <a:endParaRPr lang="en-US" sz="1600" dirty="0"/>
          </a:p>
          <a:p>
            <a:pPr marL="342900" indent="-3429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Une série = nom + labels ; la cardinalité est le seul vrai danger</a:t>
            </a:r>
            <a:endParaRPr lang="en-US" sz="1600" dirty="0"/>
          </a:p>
          <a:p>
            <a:pPr marL="342900" indent="-3429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promtool check config avant chaque reload</a:t>
            </a:r>
            <a:endParaRPr lang="en-US" sz="1600" dirty="0"/>
          </a:p>
          <a:p>
            <a:pPr marL="342900" indent="-3429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Exporter = adaptateur ; blackbox : c'est probe_success qui compte, pas up</a:t>
            </a:r>
            <a:endParaRPr lang="en-US" sz="1600" dirty="0"/>
          </a:p>
          <a:p>
            <a:pPr marL="342900" indent="-3429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honor_labels: true pour la Pushgateway</a:t>
            </a:r>
            <a:endParaRPr lang="en-US" sz="1600" dirty="0"/>
          </a:p>
          <a:p>
            <a:pPr marL="342900" indent="-3429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Ce soir : sept jobs UP, pas de ./lab.sh reset</a:t>
            </a:r>
            <a:endParaRPr lang="en-US" sz="16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JOUR 2</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Comprendre</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PromQL comme un réflexe le matin ; deux tableaux de bord complets, versionnés, l'après-midi.</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7</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PromQL, les fondations</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Sélecteurs, types de résultats, opérateurs, agrégations.</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40</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Quatre types de résultats</a:t>
            </a:r>
            <a:endParaRPr lang="en-US" sz="2800" dirty="0"/>
          </a:p>
        </p:txBody>
      </p:sp>
      <p:sp>
        <p:nvSpPr>
          <p:cNvPr id="5" name="Shape 3"/>
          <p:cNvSpPr/>
          <p:nvPr/>
        </p:nvSpPr>
        <p:spPr>
          <a:xfrm>
            <a:off x="457200" y="1234440"/>
            <a:ext cx="4000500" cy="1600200"/>
          </a:xfrm>
          <a:prstGeom prst="roundRect">
            <a:avLst>
              <a:gd name="adj" fmla="val 4571"/>
            </a:avLst>
          </a:prstGeom>
          <a:solidFill>
            <a:srgbClr val="F4F5F7"/>
          </a:solidFill>
          <a:ln w="12700">
            <a:solidFill>
              <a:srgbClr val="F4F5F7"/>
            </a:solidFill>
            <a:prstDash val="solid"/>
          </a:ln>
        </p:spPr>
      </p:sp>
      <p:sp>
        <p:nvSpPr>
          <p:cNvPr id="6" name="Text 4"/>
          <p:cNvSpPr txBox="1"/>
          <p:nvPr/>
        </p:nvSpPr>
        <p:spPr>
          <a:xfrm>
            <a:off x="6400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Instant vector</a:t>
            </a:r>
            <a:endParaRPr lang="en-US" sz="1500" dirty="0"/>
          </a:p>
        </p:txBody>
      </p:sp>
      <p:sp>
        <p:nvSpPr>
          <p:cNvPr id="7" name="Text 5"/>
          <p:cNvSpPr txBox="1"/>
          <p:nvPr/>
        </p:nvSpPr>
        <p:spPr>
          <a:xfrm>
            <a:off x="6400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Une valeur par série, à un instant. up, http_requests_total{job="shop-api"}. C'est ce que Grafana dessine.</a:t>
            </a:r>
            <a:endParaRPr lang="en-US" sz="1200" dirty="0"/>
          </a:p>
        </p:txBody>
      </p:sp>
      <p:sp>
        <p:nvSpPr>
          <p:cNvPr id="8" name="Shape 6"/>
          <p:cNvSpPr/>
          <p:nvPr/>
        </p:nvSpPr>
        <p:spPr>
          <a:xfrm>
            <a:off x="4686300" y="1234440"/>
            <a:ext cx="4000500" cy="1600200"/>
          </a:xfrm>
          <a:prstGeom prst="roundRect">
            <a:avLst>
              <a:gd name="adj" fmla="val 4571"/>
            </a:avLst>
          </a:prstGeom>
          <a:solidFill>
            <a:srgbClr val="F4F5F7"/>
          </a:solidFill>
          <a:ln w="12700">
            <a:solidFill>
              <a:srgbClr val="F4F5F7"/>
            </a:solidFill>
            <a:prstDash val="solid"/>
          </a:ln>
        </p:spPr>
      </p:sp>
      <p:sp>
        <p:nvSpPr>
          <p:cNvPr id="9" name="Text 7"/>
          <p:cNvSpPr txBox="1"/>
          <p:nvPr/>
        </p:nvSpPr>
        <p:spPr>
          <a:xfrm>
            <a:off x="48691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Range vector</a:t>
            </a:r>
            <a:endParaRPr lang="en-US" sz="1500" dirty="0"/>
          </a:p>
        </p:txBody>
      </p:sp>
      <p:sp>
        <p:nvSpPr>
          <p:cNvPr id="10" name="Text 8"/>
          <p:cNvSpPr txBox="1"/>
          <p:nvPr/>
        </p:nvSpPr>
        <p:spPr>
          <a:xfrm>
            <a:off x="48691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Pour chaque série, toutes les valeurs sur une fenêtre : http_requests_total[5m]. Ne se dessine pas, nourrit rate().</a:t>
            </a:r>
            <a:endParaRPr lang="en-US" sz="1200" dirty="0"/>
          </a:p>
        </p:txBody>
      </p:sp>
      <p:sp>
        <p:nvSpPr>
          <p:cNvPr id="11" name="Shape 9"/>
          <p:cNvSpPr/>
          <p:nvPr/>
        </p:nvSpPr>
        <p:spPr>
          <a:xfrm>
            <a:off x="457200" y="3063240"/>
            <a:ext cx="4000500" cy="1600200"/>
          </a:xfrm>
          <a:prstGeom prst="roundRect">
            <a:avLst>
              <a:gd name="adj" fmla="val 4571"/>
            </a:avLst>
          </a:prstGeom>
          <a:solidFill>
            <a:srgbClr val="F4F5F7"/>
          </a:solidFill>
          <a:ln w="12700">
            <a:solidFill>
              <a:srgbClr val="F4F5F7"/>
            </a:solidFill>
            <a:prstDash val="solid"/>
          </a:ln>
        </p:spPr>
      </p:sp>
      <p:sp>
        <p:nvSpPr>
          <p:cNvPr id="12" name="Text 10"/>
          <p:cNvSpPr txBox="1"/>
          <p:nvPr/>
        </p:nvSpPr>
        <p:spPr>
          <a:xfrm>
            <a:off x="6400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Scalar</a:t>
            </a:r>
            <a:endParaRPr lang="en-US" sz="1500" dirty="0"/>
          </a:p>
        </p:txBody>
      </p:sp>
      <p:sp>
        <p:nvSpPr>
          <p:cNvPr id="13" name="Text 11"/>
          <p:cNvSpPr txBox="1"/>
          <p:nvPr/>
        </p:nvSpPr>
        <p:spPr>
          <a:xfrm>
            <a:off x="6400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Un nombre. 42, time(), scalar(…).</a:t>
            </a:r>
            <a:endParaRPr lang="en-US" sz="1200" dirty="0"/>
          </a:p>
        </p:txBody>
      </p:sp>
      <p:sp>
        <p:nvSpPr>
          <p:cNvPr id="14" name="Shape 12"/>
          <p:cNvSpPr/>
          <p:nvPr/>
        </p:nvSpPr>
        <p:spPr>
          <a:xfrm>
            <a:off x="4686300" y="3063240"/>
            <a:ext cx="4000500" cy="1600200"/>
          </a:xfrm>
          <a:prstGeom prst="roundRect">
            <a:avLst>
              <a:gd name="adj" fmla="val 4571"/>
            </a:avLst>
          </a:prstGeom>
          <a:solidFill>
            <a:srgbClr val="F4F5F7"/>
          </a:solidFill>
          <a:ln w="12700">
            <a:solidFill>
              <a:srgbClr val="F4F5F7"/>
            </a:solidFill>
            <a:prstDash val="solid"/>
          </a:ln>
        </p:spPr>
      </p:sp>
      <p:sp>
        <p:nvSpPr>
          <p:cNvPr id="15" name="Text 13"/>
          <p:cNvSpPr txBox="1"/>
          <p:nvPr/>
        </p:nvSpPr>
        <p:spPr>
          <a:xfrm>
            <a:off x="48691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String</a:t>
            </a:r>
            <a:endParaRPr lang="en-US" sz="1500" dirty="0"/>
          </a:p>
        </p:txBody>
      </p:sp>
      <p:sp>
        <p:nvSpPr>
          <p:cNvPr id="16" name="Text 14"/>
          <p:cNvSpPr txBox="1"/>
          <p:nvPr/>
        </p:nvSpPr>
        <p:spPr>
          <a:xfrm>
            <a:off x="48691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Rarissime. On l'oublie.</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41</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Sélecteurs et décalages</a:t>
            </a:r>
            <a:endParaRPr lang="en-US" sz="2800" dirty="0"/>
          </a:p>
        </p:txBody>
      </p:sp>
      <p:sp>
        <p:nvSpPr>
          <p:cNvPr id="5" name="Shape 3"/>
          <p:cNvSpPr/>
          <p:nvPr/>
        </p:nvSpPr>
        <p:spPr>
          <a:xfrm>
            <a:off x="457200" y="1234440"/>
            <a:ext cx="5943600" cy="3429000"/>
          </a:xfrm>
          <a:prstGeom prst="roundRect">
            <a:avLst>
              <a:gd name="adj" fmla="val 2133"/>
            </a:avLst>
          </a:prstGeom>
          <a:solidFill>
            <a:srgbClr val="1E2633"/>
          </a:solidFill>
          <a:ln w="12700">
            <a:solidFill>
              <a:srgbClr val="1E2633"/>
            </a:solidFill>
            <a:prstDash val="solid"/>
          </a:ln>
        </p:spPr>
      </p:sp>
      <p:sp>
        <p:nvSpPr>
          <p:cNvPr id="6" name="Text 4"/>
          <p:cNvSpPr txBox="1"/>
          <p:nvPr/>
        </p:nvSpPr>
        <p:spPr>
          <a:xfrm>
            <a:off x="640080" y="1371600"/>
            <a:ext cx="5577840" cy="315468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up{job="shop-api"}                     # égal</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http_requests_total{route!="/metrics"}   # différent</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http_requests_total{status=~"5.."}      # regex, ancrée : ^5..$</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node_network_receive_bytes_total{device!~"lo|veth.*"}  # regex négative</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{__name__=~"shop_.*"}                   # le nom est un label</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shop_cart_items offset 1h               # il y a une heure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rate(x[5m]) and rate(x[5m] offset 1d)   # aujourd'hui vs hier</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http_requests_total @ end()             # figé sur la fin de la plage</a:t>
            </a:r>
            <a:endParaRPr lang="en-US" sz="1000" dirty="0"/>
          </a:p>
        </p:txBody>
      </p:sp>
      <p:sp>
        <p:nvSpPr>
          <p:cNvPr id="7" name="Text 5"/>
          <p:cNvSpPr txBox="1"/>
          <p:nvPr/>
        </p:nvSpPr>
        <p:spPr>
          <a:xfrm>
            <a:off x="6583680" y="1234440"/>
            <a:ext cx="2103120" cy="342900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Quatre matchers : = != =~ !~</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Regex ancrées : 5.. matche exactement trois caractères</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offset et @ pour voyager dans le temps</a:t>
            </a:r>
            <a:endParaRPr lang="en-US" sz="11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42</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Opérateurs et agrégations</a:t>
            </a:r>
            <a:endParaRPr lang="en-US" sz="2800" dirty="0"/>
          </a:p>
        </p:txBody>
      </p:sp>
      <p:sp>
        <p:nvSpPr>
          <p:cNvPr id="5" name="Shape 3"/>
          <p:cNvSpPr/>
          <p:nvPr/>
        </p:nvSpPr>
        <p:spPr>
          <a:xfrm>
            <a:off x="457200" y="1234440"/>
            <a:ext cx="5943600" cy="3429000"/>
          </a:xfrm>
          <a:prstGeom prst="roundRect">
            <a:avLst>
              <a:gd name="adj" fmla="val 2133"/>
            </a:avLst>
          </a:prstGeom>
          <a:solidFill>
            <a:srgbClr val="1E2633"/>
          </a:solidFill>
          <a:ln w="12700">
            <a:solidFill>
              <a:srgbClr val="1E2633"/>
            </a:solidFill>
            <a:prstDash val="solid"/>
          </a:ln>
        </p:spPr>
      </p:sp>
      <p:sp>
        <p:nvSpPr>
          <p:cNvPr id="6" name="Text 4"/>
          <p:cNvSpPr txBox="1"/>
          <p:nvPr/>
        </p:nvSpPr>
        <p:spPr>
          <a:xfrm>
            <a:off x="640080" y="1371600"/>
            <a:ext cx="5577840" cy="315468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node_memory_MemAvailable_bytes / node_memory_MemTotal_bytes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 appariement sur labels identiques {instance, job}</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shop_stock_units &lt; 20          # filtre : ne renvoie que les séries sous 20</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shop_stock_units &lt; bool 20     # 0 ou 1 pour toutes les séries</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sum by (route) (rate(http_requests_total[5m]))    # une série par route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sum without (instance) (…)                        # jette instance, garde le reste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sum(rate(http_requests_total[5m]))                # un seul nombre</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topk(3, shop_stock_units)   count(up)   avg   min   max   quantile(0.9, …)</a:t>
            </a:r>
            <a:endParaRPr lang="en-US" sz="1000" dirty="0"/>
          </a:p>
        </p:txBody>
      </p:sp>
      <p:sp>
        <p:nvSpPr>
          <p:cNvPr id="7" name="Text 5"/>
          <p:cNvSpPr txBox="1"/>
          <p:nvPr/>
        </p:nvSpPr>
        <p:spPr>
          <a:xfrm>
            <a:off x="6583680" y="1234440"/>
            <a:ext cx="2103120" cy="342900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Une comparaison filtre : c'est la base des alertes (au moins une série renvoyée)</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by : garder ces labels · without : jeter ceux-là</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Le tableau croisé dynamique de PromQL</a:t>
            </a:r>
            <a:endParaRPr lang="en-US" sz="11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43</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Série A — sélection et agrégation (40 min)</a:t>
            </a:r>
            <a:endParaRPr lang="en-US" sz="2800" dirty="0"/>
          </a:p>
        </p:txBody>
      </p:sp>
      <p:sp>
        <p:nvSpPr>
          <p:cNvPr id="5" name="Shape 3"/>
          <p:cNvSpPr/>
          <p:nvPr/>
        </p:nvSpPr>
        <p:spPr>
          <a:xfrm>
            <a:off x="457200" y="1280160"/>
            <a:ext cx="384048" cy="384048"/>
          </a:xfrm>
          <a:prstGeom prst="ellipse">
            <a:avLst/>
          </a:prstGeom>
          <a:solidFill>
            <a:srgbClr val="F15A22"/>
          </a:solidFill>
          <a:ln w="12700">
            <a:solidFill>
              <a:srgbClr val="F15A22"/>
            </a:solidFill>
            <a:prstDash val="solid"/>
          </a:ln>
        </p:spPr>
      </p:sp>
      <p:sp>
        <p:nvSpPr>
          <p:cNvPr id="6" name="Text 4"/>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2.1</a:t>
            </a:r>
            <a:endParaRPr lang="en-US" sz="950" dirty="0"/>
          </a:p>
        </p:txBody>
      </p:sp>
      <p:sp>
        <p:nvSpPr>
          <p:cNvPr id="7" name="Text 5"/>
          <p:cNvSpPr txBox="1"/>
          <p:nvPr/>
        </p:nvSpPr>
        <p:spPr>
          <a:xfrm>
            <a:off x="960120" y="1234440"/>
            <a:ext cx="3520440" cy="548640"/>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Toutes les cibles, puis celles du job shop-api</a:t>
            </a:r>
            <a:endParaRPr lang="en-US" sz="1200" dirty="0"/>
          </a:p>
        </p:txBody>
      </p:sp>
      <p:sp>
        <p:nvSpPr>
          <p:cNvPr id="8" name="Shape 6"/>
          <p:cNvSpPr/>
          <p:nvPr/>
        </p:nvSpPr>
        <p:spPr>
          <a:xfrm>
            <a:off x="457200" y="1938528"/>
            <a:ext cx="384048" cy="384048"/>
          </a:xfrm>
          <a:prstGeom prst="ellipse">
            <a:avLst/>
          </a:prstGeom>
          <a:solidFill>
            <a:srgbClr val="F15A22"/>
          </a:solidFill>
          <a:ln w="12700">
            <a:solidFill>
              <a:srgbClr val="F15A22"/>
            </a:solidFill>
            <a:prstDash val="solid"/>
          </a:ln>
        </p:spPr>
      </p:sp>
      <p:sp>
        <p:nvSpPr>
          <p:cNvPr id="9" name="Text 7"/>
          <p:cNvSpPr txBox="1"/>
          <p:nvPr/>
        </p:nvSpPr>
        <p:spPr>
          <a:xfrm>
            <a:off x="457200" y="1938528"/>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2.2</a:t>
            </a:r>
            <a:endParaRPr lang="en-US" sz="950" dirty="0"/>
          </a:p>
        </p:txBody>
      </p:sp>
      <p:sp>
        <p:nvSpPr>
          <p:cNvPr id="10" name="Text 8"/>
          <p:cNvSpPr txBox="1"/>
          <p:nvPr/>
        </p:nvSpPr>
        <p:spPr>
          <a:xfrm>
            <a:off x="960120" y="1892808"/>
            <a:ext cx="3520440" cy="548640"/>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Les erreurs 4xx/5xx sans /metrics</a:t>
            </a:r>
            <a:endParaRPr lang="en-US" sz="1200" dirty="0"/>
          </a:p>
        </p:txBody>
      </p:sp>
      <p:sp>
        <p:nvSpPr>
          <p:cNvPr id="11" name="Shape 9"/>
          <p:cNvSpPr/>
          <p:nvPr/>
        </p:nvSpPr>
        <p:spPr>
          <a:xfrm>
            <a:off x="457200" y="2596896"/>
            <a:ext cx="384048" cy="384048"/>
          </a:xfrm>
          <a:prstGeom prst="ellipse">
            <a:avLst/>
          </a:prstGeom>
          <a:solidFill>
            <a:srgbClr val="F15A22"/>
          </a:solidFill>
          <a:ln w="12700">
            <a:solidFill>
              <a:srgbClr val="F15A22"/>
            </a:solidFill>
            <a:prstDash val="solid"/>
          </a:ln>
        </p:spPr>
      </p:sp>
      <p:sp>
        <p:nvSpPr>
          <p:cNvPr id="12" name="Text 10"/>
          <p:cNvSpPr txBox="1"/>
          <p:nvPr/>
        </p:nvSpPr>
        <p:spPr>
          <a:xfrm>
            <a:off x="457200" y="2596896"/>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2.3</a:t>
            </a:r>
            <a:endParaRPr lang="en-US" sz="950" dirty="0"/>
          </a:p>
        </p:txBody>
      </p:sp>
      <p:sp>
        <p:nvSpPr>
          <p:cNvPr id="13" name="Text 11"/>
          <p:cNvSpPr txBox="1"/>
          <p:nvPr/>
        </p:nvSpPr>
        <p:spPr>
          <a:xfrm>
            <a:off x="960120" y="2551176"/>
            <a:ext cx="3520440" cy="548640"/>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Un range vector : combien de points, pourquoi pas de graphe</a:t>
            </a:r>
            <a:endParaRPr lang="en-US" sz="1200" dirty="0"/>
          </a:p>
        </p:txBody>
      </p:sp>
      <p:sp>
        <p:nvSpPr>
          <p:cNvPr id="14" name="Shape 12"/>
          <p:cNvSpPr/>
          <p:nvPr/>
        </p:nvSpPr>
        <p:spPr>
          <a:xfrm>
            <a:off x="457200" y="3255264"/>
            <a:ext cx="384048" cy="384048"/>
          </a:xfrm>
          <a:prstGeom prst="ellipse">
            <a:avLst/>
          </a:prstGeom>
          <a:solidFill>
            <a:srgbClr val="F15A22"/>
          </a:solidFill>
          <a:ln w="12700">
            <a:solidFill>
              <a:srgbClr val="F15A22"/>
            </a:solidFill>
            <a:prstDash val="solid"/>
          </a:ln>
        </p:spPr>
      </p:sp>
      <p:sp>
        <p:nvSpPr>
          <p:cNvPr id="15" name="Text 13"/>
          <p:cNvSpPr txBox="1"/>
          <p:nvPr/>
        </p:nvSpPr>
        <p:spPr>
          <a:xfrm>
            <a:off x="457200" y="3255264"/>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2.4</a:t>
            </a:r>
            <a:endParaRPr lang="en-US" sz="950" dirty="0"/>
          </a:p>
        </p:txBody>
      </p:sp>
      <p:sp>
        <p:nvSpPr>
          <p:cNvPr id="16" name="Text 14"/>
          <p:cNvSpPr txBox="1"/>
          <p:nvPr/>
        </p:nvSpPr>
        <p:spPr>
          <a:xfrm>
            <a:off x="960120" y="3209544"/>
            <a:ext cx="3520440" cy="548640"/>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Mémoire disponible en %</a:t>
            </a:r>
            <a:endParaRPr lang="en-US" sz="1200" dirty="0"/>
          </a:p>
        </p:txBody>
      </p:sp>
      <p:sp>
        <p:nvSpPr>
          <p:cNvPr id="17" name="Shape 15"/>
          <p:cNvSpPr/>
          <p:nvPr/>
        </p:nvSpPr>
        <p:spPr>
          <a:xfrm>
            <a:off x="457200" y="3913632"/>
            <a:ext cx="384048" cy="384048"/>
          </a:xfrm>
          <a:prstGeom prst="ellipse">
            <a:avLst/>
          </a:prstGeom>
          <a:solidFill>
            <a:srgbClr val="F15A22"/>
          </a:solidFill>
          <a:ln w="12700">
            <a:solidFill>
              <a:srgbClr val="F15A22"/>
            </a:solidFill>
            <a:prstDash val="solid"/>
          </a:ln>
        </p:spPr>
      </p:sp>
      <p:sp>
        <p:nvSpPr>
          <p:cNvPr id="18" name="Text 16"/>
          <p:cNvSpPr txBox="1"/>
          <p:nvPr/>
        </p:nvSpPr>
        <p:spPr>
          <a:xfrm>
            <a:off x="457200" y="3913632"/>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2.5</a:t>
            </a:r>
            <a:endParaRPr lang="en-US" sz="950" dirty="0"/>
          </a:p>
        </p:txBody>
      </p:sp>
      <p:sp>
        <p:nvSpPr>
          <p:cNvPr id="19" name="Text 17"/>
          <p:cNvSpPr txBox="1"/>
          <p:nvPr/>
        </p:nvSpPr>
        <p:spPr>
          <a:xfrm>
            <a:off x="960120" y="3867912"/>
            <a:ext cx="3520440" cy="548640"/>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Les paniers il y a 10 min, et l'écart</a:t>
            </a:r>
            <a:endParaRPr lang="en-US" sz="1200" dirty="0"/>
          </a:p>
        </p:txBody>
      </p:sp>
      <p:sp>
        <p:nvSpPr>
          <p:cNvPr id="20" name="Shape 18"/>
          <p:cNvSpPr/>
          <p:nvPr/>
        </p:nvSpPr>
        <p:spPr>
          <a:xfrm>
            <a:off x="4663440" y="1280160"/>
            <a:ext cx="384048" cy="384048"/>
          </a:xfrm>
          <a:prstGeom prst="ellipse">
            <a:avLst/>
          </a:prstGeom>
          <a:solidFill>
            <a:srgbClr val="F15A22"/>
          </a:solidFill>
          <a:ln w="12700">
            <a:solidFill>
              <a:srgbClr val="F15A22"/>
            </a:solidFill>
            <a:prstDash val="solid"/>
          </a:ln>
        </p:spPr>
      </p:sp>
      <p:sp>
        <p:nvSpPr>
          <p:cNvPr id="21" name="Text 19"/>
          <p:cNvSpPr txBox="1"/>
          <p:nvPr/>
        </p:nvSpPr>
        <p:spPr>
          <a:xfrm>
            <a:off x="4663440" y="12801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2.6</a:t>
            </a:r>
            <a:endParaRPr lang="en-US" sz="950" dirty="0"/>
          </a:p>
        </p:txBody>
      </p:sp>
      <p:sp>
        <p:nvSpPr>
          <p:cNvPr id="22" name="Text 20"/>
          <p:cNvSpPr txBox="1"/>
          <p:nvPr/>
        </p:nvSpPr>
        <p:spPr>
          <a:xfrm>
            <a:off x="5166360" y="1234440"/>
            <a:ext cx="3520440" cy="548640"/>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Total de requêtes par instance : est-ce un débit ?</a:t>
            </a:r>
            <a:endParaRPr lang="en-US" sz="1200" dirty="0"/>
          </a:p>
        </p:txBody>
      </p:sp>
      <p:sp>
        <p:nvSpPr>
          <p:cNvPr id="23" name="Shape 21"/>
          <p:cNvSpPr/>
          <p:nvPr/>
        </p:nvSpPr>
        <p:spPr>
          <a:xfrm>
            <a:off x="4663440" y="1938528"/>
            <a:ext cx="384048" cy="384048"/>
          </a:xfrm>
          <a:prstGeom prst="ellipse">
            <a:avLst/>
          </a:prstGeom>
          <a:solidFill>
            <a:srgbClr val="F15A22"/>
          </a:solidFill>
          <a:ln w="12700">
            <a:solidFill>
              <a:srgbClr val="F15A22"/>
            </a:solidFill>
            <a:prstDash val="solid"/>
          </a:ln>
        </p:spPr>
      </p:sp>
      <p:sp>
        <p:nvSpPr>
          <p:cNvPr id="24" name="Text 22"/>
          <p:cNvSpPr txBox="1"/>
          <p:nvPr/>
        </p:nvSpPr>
        <p:spPr>
          <a:xfrm>
            <a:off x="4663440" y="1938528"/>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2.7</a:t>
            </a:r>
            <a:endParaRPr lang="en-US" sz="950" dirty="0"/>
          </a:p>
        </p:txBody>
      </p:sp>
      <p:sp>
        <p:nvSpPr>
          <p:cNvPr id="25" name="Text 23"/>
          <p:cNvSpPr txBox="1"/>
          <p:nvPr/>
        </p:nvSpPr>
        <p:spPr>
          <a:xfrm>
            <a:off x="5166360" y="1892808"/>
            <a:ext cx="3520440" cy="548640"/>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without : garder tout sauf method, status, route</a:t>
            </a:r>
            <a:endParaRPr lang="en-US" sz="1200" dirty="0"/>
          </a:p>
        </p:txBody>
      </p:sp>
      <p:sp>
        <p:nvSpPr>
          <p:cNvPr id="26" name="Shape 24"/>
          <p:cNvSpPr/>
          <p:nvPr/>
        </p:nvSpPr>
        <p:spPr>
          <a:xfrm>
            <a:off x="4663440" y="2596896"/>
            <a:ext cx="384048" cy="384048"/>
          </a:xfrm>
          <a:prstGeom prst="ellipse">
            <a:avLst/>
          </a:prstGeom>
          <a:solidFill>
            <a:srgbClr val="F15A22"/>
          </a:solidFill>
          <a:ln w="12700">
            <a:solidFill>
              <a:srgbClr val="F15A22"/>
            </a:solidFill>
            <a:prstDash val="solid"/>
          </a:ln>
        </p:spPr>
      </p:sp>
      <p:sp>
        <p:nvSpPr>
          <p:cNvPr id="27" name="Text 25"/>
          <p:cNvSpPr txBox="1"/>
          <p:nvPr/>
        </p:nvSpPr>
        <p:spPr>
          <a:xfrm>
            <a:off x="4663440" y="2596896"/>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2.8</a:t>
            </a:r>
            <a:endParaRPr lang="en-US" sz="950" dirty="0"/>
          </a:p>
        </p:txBody>
      </p:sp>
      <p:sp>
        <p:nvSpPr>
          <p:cNvPr id="28" name="Text 26"/>
          <p:cNvSpPr txBox="1"/>
          <p:nvPr/>
        </p:nvSpPr>
        <p:spPr>
          <a:xfrm>
            <a:off x="5166360" y="2551176"/>
            <a:ext cx="3520440" cy="548640"/>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topk / bottomk sur le stock (deux instances !)</a:t>
            </a:r>
            <a:endParaRPr lang="en-US" sz="1200" dirty="0"/>
          </a:p>
        </p:txBody>
      </p:sp>
      <p:sp>
        <p:nvSpPr>
          <p:cNvPr id="29" name="Shape 27"/>
          <p:cNvSpPr/>
          <p:nvPr/>
        </p:nvSpPr>
        <p:spPr>
          <a:xfrm>
            <a:off x="4663440" y="3255264"/>
            <a:ext cx="384048" cy="384048"/>
          </a:xfrm>
          <a:prstGeom prst="ellipse">
            <a:avLst/>
          </a:prstGeom>
          <a:solidFill>
            <a:srgbClr val="F15A22"/>
          </a:solidFill>
          <a:ln w="12700">
            <a:solidFill>
              <a:srgbClr val="F15A22"/>
            </a:solidFill>
            <a:prstDash val="solid"/>
          </a:ln>
        </p:spPr>
      </p:sp>
      <p:sp>
        <p:nvSpPr>
          <p:cNvPr id="30" name="Text 28"/>
          <p:cNvSpPr txBox="1"/>
          <p:nvPr/>
        </p:nvSpPr>
        <p:spPr>
          <a:xfrm>
            <a:off x="4663440" y="3255264"/>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2.9</a:t>
            </a:r>
            <a:endParaRPr lang="en-US" sz="950" dirty="0"/>
          </a:p>
        </p:txBody>
      </p:sp>
      <p:sp>
        <p:nvSpPr>
          <p:cNvPr id="31" name="Text 29"/>
          <p:cNvSpPr txBox="1"/>
          <p:nvPr/>
        </p:nvSpPr>
        <p:spPr>
          <a:xfrm>
            <a:off x="5166360" y="3209544"/>
            <a:ext cx="3520440" cy="548640"/>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Stock &lt; 60, puis en bool</a:t>
            </a:r>
            <a:endParaRPr lang="en-US" sz="1200" dirty="0"/>
          </a:p>
        </p:txBody>
      </p:sp>
      <p:sp>
        <p:nvSpPr>
          <p:cNvPr id="32" name="Shape 30"/>
          <p:cNvSpPr/>
          <p:nvPr/>
        </p:nvSpPr>
        <p:spPr>
          <a:xfrm>
            <a:off x="4663440" y="3913632"/>
            <a:ext cx="384048" cy="384048"/>
          </a:xfrm>
          <a:prstGeom prst="ellipse">
            <a:avLst/>
          </a:prstGeom>
          <a:solidFill>
            <a:srgbClr val="F15A22"/>
          </a:solidFill>
          <a:ln w="12700">
            <a:solidFill>
              <a:srgbClr val="F15A22"/>
            </a:solidFill>
            <a:prstDash val="solid"/>
          </a:ln>
        </p:spPr>
      </p:sp>
      <p:sp>
        <p:nvSpPr>
          <p:cNvPr id="33" name="Text 31"/>
          <p:cNvSpPr txBox="1"/>
          <p:nvPr/>
        </p:nvSpPr>
        <p:spPr>
          <a:xfrm>
            <a:off x="4663440" y="3913632"/>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2.10</a:t>
            </a:r>
            <a:endParaRPr lang="en-US" sz="950" dirty="0"/>
          </a:p>
        </p:txBody>
      </p:sp>
      <p:sp>
        <p:nvSpPr>
          <p:cNvPr id="34" name="Text 32"/>
          <p:cNvSpPr txBox="1"/>
          <p:nvPr/>
        </p:nvSpPr>
        <p:spPr>
          <a:xfrm>
            <a:off x="5166360" y="3867912"/>
            <a:ext cx="3520440" cy="548640"/>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Routes distinctes : deux agrégations imbriquées</a:t>
            </a:r>
            <a:endParaRPr lang="en-US" sz="12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8</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PromQL avancé</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rate et ses cousins, histogrammes, jointures, recording rules, requêtes lentes.</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45</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rate, irate, increase</a:t>
            </a:r>
            <a:endParaRPr lang="en-US" sz="2800" dirty="0"/>
          </a:p>
        </p:txBody>
      </p:sp>
      <p:sp>
        <p:nvSpPr>
          <p:cNvPr id="5" name="Shape 3"/>
          <p:cNvSpPr/>
          <p:nvPr/>
        </p:nvSpPr>
        <p:spPr>
          <a:xfrm>
            <a:off x="457200" y="1234440"/>
            <a:ext cx="2590800" cy="2468880"/>
          </a:xfrm>
          <a:prstGeom prst="roundRect">
            <a:avLst>
              <a:gd name="adj" fmla="val 2963"/>
            </a:avLst>
          </a:prstGeom>
          <a:solidFill>
            <a:srgbClr val="F4F5F7"/>
          </a:solidFill>
          <a:ln w="12700">
            <a:solidFill>
              <a:srgbClr val="F4F5F7"/>
            </a:solidFill>
            <a:prstDash val="solid"/>
          </a:ln>
        </p:spPr>
      </p:sp>
      <p:sp>
        <p:nvSpPr>
          <p:cNvPr id="6" name="Text 4"/>
          <p:cNvSpPr txBox="1"/>
          <p:nvPr/>
        </p:nvSpPr>
        <p:spPr>
          <a:xfrm>
            <a:off x="6400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rate(x[5m])</a:t>
            </a:r>
            <a:endParaRPr lang="en-US" sz="1600" dirty="0"/>
          </a:p>
        </p:txBody>
      </p:sp>
      <p:sp>
        <p:nvSpPr>
          <p:cNvPr id="7" name="Text 5"/>
          <p:cNvSpPr txBox="1"/>
          <p:nvPr/>
        </p:nvSpPr>
        <p:spPr>
          <a:xfrm>
            <a:off x="6400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Pente moyenne par seconde sur 5 min. Lisse, robuste. LA fonction pour les graphiques et les alertes.</a:t>
            </a:r>
            <a:endParaRPr lang="en-US" sz="1300" dirty="0"/>
          </a:p>
        </p:txBody>
      </p:sp>
      <p:sp>
        <p:nvSpPr>
          <p:cNvPr id="8" name="Shape 6"/>
          <p:cNvSpPr/>
          <p:nvPr/>
        </p:nvSpPr>
        <p:spPr>
          <a:xfrm>
            <a:off x="3276600" y="1234440"/>
            <a:ext cx="2590800" cy="2468880"/>
          </a:xfrm>
          <a:prstGeom prst="roundRect">
            <a:avLst>
              <a:gd name="adj" fmla="val 2963"/>
            </a:avLst>
          </a:prstGeom>
          <a:solidFill>
            <a:srgbClr val="F4F5F7"/>
          </a:solidFill>
          <a:ln w="12700">
            <a:solidFill>
              <a:srgbClr val="F4F5F7"/>
            </a:solidFill>
            <a:prstDash val="solid"/>
          </a:ln>
        </p:spPr>
      </p:sp>
      <p:sp>
        <p:nvSpPr>
          <p:cNvPr id="9" name="Text 7"/>
          <p:cNvSpPr txBox="1"/>
          <p:nvPr/>
        </p:nvSpPr>
        <p:spPr>
          <a:xfrm>
            <a:off x="34594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irate(x[5m])</a:t>
            </a:r>
            <a:endParaRPr lang="en-US" sz="1600" dirty="0"/>
          </a:p>
        </p:txBody>
      </p:sp>
      <p:sp>
        <p:nvSpPr>
          <p:cNvPr id="10" name="Text 8"/>
          <p:cNvSpPr txBox="1"/>
          <p:nvPr/>
        </p:nvSpPr>
        <p:spPr>
          <a:xfrm>
            <a:off x="34594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Pente entre les deux derniers points. Réactif, nerveux. Graphiques haute résolution seulement, jamais une alerte.</a:t>
            </a:r>
            <a:endParaRPr lang="en-US" sz="1300" dirty="0"/>
          </a:p>
        </p:txBody>
      </p:sp>
      <p:sp>
        <p:nvSpPr>
          <p:cNvPr id="11" name="Shape 9"/>
          <p:cNvSpPr/>
          <p:nvPr/>
        </p:nvSpPr>
        <p:spPr>
          <a:xfrm>
            <a:off x="6096000" y="1234440"/>
            <a:ext cx="2590800" cy="2468880"/>
          </a:xfrm>
          <a:prstGeom prst="roundRect">
            <a:avLst>
              <a:gd name="adj" fmla="val 2963"/>
            </a:avLst>
          </a:prstGeom>
          <a:solidFill>
            <a:srgbClr val="F4F5F7"/>
          </a:solidFill>
          <a:ln w="12700">
            <a:solidFill>
              <a:srgbClr val="F4F5F7"/>
            </a:solidFill>
            <a:prstDash val="solid"/>
          </a:ln>
        </p:spPr>
      </p:sp>
      <p:sp>
        <p:nvSpPr>
          <p:cNvPr id="12" name="Text 10"/>
          <p:cNvSpPr txBox="1"/>
          <p:nvPr/>
        </p:nvSpPr>
        <p:spPr>
          <a:xfrm>
            <a:off x="62788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increase(x[1h])</a:t>
            </a:r>
            <a:endParaRPr lang="en-US" sz="1600" dirty="0"/>
          </a:p>
        </p:txBody>
      </p:sp>
      <p:sp>
        <p:nvSpPr>
          <p:cNvPr id="13" name="Text 11"/>
          <p:cNvSpPr txBox="1"/>
          <p:nvPr/>
        </p:nvSpPr>
        <p:spPr>
          <a:xfrm>
            <a:off x="62788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De combien le compteur a augmenté. rate × durée. Peut donner 5,53 commandes : round() si besoin.</a:t>
            </a:r>
            <a:endParaRPr lang="en-US" sz="13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46</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 taux d'erreur et le p95</a:t>
            </a:r>
            <a:endParaRPr lang="en-US" sz="2800" dirty="0"/>
          </a:p>
        </p:txBody>
      </p:sp>
      <p:sp>
        <p:nvSpPr>
          <p:cNvPr id="5" name="Shape 3"/>
          <p:cNvSpPr/>
          <p:nvPr/>
        </p:nvSpPr>
        <p:spPr>
          <a:xfrm>
            <a:off x="457200" y="1234440"/>
            <a:ext cx="5943600" cy="3429000"/>
          </a:xfrm>
          <a:prstGeom prst="roundRect">
            <a:avLst>
              <a:gd name="adj" fmla="val 2133"/>
            </a:avLst>
          </a:prstGeom>
          <a:solidFill>
            <a:srgbClr val="1E2633"/>
          </a:solidFill>
          <a:ln w="12700">
            <a:solidFill>
              <a:srgbClr val="1E2633"/>
            </a:solidFill>
            <a:prstDash val="solid"/>
          </a:ln>
        </p:spPr>
      </p:sp>
      <p:sp>
        <p:nvSpPr>
          <p:cNvPr id="6" name="Text 4"/>
          <p:cNvSpPr txBox="1"/>
          <p:nvPr/>
        </p:nvSpPr>
        <p:spPr>
          <a:xfrm>
            <a:off x="640080" y="1371600"/>
            <a:ext cx="5577840" cy="315468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 Le ratio le plus écrit au monde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sum(rate(http_requests_total{status=~"5.."}[5m]))</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sum(rate(http_requests_total[5m]))</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Piège : pas de 5xx jamais vue = numérateur VIDE, pas zéro</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sum(rate(http_requests_total{status=~"5.."}[5m])) or vector(0)</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Le p95 : rate sur chaque bucket, sum EN GARDANT le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histogram_quantile(0.95,</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sum by (le) (rate(http_request_duration_seconds_bucket[5m])))</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Latence moyenne : vraie, jamais utile pour un SLO</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rate(x_sum[5m]) / rate(x_count[5m])</a:t>
            </a:r>
            <a:endParaRPr lang="en-US" sz="1000" dirty="0"/>
          </a:p>
        </p:txBody>
      </p:sp>
      <p:sp>
        <p:nvSpPr>
          <p:cNvPr id="7" name="Text 5"/>
          <p:cNvSpPr txBox="1"/>
          <p:nvPr/>
        </p:nvSpPr>
        <p:spPr>
          <a:xfrm>
            <a:off x="6583680" y="1234440"/>
            <a:ext cx="2103120" cy="342900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Sans by (le), la fonction ne peut plus rien faire</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Le p95 est borné par la précision des buckets</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Native histograms : un échantillon par série, buckets exponentiels, encore en feature flag</a:t>
            </a:r>
            <a:endParaRPr lang="en-US" sz="11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47</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Dans le temps, entre séries</a:t>
            </a:r>
            <a:endParaRPr lang="en-US" sz="2800" dirty="0"/>
          </a:p>
        </p:txBody>
      </p:sp>
      <p:sp>
        <p:nvSpPr>
          <p:cNvPr id="5" name="Shape 3"/>
          <p:cNvSpPr/>
          <p:nvPr/>
        </p:nvSpPr>
        <p:spPr>
          <a:xfrm>
            <a:off x="457200" y="1234440"/>
            <a:ext cx="5943600" cy="3429000"/>
          </a:xfrm>
          <a:prstGeom prst="roundRect">
            <a:avLst>
              <a:gd name="adj" fmla="val 2133"/>
            </a:avLst>
          </a:prstGeom>
          <a:solidFill>
            <a:srgbClr val="1E2633"/>
          </a:solidFill>
          <a:ln w="12700">
            <a:solidFill>
              <a:srgbClr val="1E2633"/>
            </a:solidFill>
            <a:prstDash val="solid"/>
          </a:ln>
        </p:spPr>
      </p:sp>
      <p:sp>
        <p:nvSpPr>
          <p:cNvPr id="6" name="Text 4"/>
          <p:cNvSpPr txBox="1"/>
          <p:nvPr/>
        </p:nvSpPr>
        <p:spPr>
          <a:xfrm>
            <a:off x="640080" y="1371600"/>
            <a:ext cx="5577840" cy="315468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max_over_time(shop_cart_items[1h])              # pic d'une gauge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predict_linear(node_filesystem_avail_bytes[6h], 86400) &lt; 0  # plein demain ?</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changes(shop_chaos_mode[10m])   deriv(…)   avg_over_time(…)</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max_over_time(rate(x[1m])[1h:1m])             # sous-requête : pic de débit</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Jointure avec une info metric : récupérer version</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shop_stock_units * on (instance) group_left(version) shop_app_info</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label_replace(up, "pod", "$1", "instance", "(.*):5000")</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absent(up{job="paiement"})                    # 1 si la série n'existe pas</a:t>
            </a:r>
            <a:endParaRPr lang="en-US" sz="1000" dirty="0"/>
          </a:p>
        </p:txBody>
      </p:sp>
      <p:sp>
        <p:nvSpPr>
          <p:cNvPr id="7" name="Text 5"/>
          <p:cNvSpPr txBox="1"/>
          <p:nvPr/>
        </p:nvSpPr>
        <p:spPr>
          <a:xfrm>
            <a:off x="6583680" y="1234440"/>
            <a:ext cx="2103120" cy="342900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_over_time : les gauges dans le temps</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Sous-requêtes : puissant, coûteux</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on / ignoring / group_left : quand les labels diffèrent</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absent() : la seule façon d'alerter sur une disparition</a:t>
            </a:r>
            <a:endParaRPr lang="en-US" sz="11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48</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Recording rules et requêtes lentes</a:t>
            </a:r>
            <a:endParaRPr lang="en-US" sz="2800" dirty="0"/>
          </a:p>
        </p:txBody>
      </p:sp>
      <p:sp>
        <p:nvSpPr>
          <p:cNvPr id="5" name="Shape 3"/>
          <p:cNvSpPr/>
          <p:nvPr/>
        </p:nvSpPr>
        <p:spPr>
          <a:xfrm>
            <a:off x="457200" y="1234440"/>
            <a:ext cx="3977640" cy="3429000"/>
          </a:xfrm>
          <a:prstGeom prst="roundRect">
            <a:avLst>
              <a:gd name="adj" fmla="val 2133"/>
            </a:avLst>
          </a:prstGeom>
          <a:solidFill>
            <a:srgbClr val="F4F5F7"/>
          </a:solidFill>
          <a:ln w="12700">
            <a:solidFill>
              <a:srgbClr val="F4F5F7"/>
            </a:solidFill>
            <a:prstDash val="solid"/>
          </a:ln>
        </p:spPr>
      </p:sp>
      <p:sp>
        <p:nvSpPr>
          <p:cNvPr id="6" name="Text 4"/>
          <p:cNvSpPr txBox="1"/>
          <p:nvPr/>
        </p:nvSpPr>
        <p:spPr>
          <a:xfrm>
            <a:off x="68580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Recording rules</a:t>
            </a:r>
            <a:endParaRPr lang="en-US" sz="1700" dirty="0"/>
          </a:p>
        </p:txBody>
      </p:sp>
      <p:sp>
        <p:nvSpPr>
          <p:cNvPr id="7" name="Text 5"/>
          <p:cNvSpPr txBox="1"/>
          <p:nvPr/>
        </p:nvSpPr>
        <p:spPr>
          <a:xfrm>
            <a:off x="68580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Une requête coûteuse ou réutilisée partout se pré-calcule toutes les 15 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Convention niveau:metrique:operations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job:http_requests:rate5m</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Dashboards instantanés, alertes simples, agrégé prêt pour le long terme</a:t>
            </a:r>
            <a:endParaRPr lang="en-US" sz="1300" dirty="0"/>
          </a:p>
        </p:txBody>
      </p:sp>
      <p:sp>
        <p:nvSpPr>
          <p:cNvPr id="8" name="Shape 6"/>
          <p:cNvSpPr/>
          <p:nvPr/>
        </p:nvSpPr>
        <p:spPr>
          <a:xfrm>
            <a:off x="4709160" y="1234440"/>
            <a:ext cx="3977640" cy="3429000"/>
          </a:xfrm>
          <a:prstGeom prst="roundRect">
            <a:avLst>
              <a:gd name="adj" fmla="val 2133"/>
            </a:avLst>
          </a:prstGeom>
          <a:solidFill>
            <a:srgbClr val="F4F5F7"/>
          </a:solidFill>
          <a:ln w="12700">
            <a:solidFill>
              <a:srgbClr val="F4F5F7"/>
            </a:solidFill>
            <a:prstDash val="solid"/>
          </a:ln>
        </p:spPr>
      </p:sp>
      <p:sp>
        <p:nvSpPr>
          <p:cNvPr id="9" name="Text 7"/>
          <p:cNvSpPr txBox="1"/>
          <p:nvPr/>
        </p:nvSpPr>
        <p:spPr>
          <a:xfrm>
            <a:off x="493776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Ce qui rend une requête lente</a:t>
            </a:r>
            <a:endParaRPr lang="en-US" sz="1700" dirty="0"/>
          </a:p>
        </p:txBody>
      </p:sp>
      <p:sp>
        <p:nvSpPr>
          <p:cNvPr id="10" name="Text 8"/>
          <p:cNvSpPr txBox="1"/>
          <p:nvPr/>
        </p:nvSpPr>
        <p:spPr>
          <a:xfrm>
            <a:off x="493776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Séries touchées × points par série</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Filtrer par job avant d'agréger, éviter les regex larges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Fenêtres courtes, sous-requêtes avec parcimonie</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prometheus_engine_query_duration_seconds, ?stats=all, Query inspector</a:t>
            </a:r>
            <a:endParaRPr lang="en-US" sz="13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49</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Série B — taux, quantiles, jointures (40 min)</a:t>
            </a:r>
            <a:endParaRPr lang="en-US" sz="2800" dirty="0"/>
          </a:p>
        </p:txBody>
      </p:sp>
      <p:sp>
        <p:nvSpPr>
          <p:cNvPr id="5" name="Shape 3"/>
          <p:cNvSpPr/>
          <p:nvPr/>
        </p:nvSpPr>
        <p:spPr>
          <a:xfrm>
            <a:off x="457200" y="1280160"/>
            <a:ext cx="384048" cy="384048"/>
          </a:xfrm>
          <a:prstGeom prst="ellipse">
            <a:avLst/>
          </a:prstGeom>
          <a:solidFill>
            <a:srgbClr val="F15A22"/>
          </a:solidFill>
          <a:ln w="12700">
            <a:solidFill>
              <a:srgbClr val="F15A22"/>
            </a:solidFill>
            <a:prstDash val="solid"/>
          </a:ln>
        </p:spPr>
      </p:sp>
      <p:sp>
        <p:nvSpPr>
          <p:cNvPr id="6" name="Text 4"/>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2.11</a:t>
            </a:r>
            <a:endParaRPr lang="en-US" sz="950" dirty="0"/>
          </a:p>
        </p:txBody>
      </p:sp>
      <p:sp>
        <p:nvSpPr>
          <p:cNvPr id="7" name="Text 5"/>
          <p:cNvSpPr txBox="1"/>
          <p:nvPr/>
        </p:nvSpPr>
        <p:spPr>
          <a:xfrm>
            <a:off x="960120" y="1234440"/>
            <a:ext cx="3520440" cy="548640"/>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Débit par route</a:t>
            </a:r>
            <a:endParaRPr lang="en-US" sz="1200" dirty="0"/>
          </a:p>
        </p:txBody>
      </p:sp>
      <p:sp>
        <p:nvSpPr>
          <p:cNvPr id="8" name="Shape 6"/>
          <p:cNvSpPr/>
          <p:nvPr/>
        </p:nvSpPr>
        <p:spPr>
          <a:xfrm>
            <a:off x="457200" y="1938528"/>
            <a:ext cx="384048" cy="384048"/>
          </a:xfrm>
          <a:prstGeom prst="ellipse">
            <a:avLst/>
          </a:prstGeom>
          <a:solidFill>
            <a:srgbClr val="F15A22"/>
          </a:solidFill>
          <a:ln w="12700">
            <a:solidFill>
              <a:srgbClr val="F15A22"/>
            </a:solidFill>
            <a:prstDash val="solid"/>
          </a:ln>
        </p:spPr>
      </p:sp>
      <p:sp>
        <p:nvSpPr>
          <p:cNvPr id="9" name="Text 7"/>
          <p:cNvSpPr txBox="1"/>
          <p:nvPr/>
        </p:nvSpPr>
        <p:spPr>
          <a:xfrm>
            <a:off x="457200" y="1938528"/>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2.12</a:t>
            </a:r>
            <a:endParaRPr lang="en-US" sz="950" dirty="0"/>
          </a:p>
        </p:txBody>
      </p:sp>
      <p:sp>
        <p:nvSpPr>
          <p:cNvPr id="10" name="Text 8"/>
          <p:cNvSpPr txBox="1"/>
          <p:nvPr/>
        </p:nvSpPr>
        <p:spPr>
          <a:xfrm>
            <a:off x="960120" y="1892808"/>
            <a:ext cx="3520440" cy="548640"/>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Commandes sur 1 h, par moyen de paiement</a:t>
            </a:r>
            <a:endParaRPr lang="en-US" sz="1200" dirty="0"/>
          </a:p>
        </p:txBody>
      </p:sp>
      <p:sp>
        <p:nvSpPr>
          <p:cNvPr id="11" name="Shape 9"/>
          <p:cNvSpPr/>
          <p:nvPr/>
        </p:nvSpPr>
        <p:spPr>
          <a:xfrm>
            <a:off x="457200" y="2596896"/>
            <a:ext cx="384048" cy="384048"/>
          </a:xfrm>
          <a:prstGeom prst="ellipse">
            <a:avLst/>
          </a:prstGeom>
          <a:solidFill>
            <a:srgbClr val="F15A22"/>
          </a:solidFill>
          <a:ln w="12700">
            <a:solidFill>
              <a:srgbClr val="F15A22"/>
            </a:solidFill>
            <a:prstDash val="solid"/>
          </a:ln>
        </p:spPr>
      </p:sp>
      <p:sp>
        <p:nvSpPr>
          <p:cNvPr id="12" name="Text 10"/>
          <p:cNvSpPr txBox="1"/>
          <p:nvPr/>
        </p:nvSpPr>
        <p:spPr>
          <a:xfrm>
            <a:off x="457200" y="2596896"/>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2.13</a:t>
            </a:r>
            <a:endParaRPr lang="en-US" sz="950" dirty="0"/>
          </a:p>
        </p:txBody>
      </p:sp>
      <p:sp>
        <p:nvSpPr>
          <p:cNvPr id="13" name="Text 11"/>
          <p:cNvSpPr txBox="1"/>
          <p:nvPr/>
        </p:nvSpPr>
        <p:spPr>
          <a:xfrm>
            <a:off x="960120" y="2551176"/>
            <a:ext cx="3520440" cy="548640"/>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Chiffre d'affaires par heure</a:t>
            </a:r>
            <a:endParaRPr lang="en-US" sz="1200" dirty="0"/>
          </a:p>
        </p:txBody>
      </p:sp>
      <p:sp>
        <p:nvSpPr>
          <p:cNvPr id="14" name="Shape 12"/>
          <p:cNvSpPr/>
          <p:nvPr/>
        </p:nvSpPr>
        <p:spPr>
          <a:xfrm>
            <a:off x="457200" y="3255264"/>
            <a:ext cx="384048" cy="384048"/>
          </a:xfrm>
          <a:prstGeom prst="ellipse">
            <a:avLst/>
          </a:prstGeom>
          <a:solidFill>
            <a:srgbClr val="F15A22"/>
          </a:solidFill>
          <a:ln w="12700">
            <a:solidFill>
              <a:srgbClr val="F15A22"/>
            </a:solidFill>
            <a:prstDash val="solid"/>
          </a:ln>
        </p:spPr>
      </p:sp>
      <p:sp>
        <p:nvSpPr>
          <p:cNvPr id="15" name="Text 13"/>
          <p:cNvSpPr txBox="1"/>
          <p:nvPr/>
        </p:nvSpPr>
        <p:spPr>
          <a:xfrm>
            <a:off x="457200" y="3255264"/>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2.14</a:t>
            </a:r>
            <a:endParaRPr lang="en-US" sz="950" dirty="0"/>
          </a:p>
        </p:txBody>
      </p:sp>
      <p:sp>
        <p:nvSpPr>
          <p:cNvPr id="16" name="Text 14"/>
          <p:cNvSpPr txBox="1"/>
          <p:nvPr/>
        </p:nvSpPr>
        <p:spPr>
          <a:xfrm>
            <a:off x="960120" y="3209544"/>
            <a:ext cx="3520440" cy="548640"/>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Taux d'erreur % + chaos errors</a:t>
            </a:r>
            <a:endParaRPr lang="en-US" sz="1200" dirty="0"/>
          </a:p>
        </p:txBody>
      </p:sp>
      <p:sp>
        <p:nvSpPr>
          <p:cNvPr id="17" name="Shape 15"/>
          <p:cNvSpPr/>
          <p:nvPr/>
        </p:nvSpPr>
        <p:spPr>
          <a:xfrm>
            <a:off x="457200" y="3913632"/>
            <a:ext cx="384048" cy="384048"/>
          </a:xfrm>
          <a:prstGeom prst="ellipse">
            <a:avLst/>
          </a:prstGeom>
          <a:solidFill>
            <a:srgbClr val="F15A22"/>
          </a:solidFill>
          <a:ln w="12700">
            <a:solidFill>
              <a:srgbClr val="F15A22"/>
            </a:solidFill>
            <a:prstDash val="solid"/>
          </a:ln>
        </p:spPr>
      </p:sp>
      <p:sp>
        <p:nvSpPr>
          <p:cNvPr id="18" name="Text 16"/>
          <p:cNvSpPr txBox="1"/>
          <p:nvPr/>
        </p:nvSpPr>
        <p:spPr>
          <a:xfrm>
            <a:off x="457200" y="3913632"/>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2.15</a:t>
            </a:r>
            <a:endParaRPr lang="en-US" sz="950" dirty="0"/>
          </a:p>
        </p:txBody>
      </p:sp>
      <p:sp>
        <p:nvSpPr>
          <p:cNvPr id="19" name="Text 17"/>
          <p:cNvSpPr txBox="1"/>
          <p:nvPr/>
        </p:nvSpPr>
        <p:spPr>
          <a:xfrm>
            <a:off x="960120" y="3867912"/>
            <a:ext cx="3520440" cy="548640"/>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p50 / p95 / p99, puis checkout seul</a:t>
            </a:r>
            <a:endParaRPr lang="en-US" sz="1200" dirty="0"/>
          </a:p>
        </p:txBody>
      </p:sp>
      <p:sp>
        <p:nvSpPr>
          <p:cNvPr id="20" name="Shape 18"/>
          <p:cNvSpPr/>
          <p:nvPr/>
        </p:nvSpPr>
        <p:spPr>
          <a:xfrm>
            <a:off x="457200" y="4572000"/>
            <a:ext cx="384048" cy="384048"/>
          </a:xfrm>
          <a:prstGeom prst="ellipse">
            <a:avLst/>
          </a:prstGeom>
          <a:solidFill>
            <a:srgbClr val="F15A22"/>
          </a:solidFill>
          <a:ln w="12700">
            <a:solidFill>
              <a:srgbClr val="F15A22"/>
            </a:solidFill>
            <a:prstDash val="solid"/>
          </a:ln>
        </p:spPr>
      </p:sp>
      <p:sp>
        <p:nvSpPr>
          <p:cNvPr id="21" name="Text 19"/>
          <p:cNvSpPr txBox="1"/>
          <p:nvPr/>
        </p:nvSpPr>
        <p:spPr>
          <a:xfrm>
            <a:off x="457200" y="457200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2.16</a:t>
            </a:r>
            <a:endParaRPr lang="en-US" sz="950" dirty="0"/>
          </a:p>
        </p:txBody>
      </p:sp>
      <p:sp>
        <p:nvSpPr>
          <p:cNvPr id="22" name="Text 20"/>
          <p:cNvSpPr txBox="1"/>
          <p:nvPr/>
        </p:nvSpPr>
        <p:spPr>
          <a:xfrm>
            <a:off x="960120" y="4526280"/>
            <a:ext cx="3520440" cy="548640"/>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Latence moyenne vs p95</a:t>
            </a:r>
            <a:endParaRPr lang="en-US" sz="1200" dirty="0"/>
          </a:p>
        </p:txBody>
      </p:sp>
      <p:sp>
        <p:nvSpPr>
          <p:cNvPr id="23" name="Shape 21"/>
          <p:cNvSpPr/>
          <p:nvPr/>
        </p:nvSpPr>
        <p:spPr>
          <a:xfrm>
            <a:off x="4663440" y="1280160"/>
            <a:ext cx="384048" cy="384048"/>
          </a:xfrm>
          <a:prstGeom prst="ellipse">
            <a:avLst/>
          </a:prstGeom>
          <a:solidFill>
            <a:srgbClr val="F15A22"/>
          </a:solidFill>
          <a:ln w="12700">
            <a:solidFill>
              <a:srgbClr val="F15A22"/>
            </a:solidFill>
            <a:prstDash val="solid"/>
          </a:ln>
        </p:spPr>
      </p:sp>
      <p:sp>
        <p:nvSpPr>
          <p:cNvPr id="24" name="Text 22"/>
          <p:cNvSpPr txBox="1"/>
          <p:nvPr/>
        </p:nvSpPr>
        <p:spPr>
          <a:xfrm>
            <a:off x="4663440" y="12801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2.17</a:t>
            </a:r>
            <a:endParaRPr lang="en-US" sz="950" dirty="0"/>
          </a:p>
        </p:txBody>
      </p:sp>
      <p:sp>
        <p:nvSpPr>
          <p:cNvPr id="25" name="Text 23"/>
          <p:cNvSpPr txBox="1"/>
          <p:nvPr/>
        </p:nvSpPr>
        <p:spPr>
          <a:xfrm>
            <a:off x="5166360" y="1234440"/>
            <a:ext cx="3520440" cy="548640"/>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CPU % par instance, puis par mode</a:t>
            </a:r>
            <a:endParaRPr lang="en-US" sz="1200" dirty="0"/>
          </a:p>
        </p:txBody>
      </p:sp>
      <p:sp>
        <p:nvSpPr>
          <p:cNvPr id="26" name="Shape 24"/>
          <p:cNvSpPr/>
          <p:nvPr/>
        </p:nvSpPr>
        <p:spPr>
          <a:xfrm>
            <a:off x="4663440" y="1938528"/>
            <a:ext cx="384048" cy="384048"/>
          </a:xfrm>
          <a:prstGeom prst="ellipse">
            <a:avLst/>
          </a:prstGeom>
          <a:solidFill>
            <a:srgbClr val="F15A22"/>
          </a:solidFill>
          <a:ln w="12700">
            <a:solidFill>
              <a:srgbClr val="F15A22"/>
            </a:solidFill>
            <a:prstDash val="solid"/>
          </a:ln>
        </p:spPr>
      </p:sp>
      <p:sp>
        <p:nvSpPr>
          <p:cNvPr id="27" name="Text 25"/>
          <p:cNvSpPr txBox="1"/>
          <p:nvPr/>
        </p:nvSpPr>
        <p:spPr>
          <a:xfrm>
            <a:off x="4663440" y="1938528"/>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2.18</a:t>
            </a:r>
            <a:endParaRPr lang="en-US" sz="950" dirty="0"/>
          </a:p>
        </p:txBody>
      </p:sp>
      <p:sp>
        <p:nvSpPr>
          <p:cNvPr id="28" name="Text 26"/>
          <p:cNvSpPr txBox="1"/>
          <p:nvPr/>
        </p:nvSpPr>
        <p:spPr>
          <a:xfrm>
            <a:off x="5166360" y="1892808"/>
            <a:ext cx="3520440" cy="548640"/>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Réseau entrant en bits/s</a:t>
            </a:r>
            <a:endParaRPr lang="en-US" sz="1200" dirty="0"/>
          </a:p>
        </p:txBody>
      </p:sp>
      <p:sp>
        <p:nvSpPr>
          <p:cNvPr id="29" name="Shape 27"/>
          <p:cNvSpPr/>
          <p:nvPr/>
        </p:nvSpPr>
        <p:spPr>
          <a:xfrm>
            <a:off x="4663440" y="2596896"/>
            <a:ext cx="384048" cy="384048"/>
          </a:xfrm>
          <a:prstGeom prst="ellipse">
            <a:avLst/>
          </a:prstGeom>
          <a:solidFill>
            <a:srgbClr val="F15A22"/>
          </a:solidFill>
          <a:ln w="12700">
            <a:solidFill>
              <a:srgbClr val="F15A22"/>
            </a:solidFill>
            <a:prstDash val="solid"/>
          </a:ln>
        </p:spPr>
      </p:sp>
      <p:sp>
        <p:nvSpPr>
          <p:cNvPr id="30" name="Text 28"/>
          <p:cNvSpPr txBox="1"/>
          <p:nvPr/>
        </p:nvSpPr>
        <p:spPr>
          <a:xfrm>
            <a:off x="4663440" y="2596896"/>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2.19</a:t>
            </a:r>
            <a:endParaRPr lang="en-US" sz="950" dirty="0"/>
          </a:p>
        </p:txBody>
      </p:sp>
      <p:sp>
        <p:nvSpPr>
          <p:cNvPr id="31" name="Text 29"/>
          <p:cNvSpPr txBox="1"/>
          <p:nvPr/>
        </p:nvSpPr>
        <p:spPr>
          <a:xfrm>
            <a:off x="5166360" y="2551176"/>
            <a:ext cx="3520440" cy="548640"/>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Pics sur 1 h (sous-requête)</a:t>
            </a:r>
            <a:endParaRPr lang="en-US" sz="1200" dirty="0"/>
          </a:p>
        </p:txBody>
      </p:sp>
      <p:sp>
        <p:nvSpPr>
          <p:cNvPr id="32" name="Shape 30"/>
          <p:cNvSpPr/>
          <p:nvPr/>
        </p:nvSpPr>
        <p:spPr>
          <a:xfrm>
            <a:off x="4663440" y="3255264"/>
            <a:ext cx="384048" cy="384048"/>
          </a:xfrm>
          <a:prstGeom prst="ellipse">
            <a:avLst/>
          </a:prstGeom>
          <a:solidFill>
            <a:srgbClr val="F15A22"/>
          </a:solidFill>
          <a:ln w="12700">
            <a:solidFill>
              <a:srgbClr val="F15A22"/>
            </a:solidFill>
            <a:prstDash val="solid"/>
          </a:ln>
        </p:spPr>
      </p:sp>
      <p:sp>
        <p:nvSpPr>
          <p:cNvPr id="33" name="Text 31"/>
          <p:cNvSpPr txBox="1"/>
          <p:nvPr/>
        </p:nvSpPr>
        <p:spPr>
          <a:xfrm>
            <a:off x="4663440" y="3255264"/>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2.20</a:t>
            </a:r>
            <a:endParaRPr lang="en-US" sz="950" dirty="0"/>
          </a:p>
        </p:txBody>
      </p:sp>
      <p:sp>
        <p:nvSpPr>
          <p:cNvPr id="34" name="Text 32"/>
          <p:cNvSpPr txBox="1"/>
          <p:nvPr/>
        </p:nvSpPr>
        <p:spPr>
          <a:xfrm>
            <a:off x="5166360" y="3209544"/>
            <a:ext cx="3520440" cy="548640"/>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Ajouter le label version (group_left)</a:t>
            </a:r>
            <a:endParaRPr lang="en-US" sz="1200" dirty="0"/>
          </a:p>
        </p:txBody>
      </p:sp>
      <p:sp>
        <p:nvSpPr>
          <p:cNvPr id="35" name="Shape 33"/>
          <p:cNvSpPr/>
          <p:nvPr/>
        </p:nvSpPr>
        <p:spPr>
          <a:xfrm>
            <a:off x="4663440" y="3913632"/>
            <a:ext cx="384048" cy="384048"/>
          </a:xfrm>
          <a:prstGeom prst="ellipse">
            <a:avLst/>
          </a:prstGeom>
          <a:solidFill>
            <a:srgbClr val="F15A22"/>
          </a:solidFill>
          <a:ln w="12700">
            <a:solidFill>
              <a:srgbClr val="F15A22"/>
            </a:solidFill>
            <a:prstDash val="solid"/>
          </a:ln>
        </p:spPr>
      </p:sp>
      <p:sp>
        <p:nvSpPr>
          <p:cNvPr id="36" name="Text 34"/>
          <p:cNvSpPr txBox="1"/>
          <p:nvPr/>
        </p:nvSpPr>
        <p:spPr>
          <a:xfrm>
            <a:off x="4663440" y="3913632"/>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2.21</a:t>
            </a:r>
            <a:endParaRPr lang="en-US" sz="950" dirty="0"/>
          </a:p>
        </p:txBody>
      </p:sp>
      <p:sp>
        <p:nvSpPr>
          <p:cNvPr id="37" name="Text 35"/>
          <p:cNvSpPr txBox="1"/>
          <p:nvPr/>
        </p:nvSpPr>
        <p:spPr>
          <a:xfrm>
            <a:off x="5166360" y="3867912"/>
            <a:ext cx="3520440" cy="548640"/>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Le job paiement existe-t-il ? absent()</a:t>
            </a:r>
            <a:endParaRPr lang="en-US" sz="1200" dirty="0"/>
          </a:p>
        </p:txBody>
      </p:sp>
      <p:sp>
        <p:nvSpPr>
          <p:cNvPr id="38" name="Shape 36"/>
          <p:cNvSpPr/>
          <p:nvPr/>
        </p:nvSpPr>
        <p:spPr>
          <a:xfrm>
            <a:off x="4663440" y="4572000"/>
            <a:ext cx="384048" cy="384048"/>
          </a:xfrm>
          <a:prstGeom prst="ellipse">
            <a:avLst/>
          </a:prstGeom>
          <a:solidFill>
            <a:srgbClr val="F15A22"/>
          </a:solidFill>
          <a:ln w="12700">
            <a:solidFill>
              <a:srgbClr val="F15A22"/>
            </a:solidFill>
            <a:prstDash val="solid"/>
          </a:ln>
        </p:spPr>
      </p:sp>
      <p:sp>
        <p:nvSpPr>
          <p:cNvPr id="39" name="Text 37"/>
          <p:cNvSpPr txBox="1"/>
          <p:nvPr/>
        </p:nvSpPr>
        <p:spPr>
          <a:xfrm>
            <a:off x="4663440" y="457200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2.22</a:t>
            </a:r>
            <a:endParaRPr lang="en-US" sz="950" dirty="0"/>
          </a:p>
        </p:txBody>
      </p:sp>
      <p:sp>
        <p:nvSpPr>
          <p:cNvPr id="40" name="Text 38"/>
          <p:cNvSpPr txBox="1"/>
          <p:nvPr/>
        </p:nvSpPr>
        <p:spPr>
          <a:xfrm>
            <a:off x="5166360" y="4526280"/>
            <a:ext cx="3520440" cy="548640"/>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predict_linear : CA dans 1 h, disque plein quand ?</a:t>
            </a:r>
            <a:endParaRPr lang="en-US" sz="12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0F2A4A"/>
        </a:solidFill>
      </p:bgPr>
    </p:bg>
    <p:spTree>
      <p:nvGrpSpPr>
        <p:cNvPr id="1" name=""/>
        <p:cNvGrpSpPr/>
        <p:nvPr/>
      </p:nvGrpSpPr>
      <p:grpSpPr>
        <a:xfrm>
          <a:off x="0" y="0"/>
          <a:ext cx="0" cy="0"/>
          <a:chOff x="0" y="0"/>
          <a:chExt cx="0" cy="0"/>
        </a:xfrm>
      </p:grpSpPr>
      <p:sp>
        <p:nvSpPr>
          <p:cNvPr id="2" name="Shape 0"/>
          <p:cNvSpPr/>
          <p:nvPr/>
        </p:nvSpPr>
        <p:spPr>
          <a:xfrm>
            <a:off x="457200" y="411480"/>
            <a:ext cx="1371600" cy="457200"/>
          </a:xfrm>
          <a:prstGeom prst="roundRect">
            <a:avLst>
              <a:gd name="adj" fmla="val 20000"/>
            </a:avLst>
          </a:prstGeom>
          <a:solidFill>
            <a:srgbClr val="F15A22"/>
          </a:solidFill>
          <a:ln w="12700">
            <a:solidFill>
              <a:srgbClr val="F15A22"/>
            </a:solidFill>
            <a:prstDash val="solid"/>
          </a:ln>
        </p:spPr>
      </p:sp>
      <p:sp>
        <p:nvSpPr>
          <p:cNvPr id="3" name="Text 1"/>
          <p:cNvSpPr txBox="1"/>
          <p:nvPr/>
        </p:nvSpPr>
        <p:spPr>
          <a:xfrm>
            <a:off x="457200" y="411480"/>
            <a:ext cx="13716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TP 3</a:t>
            </a:r>
            <a:endParaRPr lang="en-US" sz="1600" dirty="0"/>
          </a:p>
        </p:txBody>
      </p:sp>
      <p:sp>
        <p:nvSpPr>
          <p:cNvPr id="4" name="Text 2"/>
          <p:cNvSpPr txBox="1"/>
          <p:nvPr/>
        </p:nvSpPr>
        <p:spPr>
          <a:xfrm>
            <a:off x="2011680" y="365760"/>
            <a:ext cx="667512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Recording rules et tests unitaires</a:t>
            </a:r>
            <a:endParaRPr lang="en-US" sz="2400" dirty="0"/>
          </a:p>
        </p:txBody>
      </p:sp>
      <p:sp>
        <p:nvSpPr>
          <p:cNvPr id="5" name="Text 3"/>
          <p:cNvSpPr txBox="1"/>
          <p:nvPr/>
        </p:nvSpPr>
        <p:spPr>
          <a:xfrm>
            <a:off x="457200" y="1097280"/>
            <a:ext cx="1828800" cy="274320"/>
          </a:xfrm>
          <a:prstGeom prst="rect">
            <a:avLst/>
          </a:prstGeom>
          <a:noFill/>
          <a:ln/>
        </p:spPr>
        <p:txBody>
          <a:bodyPr wrap="square" lIns="0" tIns="0" rIns="0" bIns="0" rtlCol="0" anchor="ctr"/>
          <a:lstStyle/>
          <a:p>
            <a:pPr indent="0" marL="0">
              <a:buNone/>
            </a:pPr>
            <a:r>
              <a:rPr lang="en-US" sz="1200" b="1" spc="300" kern="0" dirty="0">
                <a:solidFill>
                  <a:srgbClr val="FFB48F"/>
                </a:solidFill>
                <a:latin typeface="Calibri" pitchFamily="34" charset="0"/>
                <a:ea typeface="Calibri" pitchFamily="34" charset="-122"/>
                <a:cs typeface="Calibri" pitchFamily="34" charset="-120"/>
              </a:rPr>
              <a:t>Mission</a:t>
            </a:r>
            <a:endParaRPr lang="en-US" sz="1200" dirty="0"/>
          </a:p>
        </p:txBody>
      </p:sp>
      <p:sp>
        <p:nvSpPr>
          <p:cNvPr id="6" name="Text 4"/>
          <p:cNvSpPr txBox="1"/>
          <p:nvPr/>
        </p:nvSpPr>
        <p:spPr>
          <a:xfrm>
            <a:off x="457200" y="1371600"/>
            <a:ext cx="8229600" cy="868680"/>
          </a:xfrm>
          <a:prstGeom prst="rect">
            <a:avLst/>
          </a:prstGeom>
          <a:noFill/>
          <a:ln/>
        </p:spPr>
        <p:txBody>
          <a:bodyPr wrap="square" lIns="0" tIns="0" rIns="0" bIns="0" rtlCol="0" anchor="t"/>
          <a:lstStyle/>
          <a:p>
            <a:pPr indent="0" marL="0">
              <a:buNone/>
            </a:pPr>
            <a:r>
              <a:rPr lang="en-US" sz="1500" dirty="0">
                <a:solidFill>
                  <a:srgbClr val="DBE6F3"/>
                </a:solidFill>
                <a:latin typeface="Calibri" pitchFamily="34" charset="0"/>
                <a:ea typeface="Calibri" pitchFamily="34" charset="-122"/>
                <a:cs typeface="Calibri" pitchFamily="34" charset="-120"/>
              </a:rPr>
              <a:t>Les panneaux débit, erreurs, p95 et CA par heure vont tourner sur un écran mural 24 h/24. On ne veut pas que Prometheus recalcule les histogrammes en permanence.</a:t>
            </a:r>
            <a:endParaRPr lang="en-US" sz="1500" dirty="0"/>
          </a:p>
        </p:txBody>
      </p:sp>
      <p:sp>
        <p:nvSpPr>
          <p:cNvPr id="7" name="Shape 5"/>
          <p:cNvSpPr/>
          <p:nvPr/>
        </p:nvSpPr>
        <p:spPr>
          <a:xfrm>
            <a:off x="457200" y="2377440"/>
            <a:ext cx="2621280" cy="2194560"/>
          </a:xfrm>
          <a:prstGeom prst="roundRect">
            <a:avLst>
              <a:gd name="adj" fmla="val 3333"/>
            </a:avLst>
          </a:prstGeom>
          <a:solidFill>
            <a:srgbClr val="163D6B"/>
          </a:solidFill>
          <a:ln w="12700">
            <a:solidFill>
              <a:srgbClr val="163D6B"/>
            </a:solidFill>
            <a:prstDash val="solid"/>
          </a:ln>
        </p:spPr>
      </p:sp>
      <p:sp>
        <p:nvSpPr>
          <p:cNvPr id="8" name="Shape 6"/>
          <p:cNvSpPr/>
          <p:nvPr/>
        </p:nvSpPr>
        <p:spPr>
          <a:xfrm>
            <a:off x="640080" y="2560320"/>
            <a:ext cx="347472" cy="347472"/>
          </a:xfrm>
          <a:prstGeom prst="ellipse">
            <a:avLst/>
          </a:prstGeom>
          <a:solidFill>
            <a:srgbClr val="F15A22"/>
          </a:solidFill>
          <a:ln w="12700">
            <a:solidFill>
              <a:srgbClr val="F15A22"/>
            </a:solidFill>
            <a:prstDash val="solid"/>
          </a:ln>
        </p:spPr>
      </p:sp>
      <p:sp>
        <p:nvSpPr>
          <p:cNvPr id="9" name="Text 7"/>
          <p:cNvSpPr txBox="1"/>
          <p:nvPr/>
        </p:nvSpPr>
        <p:spPr>
          <a:xfrm>
            <a:off x="64008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078992" y="2542032"/>
            <a:ext cx="184404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Écrire</a:t>
            </a:r>
            <a:endParaRPr lang="en-US" sz="1350" dirty="0"/>
          </a:p>
        </p:txBody>
      </p:sp>
      <p:sp>
        <p:nvSpPr>
          <p:cNvPr id="11" name="Text 9"/>
          <p:cNvSpPr txBox="1"/>
          <p:nvPr/>
        </p:nvSpPr>
        <p:spPr>
          <a:xfrm>
            <a:off x="640080" y="3017520"/>
            <a:ext cx="225552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Sept règles dans recording.yml : débit, erreurs, p95, CA, CPU, mémoire. Ratios 0-1, pas de %.</a:t>
            </a:r>
            <a:endParaRPr lang="en-US" sz="1150" dirty="0"/>
          </a:p>
        </p:txBody>
      </p:sp>
      <p:sp>
        <p:nvSpPr>
          <p:cNvPr id="12" name="Shape 10"/>
          <p:cNvSpPr/>
          <p:nvPr/>
        </p:nvSpPr>
        <p:spPr>
          <a:xfrm>
            <a:off x="3261360" y="2377440"/>
            <a:ext cx="2621280" cy="2194560"/>
          </a:xfrm>
          <a:prstGeom prst="roundRect">
            <a:avLst>
              <a:gd name="adj" fmla="val 3333"/>
            </a:avLst>
          </a:prstGeom>
          <a:solidFill>
            <a:srgbClr val="163D6B"/>
          </a:solidFill>
          <a:ln w="12700">
            <a:solidFill>
              <a:srgbClr val="163D6B"/>
            </a:solidFill>
            <a:prstDash val="solid"/>
          </a:ln>
        </p:spPr>
      </p:sp>
      <p:sp>
        <p:nvSpPr>
          <p:cNvPr id="13" name="Shape 11"/>
          <p:cNvSpPr/>
          <p:nvPr/>
        </p:nvSpPr>
        <p:spPr>
          <a:xfrm>
            <a:off x="3444240" y="2560320"/>
            <a:ext cx="347472" cy="347472"/>
          </a:xfrm>
          <a:prstGeom prst="ellipse">
            <a:avLst/>
          </a:prstGeom>
          <a:solidFill>
            <a:srgbClr val="F15A22"/>
          </a:solidFill>
          <a:ln w="12700">
            <a:solidFill>
              <a:srgbClr val="F15A22"/>
            </a:solidFill>
            <a:prstDash val="solid"/>
          </a:ln>
        </p:spPr>
      </p:sp>
      <p:sp>
        <p:nvSpPr>
          <p:cNvPr id="14" name="Text 12"/>
          <p:cNvSpPr txBox="1"/>
          <p:nvPr/>
        </p:nvSpPr>
        <p:spPr>
          <a:xfrm>
            <a:off x="344424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3883152" y="2542032"/>
            <a:ext cx="184404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Tester</a:t>
            </a:r>
            <a:endParaRPr lang="en-US" sz="1350" dirty="0"/>
          </a:p>
        </p:txBody>
      </p:sp>
      <p:sp>
        <p:nvSpPr>
          <p:cNvPr id="16" name="Text 14"/>
          <p:cNvSpPr txBox="1"/>
          <p:nvPr/>
        </p:nvSpPr>
        <p:spPr>
          <a:xfrm>
            <a:off x="3444240" y="3017520"/>
            <a:ext cx="225552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promtool test rules : une série 0+10x40, que vaut job:http_requests:rate5m à 5 min ?</a:t>
            </a:r>
            <a:endParaRPr lang="en-US" sz="1150" dirty="0"/>
          </a:p>
        </p:txBody>
      </p:sp>
      <p:sp>
        <p:nvSpPr>
          <p:cNvPr id="17" name="Shape 15"/>
          <p:cNvSpPr/>
          <p:nvPr/>
        </p:nvSpPr>
        <p:spPr>
          <a:xfrm>
            <a:off x="6065520" y="2377440"/>
            <a:ext cx="2621280" cy="2194560"/>
          </a:xfrm>
          <a:prstGeom prst="roundRect">
            <a:avLst>
              <a:gd name="adj" fmla="val 3333"/>
            </a:avLst>
          </a:prstGeom>
          <a:solidFill>
            <a:srgbClr val="163D6B"/>
          </a:solidFill>
          <a:ln w="12700">
            <a:solidFill>
              <a:srgbClr val="163D6B"/>
            </a:solidFill>
            <a:prstDash val="solid"/>
          </a:ln>
        </p:spPr>
      </p:sp>
      <p:sp>
        <p:nvSpPr>
          <p:cNvPr id="18" name="Shape 16"/>
          <p:cNvSpPr/>
          <p:nvPr/>
        </p:nvSpPr>
        <p:spPr>
          <a:xfrm>
            <a:off x="6248400" y="2560320"/>
            <a:ext cx="347472" cy="347472"/>
          </a:xfrm>
          <a:prstGeom prst="ellipse">
            <a:avLst/>
          </a:prstGeom>
          <a:solidFill>
            <a:srgbClr val="F15A22"/>
          </a:solidFill>
          <a:ln w="12700">
            <a:solidFill>
              <a:srgbClr val="F15A22"/>
            </a:solidFill>
            <a:prstDash val="solid"/>
          </a:ln>
        </p:spPr>
      </p:sp>
      <p:sp>
        <p:nvSpPr>
          <p:cNvPr id="19" name="Text 17"/>
          <p:cNvSpPr txBox="1"/>
          <p:nvPr/>
        </p:nvSpPr>
        <p:spPr>
          <a:xfrm>
            <a:off x="624840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6687312" y="2542032"/>
            <a:ext cx="184404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Mesurer</a:t>
            </a:r>
            <a:endParaRPr lang="en-US" sz="1350" dirty="0"/>
          </a:p>
        </p:txBody>
      </p:sp>
      <p:sp>
        <p:nvSpPr>
          <p:cNvPr id="21" name="Text 19"/>
          <p:cNvSpPr txBox="1"/>
          <p:nvPr/>
        </p:nvSpPr>
        <p:spPr>
          <a:xfrm>
            <a:off x="6248400" y="3017520"/>
            <a:ext cx="225552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Bonus : Query inspector, brute contre recording rule.</a:t>
            </a:r>
            <a:endParaRPr lang="en-US" sz="1150" dirty="0"/>
          </a:p>
        </p:txBody>
      </p:sp>
      <p:sp>
        <p:nvSpPr>
          <p:cNvPr id="22" name="Text 20"/>
          <p:cNvSpPr txBox="1"/>
          <p:nvPr/>
        </p:nvSpPr>
        <p:spPr>
          <a:xfrm>
            <a:off x="457200" y="4709160"/>
            <a:ext cx="8229600" cy="274320"/>
          </a:xfrm>
          <a:prstGeom prst="rect">
            <a:avLst/>
          </a:prstGeom>
          <a:noFill/>
          <a:ln/>
        </p:spPr>
        <p:txBody>
          <a:bodyPr wrap="square" lIns="0" tIns="0" rIns="0" bIns="0" rtlCol="0" anchor="ctr"/>
          <a:lstStyle/>
          <a:p>
            <a:pPr indent="0" marL="0">
              <a:buNone/>
            </a:pPr>
            <a:r>
              <a:rPr lang="en-US" sz="1000" i="1" dirty="0">
                <a:solidFill>
                  <a:srgbClr val="8FA3BD"/>
                </a:solidFill>
                <a:latin typeface="Calibri" pitchFamily="34" charset="0"/>
                <a:ea typeface="Calibri" pitchFamily="34" charset="-122"/>
                <a:cs typeface="Calibri" pitchFamily="34" charset="-120"/>
              </a:rPr>
              <a:t>Énoncé complet dans le guide stagiaire · corrigé projeté après recherche</a:t>
            </a:r>
            <a:endParaRPr lang="en-US" sz="10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9</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Grafana</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Sous le capot, les quatre concepts, ce qui rend un dashboard lisible.</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52</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Grafana, sous le capot</a:t>
            </a:r>
            <a:endParaRPr lang="en-US" sz="2800" dirty="0"/>
          </a:p>
        </p:txBody>
      </p:sp>
      <p:sp>
        <p:nvSpPr>
          <p:cNvPr id="5" name="Shape 3"/>
          <p:cNvSpPr/>
          <p:nvPr/>
        </p:nvSpPr>
        <p:spPr>
          <a:xfrm>
            <a:off x="457200" y="1234440"/>
            <a:ext cx="4000500" cy="1600200"/>
          </a:xfrm>
          <a:prstGeom prst="roundRect">
            <a:avLst>
              <a:gd name="adj" fmla="val 4571"/>
            </a:avLst>
          </a:prstGeom>
          <a:solidFill>
            <a:srgbClr val="F4F5F7"/>
          </a:solidFill>
          <a:ln w="12700">
            <a:solidFill>
              <a:srgbClr val="F4F5F7"/>
            </a:solidFill>
            <a:prstDash val="solid"/>
          </a:ln>
        </p:spPr>
      </p:sp>
      <p:sp>
        <p:nvSpPr>
          <p:cNvPr id="6" name="Text 4"/>
          <p:cNvSpPr txBox="1"/>
          <p:nvPr/>
        </p:nvSpPr>
        <p:spPr>
          <a:xfrm>
            <a:off x="6400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Un serveur Go</a:t>
            </a:r>
            <a:endParaRPr lang="en-US" sz="1500" dirty="0"/>
          </a:p>
        </p:txBody>
      </p:sp>
      <p:sp>
        <p:nvSpPr>
          <p:cNvPr id="7" name="Text 5"/>
          <p:cNvSpPr txBox="1"/>
          <p:nvPr/>
        </p:nvSpPr>
        <p:spPr>
          <a:xfrm>
            <a:off x="6400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Une base SQLite (grafana.db) ou PostgreSQL. Il ne stocke que sa configuration : utilisateurs, sources, dashboards en JSON, règles. Pas une seule métrique.</a:t>
            </a:r>
            <a:endParaRPr lang="en-US" sz="1200" dirty="0"/>
          </a:p>
        </p:txBody>
      </p:sp>
      <p:sp>
        <p:nvSpPr>
          <p:cNvPr id="8" name="Shape 6"/>
          <p:cNvSpPr/>
          <p:nvPr/>
        </p:nvSpPr>
        <p:spPr>
          <a:xfrm>
            <a:off x="4686300" y="1234440"/>
            <a:ext cx="4000500" cy="1600200"/>
          </a:xfrm>
          <a:prstGeom prst="roundRect">
            <a:avLst>
              <a:gd name="adj" fmla="val 4571"/>
            </a:avLst>
          </a:prstGeom>
          <a:solidFill>
            <a:srgbClr val="F4F5F7"/>
          </a:solidFill>
          <a:ln w="12700">
            <a:solidFill>
              <a:srgbClr val="F4F5F7"/>
            </a:solidFill>
            <a:prstDash val="solid"/>
          </a:ln>
        </p:spPr>
      </p:sp>
      <p:sp>
        <p:nvSpPr>
          <p:cNvPr id="9" name="Text 7"/>
          <p:cNvSpPr txBox="1"/>
          <p:nvPr/>
        </p:nvSpPr>
        <p:spPr>
          <a:xfrm>
            <a:off x="48691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Data source</a:t>
            </a:r>
            <a:endParaRPr lang="en-US" sz="1500" dirty="0"/>
          </a:p>
        </p:txBody>
      </p:sp>
      <p:sp>
        <p:nvSpPr>
          <p:cNvPr id="10" name="Text 8"/>
          <p:cNvSpPr txBox="1"/>
          <p:nvPr/>
        </p:nvSpPr>
        <p:spPr>
          <a:xfrm>
            <a:off x="48691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Une connexion. La nôtre est provisionnée par YAML : personne ne l'a cliquée.</a:t>
            </a:r>
            <a:endParaRPr lang="en-US" sz="1200" dirty="0"/>
          </a:p>
        </p:txBody>
      </p:sp>
      <p:sp>
        <p:nvSpPr>
          <p:cNvPr id="11" name="Shape 9"/>
          <p:cNvSpPr/>
          <p:nvPr/>
        </p:nvSpPr>
        <p:spPr>
          <a:xfrm>
            <a:off x="457200" y="3063240"/>
            <a:ext cx="4000500" cy="1600200"/>
          </a:xfrm>
          <a:prstGeom prst="roundRect">
            <a:avLst>
              <a:gd name="adj" fmla="val 4571"/>
            </a:avLst>
          </a:prstGeom>
          <a:solidFill>
            <a:srgbClr val="F4F5F7"/>
          </a:solidFill>
          <a:ln w="12700">
            <a:solidFill>
              <a:srgbClr val="F4F5F7"/>
            </a:solidFill>
            <a:prstDash val="solid"/>
          </a:ln>
        </p:spPr>
      </p:sp>
      <p:sp>
        <p:nvSpPr>
          <p:cNvPr id="12" name="Text 10"/>
          <p:cNvSpPr txBox="1"/>
          <p:nvPr/>
        </p:nvSpPr>
        <p:spPr>
          <a:xfrm>
            <a:off x="6400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Panel</a:t>
            </a:r>
            <a:endParaRPr lang="en-US" sz="1500" dirty="0"/>
          </a:p>
        </p:txBody>
      </p:sp>
      <p:sp>
        <p:nvSpPr>
          <p:cNvPr id="13" name="Text 11"/>
          <p:cNvSpPr txBox="1"/>
          <p:nvPr/>
        </p:nvSpPr>
        <p:spPr>
          <a:xfrm>
            <a:off x="6400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Une requête + une visualisation + des options. Un panel répond à une question.</a:t>
            </a:r>
            <a:endParaRPr lang="en-US" sz="1200" dirty="0"/>
          </a:p>
        </p:txBody>
      </p:sp>
      <p:sp>
        <p:nvSpPr>
          <p:cNvPr id="14" name="Shape 12"/>
          <p:cNvSpPr/>
          <p:nvPr/>
        </p:nvSpPr>
        <p:spPr>
          <a:xfrm>
            <a:off x="4686300" y="3063240"/>
            <a:ext cx="4000500" cy="1600200"/>
          </a:xfrm>
          <a:prstGeom prst="roundRect">
            <a:avLst>
              <a:gd name="adj" fmla="val 4571"/>
            </a:avLst>
          </a:prstGeom>
          <a:solidFill>
            <a:srgbClr val="F4F5F7"/>
          </a:solidFill>
          <a:ln w="12700">
            <a:solidFill>
              <a:srgbClr val="F4F5F7"/>
            </a:solidFill>
            <a:prstDash val="solid"/>
          </a:ln>
        </p:spPr>
      </p:sp>
      <p:sp>
        <p:nvSpPr>
          <p:cNvPr id="15" name="Text 13"/>
          <p:cNvSpPr txBox="1"/>
          <p:nvPr/>
        </p:nvSpPr>
        <p:spPr>
          <a:xfrm>
            <a:off x="48691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Dashboard, folder</a:t>
            </a:r>
            <a:endParaRPr lang="en-US" sz="1500" dirty="0"/>
          </a:p>
        </p:txBody>
      </p:sp>
      <p:sp>
        <p:nvSpPr>
          <p:cNvPr id="16" name="Text 14"/>
          <p:cNvSpPr txBox="1"/>
          <p:nvPr/>
        </p:nvSpPr>
        <p:spPr>
          <a:xfrm>
            <a:off x="48691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Des panels, des variables, des annotations, des liens. Un dashboard répond à un besoin. Le dossier range et donne les droits.</a:t>
            </a:r>
            <a:endParaRPr lang="en-US" sz="12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53</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Grafana 13 : dynamic dashboards</a:t>
            </a:r>
            <a:endParaRPr lang="en-US" sz="2800" dirty="0"/>
          </a:p>
        </p:txBody>
      </p:sp>
      <p:pic>
        <p:nvPicPr>
          <p:cNvPr id="5" name="Image 0" descr="/home/claude/formation-observabilite-lab/docs/formateur/img/grafana-nouveau-dashboard.png">    </p:cNvPr>
          <p:cNvPicPr>
            <a:picLocks noChangeAspect="1"/>
          </p:cNvPicPr>
          <p:nvPr/>
        </p:nvPicPr>
        <p:blipFill>
          <a:blip r:embed="rId1"/>
          <a:srcRect l="0" r="0" t="0" b="0"/>
          <a:stretch/>
        </p:blipFill>
        <p:spPr>
          <a:xfrm>
            <a:off x="457200" y="1143000"/>
            <a:ext cx="8229600" cy="3291840"/>
          </a:xfrm>
          <a:prstGeom prst="rect">
            <a:avLst/>
          </a:prstGeom>
        </p:spPr>
      </p:pic>
      <p:sp>
        <p:nvSpPr>
          <p:cNvPr id="6" name="Text 3"/>
          <p:cNvSpPr txBox="1"/>
          <p:nvPr/>
        </p:nvSpPr>
        <p:spPr>
          <a:xfrm>
            <a:off x="457200" y="4480560"/>
            <a:ext cx="8229600" cy="274320"/>
          </a:xfrm>
          <a:prstGeom prst="rect">
            <a:avLst/>
          </a:prstGeom>
          <a:noFill/>
          <a:ln/>
        </p:spPr>
        <p:txBody>
          <a:bodyPr wrap="square" lIns="0" tIns="0" rIns="0" bIns="0" rtlCol="0" anchor="ctr"/>
          <a:lstStyle/>
          <a:p>
            <a:pPr algn="ctr" indent="0" marL="0">
              <a:buNone/>
            </a:pPr>
            <a:r>
              <a:rPr lang="en-US" sz="1100" i="1" dirty="0">
                <a:solidFill>
                  <a:srgbClr val="5B6270"/>
                </a:solidFill>
                <a:latin typeface="Calibri" pitchFamily="34" charset="0"/>
                <a:ea typeface="Calibri" pitchFamily="34" charset="-122"/>
                <a:cs typeface="Calibri" pitchFamily="34" charset="-120"/>
              </a:rPr>
              <a:t>Barre latérale Add : Panel, Add row, Add tab, Variable, Annotation query, Link · Custom grid ou Auto grid</a:t>
            </a:r>
            <a:endParaRPr lang="en-US" sz="11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54</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L'éditeur de panel</a:t>
            </a:r>
            <a:endParaRPr lang="en-US" sz="2800" dirty="0"/>
          </a:p>
        </p:txBody>
      </p:sp>
      <p:pic>
        <p:nvPicPr>
          <p:cNvPr id="5" name="Image 0" descr="/home/claude/formation-observabilite-lab/docs/formateur/img/grafana-editeur-panel.png">    </p:cNvPr>
          <p:cNvPicPr>
            <a:picLocks noChangeAspect="1"/>
          </p:cNvPicPr>
          <p:nvPr/>
        </p:nvPicPr>
        <p:blipFill>
          <a:blip r:embed="rId1"/>
          <a:srcRect l="0" r="0" t="0" b="0"/>
          <a:stretch/>
        </p:blipFill>
        <p:spPr>
          <a:xfrm>
            <a:off x="457200" y="1143000"/>
            <a:ext cx="8229600" cy="3291840"/>
          </a:xfrm>
          <a:prstGeom prst="rect">
            <a:avLst/>
          </a:prstGeom>
        </p:spPr>
      </p:pic>
      <p:sp>
        <p:nvSpPr>
          <p:cNvPr id="6" name="Text 3"/>
          <p:cNvSpPr txBox="1"/>
          <p:nvPr/>
        </p:nvSpPr>
        <p:spPr>
          <a:xfrm>
            <a:off x="457200" y="4480560"/>
            <a:ext cx="8229600" cy="274320"/>
          </a:xfrm>
          <a:prstGeom prst="rect">
            <a:avLst/>
          </a:prstGeom>
          <a:noFill/>
          <a:ln/>
        </p:spPr>
        <p:txBody>
          <a:bodyPr wrap="square" lIns="0" tIns="0" rIns="0" bIns="0" rtlCol="0" anchor="ctr"/>
          <a:lstStyle/>
          <a:p>
            <a:pPr algn="ctr" indent="0" marL="0">
              <a:buNone/>
            </a:pPr>
            <a:r>
              <a:rPr lang="en-US" sz="1100" i="1" dirty="0">
                <a:solidFill>
                  <a:srgbClr val="5B6270"/>
                </a:solidFill>
                <a:latin typeface="Calibri" pitchFamily="34" charset="0"/>
                <a:ea typeface="Calibri" pitchFamily="34" charset="-122"/>
                <a:cs typeface="Calibri" pitchFamily="34" charset="-120"/>
              </a:rPr>
              <a:t>Queries / Transformations en bas · Suggestions / All visualizations puis les options à droite</a:t>
            </a:r>
            <a:endParaRPr lang="en-US" sz="11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55</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Choisir la visualisation</a:t>
            </a:r>
            <a:endParaRPr lang="en-US" sz="28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4572000"/>
                <a:gridCol w="3657600"/>
              </a:tblGrid>
              <a:tr h="36576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La question</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La visualisation</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r>
              <a:tr h="36576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Ça évolue comment ?</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Time series</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6576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Ça vaut combien, là, maintenant ?</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Stat (avec sparkline)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6576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À quel niveau sur une échelle bornée ?</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Gauge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6576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Comparer quelques valeurs</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Bar gauge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6576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Une liste à plusieurs colonnes</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Table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6576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Une répartition (5 parts max)</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Pie chart</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6576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Un état dans le temps</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State timeline, Status history</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6576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Une distribution qui évolue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Heatmap</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bl>
          </a:graphicData>
        </a:graphic>
      </p:graphicFrame>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56</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Ce qui rend un dashboard lisible</a:t>
            </a:r>
            <a:endParaRPr lang="en-US" sz="2800" dirty="0"/>
          </a:p>
        </p:txBody>
      </p:sp>
      <p:sp>
        <p:nvSpPr>
          <p:cNvPr id="5" name="Shape 3"/>
          <p:cNvSpPr/>
          <p:nvPr/>
        </p:nvSpPr>
        <p:spPr>
          <a:xfrm>
            <a:off x="457200" y="1234440"/>
            <a:ext cx="4000500" cy="1600200"/>
          </a:xfrm>
          <a:prstGeom prst="roundRect">
            <a:avLst>
              <a:gd name="adj" fmla="val 4571"/>
            </a:avLst>
          </a:prstGeom>
          <a:solidFill>
            <a:srgbClr val="F4F5F7"/>
          </a:solidFill>
          <a:ln w="12700">
            <a:solidFill>
              <a:srgbClr val="F4F5F7"/>
            </a:solidFill>
            <a:prstDash val="solid"/>
          </a:ln>
        </p:spPr>
      </p:sp>
      <p:sp>
        <p:nvSpPr>
          <p:cNvPr id="6" name="Shape 4"/>
          <p:cNvSpPr/>
          <p:nvPr/>
        </p:nvSpPr>
        <p:spPr>
          <a:xfrm>
            <a:off x="640080" y="1417320"/>
            <a:ext cx="365760" cy="365760"/>
          </a:xfrm>
          <a:prstGeom prst="ellipse">
            <a:avLst/>
          </a:prstGeom>
          <a:solidFill>
            <a:srgbClr val="F15A22"/>
          </a:solidFill>
          <a:ln w="12700">
            <a:solidFill>
              <a:srgbClr val="F15A22"/>
            </a:solidFill>
            <a:prstDash val="solid"/>
          </a:ln>
        </p:spPr>
      </p:sp>
      <p:sp>
        <p:nvSpPr>
          <p:cNvPr id="7" name="Text 5"/>
          <p:cNvSpPr txBox="1"/>
          <p:nvPr/>
        </p:nvSpPr>
        <p:spPr>
          <a:xfrm>
            <a:off x="640080" y="1417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1097280" y="1399032"/>
            <a:ext cx="31775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Les unités</a:t>
            </a:r>
            <a:endParaRPr lang="en-US" sz="1500" dirty="0"/>
          </a:p>
        </p:txBody>
      </p:sp>
      <p:sp>
        <p:nvSpPr>
          <p:cNvPr id="9" name="Text 7"/>
          <p:cNvSpPr txBox="1"/>
          <p:nvPr/>
        </p:nvSpPr>
        <p:spPr>
          <a:xfrm>
            <a:off x="6400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Jamais un 38491023 brut. bytes → 36,7 MiB, percentunit, reqps, currencyEUR.</a:t>
            </a:r>
            <a:endParaRPr lang="en-US" sz="1200" dirty="0"/>
          </a:p>
        </p:txBody>
      </p:sp>
      <p:sp>
        <p:nvSpPr>
          <p:cNvPr id="10" name="Shape 8"/>
          <p:cNvSpPr/>
          <p:nvPr/>
        </p:nvSpPr>
        <p:spPr>
          <a:xfrm>
            <a:off x="4686300" y="1234440"/>
            <a:ext cx="4000500" cy="1600200"/>
          </a:xfrm>
          <a:prstGeom prst="roundRect">
            <a:avLst>
              <a:gd name="adj" fmla="val 4571"/>
            </a:avLst>
          </a:prstGeom>
          <a:solidFill>
            <a:srgbClr val="F4F5F7"/>
          </a:solidFill>
          <a:ln w="12700">
            <a:solidFill>
              <a:srgbClr val="F4F5F7"/>
            </a:solidFill>
            <a:prstDash val="solid"/>
          </a:ln>
        </p:spPr>
      </p:sp>
      <p:sp>
        <p:nvSpPr>
          <p:cNvPr id="11" name="Shape 9"/>
          <p:cNvSpPr/>
          <p:nvPr/>
        </p:nvSpPr>
        <p:spPr>
          <a:xfrm>
            <a:off x="4869180" y="1417320"/>
            <a:ext cx="365760" cy="365760"/>
          </a:xfrm>
          <a:prstGeom prst="ellipse">
            <a:avLst/>
          </a:prstGeom>
          <a:solidFill>
            <a:srgbClr val="F15A22"/>
          </a:solidFill>
          <a:ln w="12700">
            <a:solidFill>
              <a:srgbClr val="F15A22"/>
            </a:solidFill>
            <a:prstDash val="solid"/>
          </a:ln>
        </p:spPr>
      </p:sp>
      <p:sp>
        <p:nvSpPr>
          <p:cNvPr id="12" name="Text 10"/>
          <p:cNvSpPr txBox="1"/>
          <p:nvPr/>
        </p:nvSpPr>
        <p:spPr>
          <a:xfrm>
            <a:off x="4869180" y="1417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5326380" y="1399032"/>
            <a:ext cx="31775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Seuils et couleurs</a:t>
            </a:r>
            <a:endParaRPr lang="en-US" sz="1500" dirty="0"/>
          </a:p>
        </p:txBody>
      </p:sp>
      <p:sp>
        <p:nvSpPr>
          <p:cNvPr id="14" name="Text 12"/>
          <p:cNvSpPr txBox="1"/>
          <p:nvPr/>
        </p:nvSpPr>
        <p:spPr>
          <a:xfrm>
            <a:off x="48691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Vert / orange / rouge cohérents sur tout le dashboard. Visibles sur Stat, Gauge, Table, Time series.</a:t>
            </a:r>
            <a:endParaRPr lang="en-US" sz="1200" dirty="0"/>
          </a:p>
        </p:txBody>
      </p:sp>
      <p:sp>
        <p:nvSpPr>
          <p:cNvPr id="15" name="Shape 13"/>
          <p:cNvSpPr/>
          <p:nvPr/>
        </p:nvSpPr>
        <p:spPr>
          <a:xfrm>
            <a:off x="457200" y="3063240"/>
            <a:ext cx="4000500" cy="1600200"/>
          </a:xfrm>
          <a:prstGeom prst="roundRect">
            <a:avLst>
              <a:gd name="adj" fmla="val 4571"/>
            </a:avLst>
          </a:prstGeom>
          <a:solidFill>
            <a:srgbClr val="F4F5F7"/>
          </a:solidFill>
          <a:ln w="12700">
            <a:solidFill>
              <a:srgbClr val="F4F5F7"/>
            </a:solidFill>
            <a:prstDash val="solid"/>
          </a:ln>
        </p:spPr>
      </p:sp>
      <p:sp>
        <p:nvSpPr>
          <p:cNvPr id="16" name="Shape 14"/>
          <p:cNvSpPr/>
          <p:nvPr/>
        </p:nvSpPr>
        <p:spPr>
          <a:xfrm>
            <a:off x="640080" y="3246120"/>
            <a:ext cx="365760" cy="365760"/>
          </a:xfrm>
          <a:prstGeom prst="ellipse">
            <a:avLst/>
          </a:prstGeom>
          <a:solidFill>
            <a:srgbClr val="F15A22"/>
          </a:solidFill>
          <a:ln w="12700">
            <a:solidFill>
              <a:srgbClr val="F15A22"/>
            </a:solidFill>
            <a:prstDash val="solid"/>
          </a:ln>
        </p:spPr>
      </p:sp>
      <p:sp>
        <p:nvSpPr>
          <p:cNvPr id="17" name="Text 15"/>
          <p:cNvSpPr txBox="1"/>
          <p:nvPr/>
        </p:nvSpPr>
        <p:spPr>
          <a:xfrm>
            <a:off x="640080" y="32461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097280" y="3227832"/>
            <a:ext cx="31775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Value mappings</a:t>
            </a:r>
            <a:endParaRPr lang="en-US" sz="1500" dirty="0"/>
          </a:p>
        </p:txBody>
      </p:sp>
      <p:sp>
        <p:nvSpPr>
          <p:cNvPr id="19" name="Text 17"/>
          <p:cNvSpPr txBox="1"/>
          <p:nvPr/>
        </p:nvSpPr>
        <p:spPr>
          <a:xfrm>
            <a:off x="6400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1 → UP en vert, 0 → DOWN en rouge. Lisible par quelqu'un qui ne connaît pas Prometheus.</a:t>
            </a:r>
            <a:endParaRPr lang="en-US" sz="1200" dirty="0"/>
          </a:p>
        </p:txBody>
      </p:sp>
      <p:sp>
        <p:nvSpPr>
          <p:cNvPr id="20" name="Shape 18"/>
          <p:cNvSpPr/>
          <p:nvPr/>
        </p:nvSpPr>
        <p:spPr>
          <a:xfrm>
            <a:off x="4686300" y="3063240"/>
            <a:ext cx="4000500" cy="1600200"/>
          </a:xfrm>
          <a:prstGeom prst="roundRect">
            <a:avLst>
              <a:gd name="adj" fmla="val 4571"/>
            </a:avLst>
          </a:prstGeom>
          <a:solidFill>
            <a:srgbClr val="F4F5F7"/>
          </a:solidFill>
          <a:ln w="12700">
            <a:solidFill>
              <a:srgbClr val="F4F5F7"/>
            </a:solidFill>
            <a:prstDash val="solid"/>
          </a:ln>
        </p:spPr>
      </p:sp>
      <p:sp>
        <p:nvSpPr>
          <p:cNvPr id="21" name="Shape 19"/>
          <p:cNvSpPr/>
          <p:nvPr/>
        </p:nvSpPr>
        <p:spPr>
          <a:xfrm>
            <a:off x="4869180" y="3246120"/>
            <a:ext cx="365760" cy="365760"/>
          </a:xfrm>
          <a:prstGeom prst="ellipse">
            <a:avLst/>
          </a:prstGeom>
          <a:solidFill>
            <a:srgbClr val="F15A22"/>
          </a:solidFill>
          <a:ln w="12700">
            <a:solidFill>
              <a:srgbClr val="F15A22"/>
            </a:solidFill>
            <a:prstDash val="solid"/>
          </a:ln>
        </p:spPr>
      </p:sp>
      <p:sp>
        <p:nvSpPr>
          <p:cNvPr id="22" name="Text 20"/>
          <p:cNvSpPr txBox="1"/>
          <p:nvPr/>
        </p:nvSpPr>
        <p:spPr>
          <a:xfrm>
            <a:off x="4869180" y="32461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txBox="1"/>
          <p:nvPr/>
        </p:nvSpPr>
        <p:spPr>
          <a:xfrm>
            <a:off x="5326380" y="3227832"/>
            <a:ext cx="31775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Légende et ordre</a:t>
            </a:r>
            <a:endParaRPr lang="en-US" sz="1500" dirty="0"/>
          </a:p>
        </p:txBody>
      </p:sp>
      <p:sp>
        <p:nvSpPr>
          <p:cNvPr id="24" name="Text 22"/>
          <p:cNvSpPr txBox="1"/>
          <p:nvPr/>
        </p:nvSpPr>
        <p:spPr>
          <a:xfrm>
            <a:off x="48691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{{route}} plutôt qu'un bloc de labels. En haut : « ça va ? ». En bas : le détail. 10-12 panels maximum.</a:t>
            </a:r>
            <a:endParaRPr lang="en-US" sz="12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57</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Variables, transformations, annotations</a:t>
            </a:r>
            <a:endParaRPr lang="en-US" sz="2800" dirty="0"/>
          </a:p>
        </p:txBody>
      </p:sp>
      <p:sp>
        <p:nvSpPr>
          <p:cNvPr id="5" name="Shape 3"/>
          <p:cNvSpPr/>
          <p:nvPr/>
        </p:nvSpPr>
        <p:spPr>
          <a:xfrm>
            <a:off x="457200" y="1234440"/>
            <a:ext cx="3977640" cy="3429000"/>
          </a:xfrm>
          <a:prstGeom prst="roundRect">
            <a:avLst>
              <a:gd name="adj" fmla="val 2133"/>
            </a:avLst>
          </a:prstGeom>
          <a:solidFill>
            <a:srgbClr val="F4F5F7"/>
          </a:solidFill>
          <a:ln w="12700">
            <a:solidFill>
              <a:srgbClr val="F4F5F7"/>
            </a:solidFill>
            <a:prstDash val="solid"/>
          </a:ln>
        </p:spPr>
      </p:sp>
      <p:sp>
        <p:nvSpPr>
          <p:cNvPr id="6" name="Text 4"/>
          <p:cNvSpPr txBox="1"/>
          <p:nvPr/>
        </p:nvSpPr>
        <p:spPr>
          <a:xfrm>
            <a:off x="68580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Variables</a:t>
            </a:r>
            <a:endParaRPr lang="en-US" sz="1700" dirty="0"/>
          </a:p>
        </p:txBody>
      </p:sp>
      <p:sp>
        <p:nvSpPr>
          <p:cNvPr id="7" name="Text 5"/>
          <p:cNvSpPr txBox="1"/>
          <p:nvPr/>
        </p:nvSpPr>
        <p:spPr>
          <a:xfrm>
            <a:off x="68580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Un menu déroulant qui filtre tous les panels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Query : label_values(node_uname_info, instance)</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Multi-valeur + All → =~ et non =</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Chaînées : $route dépend de $instance</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$__rate_interval, $__range, $__interval</a:t>
            </a:r>
            <a:endParaRPr lang="en-US" sz="1300" dirty="0"/>
          </a:p>
        </p:txBody>
      </p:sp>
      <p:sp>
        <p:nvSpPr>
          <p:cNvPr id="8" name="Shape 6"/>
          <p:cNvSpPr/>
          <p:nvPr/>
        </p:nvSpPr>
        <p:spPr>
          <a:xfrm>
            <a:off x="4709160" y="1234440"/>
            <a:ext cx="3977640" cy="3429000"/>
          </a:xfrm>
          <a:prstGeom prst="roundRect">
            <a:avLst>
              <a:gd name="adj" fmla="val 2133"/>
            </a:avLst>
          </a:prstGeom>
          <a:solidFill>
            <a:srgbClr val="F4F5F7"/>
          </a:solidFill>
          <a:ln w="12700">
            <a:solidFill>
              <a:srgbClr val="F4F5F7"/>
            </a:solidFill>
            <a:prstDash val="solid"/>
          </a:ln>
        </p:spPr>
      </p:sp>
      <p:sp>
        <p:nvSpPr>
          <p:cNvPr id="9" name="Text 7"/>
          <p:cNvSpPr txBox="1"/>
          <p:nvPr/>
        </p:nvSpPr>
        <p:spPr>
          <a:xfrm>
            <a:off x="493776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Transformations et annotations</a:t>
            </a:r>
            <a:endParaRPr lang="en-US" sz="1700" dirty="0"/>
          </a:p>
        </p:txBody>
      </p:sp>
      <p:sp>
        <p:nvSpPr>
          <p:cNvPr id="10" name="Text 8"/>
          <p:cNvSpPr txBox="1"/>
          <p:nvPr/>
        </p:nvSpPr>
        <p:spPr>
          <a:xfrm>
            <a:off x="493776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Merge, Organize fields, Sort by, Reduce, Filter, calculs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Indispensables pour les tables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Annotation : un trait vertical sur tous les graphiques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changes(shop_chaos_mode[1m]) &gt; 0, ou POST /api/annotations depuis la CI</a:t>
            </a:r>
            <a:endParaRPr lang="en-US" sz="13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0F2A4A"/>
        </a:solidFill>
      </p:bgPr>
    </p:bg>
    <p:spTree>
      <p:nvGrpSpPr>
        <p:cNvPr id="1" name=""/>
        <p:cNvGrpSpPr/>
        <p:nvPr/>
      </p:nvGrpSpPr>
      <p:grpSpPr>
        <a:xfrm>
          <a:off x="0" y="0"/>
          <a:ext cx="0" cy="0"/>
          <a:chOff x="0" y="0"/>
          <a:chExt cx="0" cy="0"/>
        </a:xfrm>
      </p:grpSpPr>
      <p:sp>
        <p:nvSpPr>
          <p:cNvPr id="2" name="Shape 0"/>
          <p:cNvSpPr/>
          <p:nvPr/>
        </p:nvSpPr>
        <p:spPr>
          <a:xfrm>
            <a:off x="457200" y="411480"/>
            <a:ext cx="1371600" cy="457200"/>
          </a:xfrm>
          <a:prstGeom prst="roundRect">
            <a:avLst>
              <a:gd name="adj" fmla="val 20000"/>
            </a:avLst>
          </a:prstGeom>
          <a:solidFill>
            <a:srgbClr val="F15A22"/>
          </a:solidFill>
          <a:ln w="12700">
            <a:solidFill>
              <a:srgbClr val="F15A22"/>
            </a:solidFill>
            <a:prstDash val="solid"/>
          </a:ln>
        </p:spPr>
      </p:sp>
      <p:sp>
        <p:nvSpPr>
          <p:cNvPr id="3" name="Text 1"/>
          <p:cNvSpPr txBox="1"/>
          <p:nvPr/>
        </p:nvSpPr>
        <p:spPr>
          <a:xfrm>
            <a:off x="457200" y="411480"/>
            <a:ext cx="13716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TP 4</a:t>
            </a:r>
            <a:endParaRPr lang="en-US" sz="1600" dirty="0"/>
          </a:p>
        </p:txBody>
      </p:sp>
      <p:sp>
        <p:nvSpPr>
          <p:cNvPr id="4" name="Text 2"/>
          <p:cNvSpPr txBox="1"/>
          <p:nvPr/>
        </p:nvSpPr>
        <p:spPr>
          <a:xfrm>
            <a:off x="2011680" y="365760"/>
            <a:ext cx="667512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Un dashboard paramétrable pour un serveur Linux</a:t>
            </a:r>
            <a:endParaRPr lang="en-US" sz="2400" dirty="0"/>
          </a:p>
        </p:txBody>
      </p:sp>
      <p:sp>
        <p:nvSpPr>
          <p:cNvPr id="5" name="Text 3"/>
          <p:cNvSpPr txBox="1"/>
          <p:nvPr/>
        </p:nvSpPr>
        <p:spPr>
          <a:xfrm>
            <a:off x="457200" y="1097280"/>
            <a:ext cx="1828800" cy="274320"/>
          </a:xfrm>
          <a:prstGeom prst="rect">
            <a:avLst/>
          </a:prstGeom>
          <a:noFill/>
          <a:ln/>
        </p:spPr>
        <p:txBody>
          <a:bodyPr wrap="square" lIns="0" tIns="0" rIns="0" bIns="0" rtlCol="0" anchor="ctr"/>
          <a:lstStyle/>
          <a:p>
            <a:pPr indent="0" marL="0">
              <a:buNone/>
            </a:pPr>
            <a:r>
              <a:rPr lang="en-US" sz="1200" b="1" spc="300" kern="0" dirty="0">
                <a:solidFill>
                  <a:srgbClr val="FFB48F"/>
                </a:solidFill>
                <a:latin typeface="Calibri" pitchFamily="34" charset="0"/>
                <a:ea typeface="Calibri" pitchFamily="34" charset="-122"/>
                <a:cs typeface="Calibri" pitchFamily="34" charset="-120"/>
              </a:rPr>
              <a:t>Mission</a:t>
            </a:r>
            <a:endParaRPr lang="en-US" sz="1200" dirty="0"/>
          </a:p>
        </p:txBody>
      </p:sp>
      <p:sp>
        <p:nvSpPr>
          <p:cNvPr id="6" name="Text 4"/>
          <p:cNvSpPr txBox="1"/>
          <p:nvPr/>
        </p:nvSpPr>
        <p:spPr>
          <a:xfrm>
            <a:off x="457200" y="1371600"/>
            <a:ext cx="8229600" cy="868680"/>
          </a:xfrm>
          <a:prstGeom prst="rect">
            <a:avLst/>
          </a:prstGeom>
          <a:noFill/>
          <a:ln/>
        </p:spPr>
        <p:txBody>
          <a:bodyPr wrap="square" lIns="0" tIns="0" rIns="0" bIns="0" rtlCol="0" anchor="t"/>
          <a:lstStyle/>
          <a:p>
            <a:pPr indent="0" marL="0">
              <a:buNone/>
            </a:pPr>
            <a:r>
              <a:rPr lang="en-US" sz="1500" dirty="0">
                <a:solidFill>
                  <a:srgbClr val="DBE6F3"/>
                </a:solidFill>
                <a:latin typeface="Calibri" pitchFamily="34" charset="0"/>
                <a:ea typeface="Calibri" pitchFamily="34" charset="-122"/>
                <a:cs typeface="Calibri" pitchFamily="34" charset="-120"/>
              </a:rPr>
              <a:t>L'équipe d'exploitation veut un écran par serveur : d'un coup d'œil, savoir s'il va bien ; en dessous, le détail. Le même dashboard pour tous les serveurs, avec une liste déroulante.</a:t>
            </a:r>
            <a:endParaRPr lang="en-US" sz="1500" dirty="0"/>
          </a:p>
        </p:txBody>
      </p:sp>
      <p:sp>
        <p:nvSpPr>
          <p:cNvPr id="7" name="Shape 5"/>
          <p:cNvSpPr/>
          <p:nvPr/>
        </p:nvSpPr>
        <p:spPr>
          <a:xfrm>
            <a:off x="457200" y="2377440"/>
            <a:ext cx="1499616" cy="2194560"/>
          </a:xfrm>
          <a:prstGeom prst="roundRect">
            <a:avLst>
              <a:gd name="adj" fmla="val 4878"/>
            </a:avLst>
          </a:prstGeom>
          <a:solidFill>
            <a:srgbClr val="163D6B"/>
          </a:solidFill>
          <a:ln w="12700">
            <a:solidFill>
              <a:srgbClr val="163D6B"/>
            </a:solidFill>
            <a:prstDash val="solid"/>
          </a:ln>
        </p:spPr>
      </p:sp>
      <p:sp>
        <p:nvSpPr>
          <p:cNvPr id="8" name="Shape 6"/>
          <p:cNvSpPr/>
          <p:nvPr/>
        </p:nvSpPr>
        <p:spPr>
          <a:xfrm>
            <a:off x="640080" y="2560320"/>
            <a:ext cx="347472" cy="347472"/>
          </a:xfrm>
          <a:prstGeom prst="ellipse">
            <a:avLst/>
          </a:prstGeom>
          <a:solidFill>
            <a:srgbClr val="F15A22"/>
          </a:solidFill>
          <a:ln w="12700">
            <a:solidFill>
              <a:srgbClr val="F15A22"/>
            </a:solidFill>
            <a:prstDash val="solid"/>
          </a:ln>
        </p:spPr>
      </p:sp>
      <p:sp>
        <p:nvSpPr>
          <p:cNvPr id="9" name="Text 7"/>
          <p:cNvSpPr txBox="1"/>
          <p:nvPr/>
        </p:nvSpPr>
        <p:spPr>
          <a:xfrm>
            <a:off x="64008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078992"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Variable</a:t>
            </a:r>
            <a:endParaRPr lang="en-US" sz="1150" dirty="0"/>
          </a:p>
        </p:txBody>
      </p:sp>
      <p:sp>
        <p:nvSpPr>
          <p:cNvPr id="11" name="Text 9"/>
          <p:cNvSpPr txBox="1"/>
          <p:nvPr/>
        </p:nvSpPr>
        <p:spPr>
          <a:xfrm>
            <a:off x="640080"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$instance multi-valeur avec All. Toutes les requêtes en instance=~"$instance".</a:t>
            </a:r>
            <a:endParaRPr lang="en-US" sz="1050" dirty="0"/>
          </a:p>
        </p:txBody>
      </p:sp>
      <p:sp>
        <p:nvSpPr>
          <p:cNvPr id="12" name="Shape 10"/>
          <p:cNvSpPr/>
          <p:nvPr/>
        </p:nvSpPr>
        <p:spPr>
          <a:xfrm>
            <a:off x="2139696" y="2377440"/>
            <a:ext cx="1499616" cy="2194560"/>
          </a:xfrm>
          <a:prstGeom prst="roundRect">
            <a:avLst>
              <a:gd name="adj" fmla="val 4878"/>
            </a:avLst>
          </a:prstGeom>
          <a:solidFill>
            <a:srgbClr val="163D6B"/>
          </a:solidFill>
          <a:ln w="12700">
            <a:solidFill>
              <a:srgbClr val="163D6B"/>
            </a:solidFill>
            <a:prstDash val="solid"/>
          </a:ln>
        </p:spPr>
      </p:sp>
      <p:sp>
        <p:nvSpPr>
          <p:cNvPr id="13" name="Shape 11"/>
          <p:cNvSpPr/>
          <p:nvPr/>
        </p:nvSpPr>
        <p:spPr>
          <a:xfrm>
            <a:off x="2322576" y="2560320"/>
            <a:ext cx="347472" cy="347472"/>
          </a:xfrm>
          <a:prstGeom prst="ellipse">
            <a:avLst/>
          </a:prstGeom>
          <a:solidFill>
            <a:srgbClr val="F15A22"/>
          </a:solidFill>
          <a:ln w="12700">
            <a:solidFill>
              <a:srgbClr val="F15A22"/>
            </a:solidFill>
            <a:prstDash val="solid"/>
          </a:ln>
        </p:spPr>
      </p:sp>
      <p:sp>
        <p:nvSpPr>
          <p:cNvPr id="14" name="Text 12"/>
          <p:cNvSpPr txBox="1"/>
          <p:nvPr/>
        </p:nvSpPr>
        <p:spPr>
          <a:xfrm>
            <a:off x="2322576"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2761488"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Global</a:t>
            </a:r>
            <a:endParaRPr lang="en-US" sz="1150" dirty="0"/>
          </a:p>
        </p:txBody>
      </p:sp>
      <p:sp>
        <p:nvSpPr>
          <p:cNvPr id="16" name="Text 14"/>
          <p:cNvSpPr txBox="1"/>
          <p:nvPr/>
        </p:nvSpPr>
        <p:spPr>
          <a:xfrm>
            <a:off x="2322576"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Uptime, CPU et mémoire en Gauge avec seuils, charge, cœurs.</a:t>
            </a:r>
            <a:endParaRPr lang="en-US" sz="1050" dirty="0"/>
          </a:p>
        </p:txBody>
      </p:sp>
      <p:sp>
        <p:nvSpPr>
          <p:cNvPr id="17" name="Shape 15"/>
          <p:cNvSpPr/>
          <p:nvPr/>
        </p:nvSpPr>
        <p:spPr>
          <a:xfrm>
            <a:off x="3822192" y="2377440"/>
            <a:ext cx="1499616" cy="2194560"/>
          </a:xfrm>
          <a:prstGeom prst="roundRect">
            <a:avLst>
              <a:gd name="adj" fmla="val 4878"/>
            </a:avLst>
          </a:prstGeom>
          <a:solidFill>
            <a:srgbClr val="163D6B"/>
          </a:solidFill>
          <a:ln w="12700">
            <a:solidFill>
              <a:srgbClr val="163D6B"/>
            </a:solidFill>
            <a:prstDash val="solid"/>
          </a:ln>
        </p:spPr>
      </p:sp>
      <p:sp>
        <p:nvSpPr>
          <p:cNvPr id="18" name="Shape 16"/>
          <p:cNvSpPr/>
          <p:nvPr/>
        </p:nvSpPr>
        <p:spPr>
          <a:xfrm>
            <a:off x="4005072" y="2560320"/>
            <a:ext cx="347472" cy="347472"/>
          </a:xfrm>
          <a:prstGeom prst="ellipse">
            <a:avLst/>
          </a:prstGeom>
          <a:solidFill>
            <a:srgbClr val="F15A22"/>
          </a:solidFill>
          <a:ln w="12700">
            <a:solidFill>
              <a:srgbClr val="F15A22"/>
            </a:solidFill>
            <a:prstDash val="solid"/>
          </a:ln>
        </p:spPr>
      </p:sp>
      <p:sp>
        <p:nvSpPr>
          <p:cNvPr id="19" name="Text 17"/>
          <p:cNvSpPr txBox="1"/>
          <p:nvPr/>
        </p:nvSpPr>
        <p:spPr>
          <a:xfrm>
            <a:off x="4005072"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4443984"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CPU, mémoire</a:t>
            </a:r>
            <a:endParaRPr lang="en-US" sz="1150" dirty="0"/>
          </a:p>
        </p:txBody>
      </p:sp>
      <p:sp>
        <p:nvSpPr>
          <p:cNvPr id="21" name="Text 19"/>
          <p:cNvSpPr txBox="1"/>
          <p:nvPr/>
        </p:nvSpPr>
        <p:spPr>
          <a:xfrm>
            <a:off x="4005072"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Time series empilé par mode (scalar !), mémoire avec override.</a:t>
            </a:r>
            <a:endParaRPr lang="en-US" sz="1050" dirty="0"/>
          </a:p>
        </p:txBody>
      </p:sp>
      <p:sp>
        <p:nvSpPr>
          <p:cNvPr id="22" name="Shape 20"/>
          <p:cNvSpPr/>
          <p:nvPr/>
        </p:nvSpPr>
        <p:spPr>
          <a:xfrm>
            <a:off x="5504688" y="2377440"/>
            <a:ext cx="1499616" cy="2194560"/>
          </a:xfrm>
          <a:prstGeom prst="roundRect">
            <a:avLst>
              <a:gd name="adj" fmla="val 4878"/>
            </a:avLst>
          </a:prstGeom>
          <a:solidFill>
            <a:srgbClr val="163D6B"/>
          </a:solidFill>
          <a:ln w="12700">
            <a:solidFill>
              <a:srgbClr val="163D6B"/>
            </a:solidFill>
            <a:prstDash val="solid"/>
          </a:ln>
        </p:spPr>
      </p:sp>
      <p:sp>
        <p:nvSpPr>
          <p:cNvPr id="23" name="Shape 21"/>
          <p:cNvSpPr/>
          <p:nvPr/>
        </p:nvSpPr>
        <p:spPr>
          <a:xfrm>
            <a:off x="5687568" y="2560320"/>
            <a:ext cx="347472" cy="347472"/>
          </a:xfrm>
          <a:prstGeom prst="ellipse">
            <a:avLst/>
          </a:prstGeom>
          <a:solidFill>
            <a:srgbClr val="F15A22"/>
          </a:solidFill>
          <a:ln w="12700">
            <a:solidFill>
              <a:srgbClr val="F15A22"/>
            </a:solidFill>
            <a:prstDash val="solid"/>
          </a:ln>
        </p:spPr>
      </p:sp>
      <p:sp>
        <p:nvSpPr>
          <p:cNvPr id="24" name="Text 22"/>
          <p:cNvSpPr txBox="1"/>
          <p:nvPr/>
        </p:nvSpPr>
        <p:spPr>
          <a:xfrm>
            <a:off x="5687568"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6126480"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Disque, réseau</a:t>
            </a:r>
            <a:endParaRPr lang="en-US" sz="1150" dirty="0"/>
          </a:p>
        </p:txBody>
      </p:sp>
      <p:sp>
        <p:nvSpPr>
          <p:cNvPr id="26" name="Text 24"/>
          <p:cNvSpPr txBox="1"/>
          <p:nvPr/>
        </p:nvSpPr>
        <p:spPr>
          <a:xfrm>
            <a:off x="5687568"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Bar gauge, Table avec Merge + Organize + Sort, réseau rx/tx.</a:t>
            </a:r>
            <a:endParaRPr lang="en-US" sz="1050" dirty="0"/>
          </a:p>
        </p:txBody>
      </p:sp>
      <p:sp>
        <p:nvSpPr>
          <p:cNvPr id="27" name="Shape 25"/>
          <p:cNvSpPr/>
          <p:nvPr/>
        </p:nvSpPr>
        <p:spPr>
          <a:xfrm>
            <a:off x="7187184" y="2377440"/>
            <a:ext cx="1499616" cy="2194560"/>
          </a:xfrm>
          <a:prstGeom prst="roundRect">
            <a:avLst>
              <a:gd name="adj" fmla="val 4878"/>
            </a:avLst>
          </a:prstGeom>
          <a:solidFill>
            <a:srgbClr val="163D6B"/>
          </a:solidFill>
          <a:ln w="12700">
            <a:solidFill>
              <a:srgbClr val="163D6B"/>
            </a:solidFill>
            <a:prstDash val="solid"/>
          </a:ln>
        </p:spPr>
      </p:sp>
      <p:sp>
        <p:nvSpPr>
          <p:cNvPr id="28" name="Shape 26"/>
          <p:cNvSpPr/>
          <p:nvPr/>
        </p:nvSpPr>
        <p:spPr>
          <a:xfrm>
            <a:off x="7370064" y="2560320"/>
            <a:ext cx="347472" cy="347472"/>
          </a:xfrm>
          <a:prstGeom prst="ellipse">
            <a:avLst/>
          </a:prstGeom>
          <a:solidFill>
            <a:srgbClr val="F15A22"/>
          </a:solidFill>
          <a:ln w="12700">
            <a:solidFill>
              <a:srgbClr val="F15A22"/>
            </a:solidFill>
            <a:prstDash val="solid"/>
          </a:ln>
        </p:spPr>
      </p:sp>
      <p:sp>
        <p:nvSpPr>
          <p:cNvPr id="29" name="Text 27"/>
          <p:cNvSpPr txBox="1"/>
          <p:nvPr/>
        </p:nvSpPr>
        <p:spPr>
          <a:xfrm>
            <a:off x="7370064"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0" name="Text 28"/>
          <p:cNvSpPr txBox="1"/>
          <p:nvPr/>
        </p:nvSpPr>
        <p:spPr>
          <a:xfrm>
            <a:off x="7808976"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Dispo</a:t>
            </a:r>
            <a:endParaRPr lang="en-US" sz="1150" dirty="0"/>
          </a:p>
        </p:txBody>
      </p:sp>
      <p:sp>
        <p:nvSpPr>
          <p:cNvPr id="31" name="Text 29"/>
          <p:cNvSpPr txBox="1"/>
          <p:nvPr/>
        </p:nvSpPr>
        <p:spPr>
          <a:xfrm>
            <a:off x="7370064"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State timeline avec value mappings, Stat coloré avec or vector(0).</a:t>
            </a:r>
            <a:endParaRPr lang="en-US" sz="1050" dirty="0"/>
          </a:p>
        </p:txBody>
      </p:sp>
      <p:sp>
        <p:nvSpPr>
          <p:cNvPr id="32" name="Text 30"/>
          <p:cNvSpPr txBox="1"/>
          <p:nvPr/>
        </p:nvSpPr>
        <p:spPr>
          <a:xfrm>
            <a:off x="457200" y="4709160"/>
            <a:ext cx="8229600" cy="274320"/>
          </a:xfrm>
          <a:prstGeom prst="rect">
            <a:avLst/>
          </a:prstGeom>
          <a:noFill/>
          <a:ln/>
        </p:spPr>
        <p:txBody>
          <a:bodyPr wrap="square" lIns="0" tIns="0" rIns="0" bIns="0" rtlCol="0" anchor="ctr"/>
          <a:lstStyle/>
          <a:p>
            <a:pPr indent="0" marL="0">
              <a:buNone/>
            </a:pPr>
            <a:r>
              <a:rPr lang="en-US" sz="1000" i="1" dirty="0">
                <a:solidFill>
                  <a:srgbClr val="8FA3BD"/>
                </a:solidFill>
                <a:latin typeface="Calibri" pitchFamily="34" charset="0"/>
                <a:ea typeface="Calibri" pitchFamily="34" charset="-122"/>
                <a:cs typeface="Calibri" pitchFamily="34" charset="-120"/>
              </a:rPr>
              <a:t>Énoncé complet dans le guide stagiaire · corrigé projeté après recherche</a:t>
            </a:r>
            <a:endParaRPr lang="en-US" sz="10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59</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TP 4 — le résultat attendu</a:t>
            </a:r>
            <a:endParaRPr lang="en-US" sz="2800" dirty="0"/>
          </a:p>
        </p:txBody>
      </p:sp>
      <p:pic>
        <p:nvPicPr>
          <p:cNvPr id="5" name="Image 0" descr="/home/claude/formation-observabilite-lab/docs/formateur/img/tp4-serveur-linux.png">    </p:cNvPr>
          <p:cNvPicPr>
            <a:picLocks noChangeAspect="1"/>
          </p:cNvPicPr>
          <p:nvPr/>
        </p:nvPicPr>
        <p:blipFill>
          <a:blip r:embed="rId1"/>
          <a:srcRect l="0" r="0" t="0" b="0"/>
          <a:stretch/>
        </p:blipFill>
        <p:spPr>
          <a:xfrm>
            <a:off x="457200" y="1143000"/>
            <a:ext cx="8229600" cy="3291840"/>
          </a:xfrm>
          <a:prstGeom prst="rect">
            <a:avLst/>
          </a:prstGeom>
        </p:spPr>
      </p:pic>
      <p:sp>
        <p:nvSpPr>
          <p:cNvPr id="6" name="Text 3"/>
          <p:cNvSpPr txBox="1"/>
          <p:nvPr/>
        </p:nvSpPr>
        <p:spPr>
          <a:xfrm>
            <a:off x="457200" y="4480560"/>
            <a:ext cx="8229600" cy="274320"/>
          </a:xfrm>
          <a:prstGeom prst="rect">
            <a:avLst/>
          </a:prstGeom>
          <a:noFill/>
          <a:ln/>
        </p:spPr>
        <p:txBody>
          <a:bodyPr wrap="square" lIns="0" tIns="0" rIns="0" bIns="0" rtlCol="0" anchor="ctr"/>
          <a:lstStyle/>
          <a:p>
            <a:pPr algn="ctr" indent="0" marL="0">
              <a:buNone/>
            </a:pPr>
            <a:r>
              <a:rPr lang="en-US" sz="1100" i="1" dirty="0">
                <a:solidFill>
                  <a:srgbClr val="5B6270"/>
                </a:solidFill>
                <a:latin typeface="Calibri" pitchFamily="34" charset="0"/>
                <a:ea typeface="Calibri" pitchFamily="34" charset="-122"/>
                <a:cs typeface="Calibri" pitchFamily="34" charset="-120"/>
              </a:rPr>
              <a:t>Dix panels, huit types de visualisation, une variable, des rows</a:t>
            </a:r>
            <a:endParaRPr lang="en-US" sz="11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0F2A4A"/>
        </a:solidFill>
      </p:bgPr>
    </p:bg>
    <p:spTree>
      <p:nvGrpSpPr>
        <p:cNvPr id="1" name=""/>
        <p:cNvGrpSpPr/>
        <p:nvPr/>
      </p:nvGrpSpPr>
      <p:grpSpPr>
        <a:xfrm>
          <a:off x="0" y="0"/>
          <a:ext cx="0" cy="0"/>
          <a:chOff x="0" y="0"/>
          <a:chExt cx="0" cy="0"/>
        </a:xfrm>
      </p:grpSpPr>
      <p:sp>
        <p:nvSpPr>
          <p:cNvPr id="2" name="Shape 0"/>
          <p:cNvSpPr/>
          <p:nvPr/>
        </p:nvSpPr>
        <p:spPr>
          <a:xfrm>
            <a:off x="457200" y="411480"/>
            <a:ext cx="1371600" cy="457200"/>
          </a:xfrm>
          <a:prstGeom prst="roundRect">
            <a:avLst>
              <a:gd name="adj" fmla="val 20000"/>
            </a:avLst>
          </a:prstGeom>
          <a:solidFill>
            <a:srgbClr val="F15A22"/>
          </a:solidFill>
          <a:ln w="12700">
            <a:solidFill>
              <a:srgbClr val="F15A22"/>
            </a:solidFill>
            <a:prstDash val="solid"/>
          </a:ln>
        </p:spPr>
      </p:sp>
      <p:sp>
        <p:nvSpPr>
          <p:cNvPr id="3" name="Text 1"/>
          <p:cNvSpPr txBox="1"/>
          <p:nvPr/>
        </p:nvSpPr>
        <p:spPr>
          <a:xfrm>
            <a:off x="457200" y="411480"/>
            <a:ext cx="13716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TP 5</a:t>
            </a:r>
            <a:endParaRPr lang="en-US" sz="1600" dirty="0"/>
          </a:p>
        </p:txBody>
      </p:sp>
      <p:sp>
        <p:nvSpPr>
          <p:cNvPr id="4" name="Text 2"/>
          <p:cNvSpPr txBox="1"/>
          <p:nvPr/>
        </p:nvSpPr>
        <p:spPr>
          <a:xfrm>
            <a:off x="2011680" y="365760"/>
            <a:ext cx="667512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La boutique, puis dashboards as code</a:t>
            </a:r>
            <a:endParaRPr lang="en-US" sz="2400" dirty="0"/>
          </a:p>
        </p:txBody>
      </p:sp>
      <p:sp>
        <p:nvSpPr>
          <p:cNvPr id="5" name="Text 3"/>
          <p:cNvSpPr txBox="1"/>
          <p:nvPr/>
        </p:nvSpPr>
        <p:spPr>
          <a:xfrm>
            <a:off x="457200" y="1097280"/>
            <a:ext cx="1828800" cy="274320"/>
          </a:xfrm>
          <a:prstGeom prst="rect">
            <a:avLst/>
          </a:prstGeom>
          <a:noFill/>
          <a:ln/>
        </p:spPr>
        <p:txBody>
          <a:bodyPr wrap="square" lIns="0" tIns="0" rIns="0" bIns="0" rtlCol="0" anchor="ctr"/>
          <a:lstStyle/>
          <a:p>
            <a:pPr indent="0" marL="0">
              <a:buNone/>
            </a:pPr>
            <a:r>
              <a:rPr lang="en-US" sz="1200" b="1" spc="300" kern="0" dirty="0">
                <a:solidFill>
                  <a:srgbClr val="FFB48F"/>
                </a:solidFill>
                <a:latin typeface="Calibri" pitchFamily="34" charset="0"/>
                <a:ea typeface="Calibri" pitchFamily="34" charset="-122"/>
                <a:cs typeface="Calibri" pitchFamily="34" charset="-120"/>
              </a:rPr>
              <a:t>Mission</a:t>
            </a:r>
            <a:endParaRPr lang="en-US" sz="1200" dirty="0"/>
          </a:p>
        </p:txBody>
      </p:sp>
      <p:sp>
        <p:nvSpPr>
          <p:cNvPr id="6" name="Text 4"/>
          <p:cNvSpPr txBox="1"/>
          <p:nvPr/>
        </p:nvSpPr>
        <p:spPr>
          <a:xfrm>
            <a:off x="457200" y="1371600"/>
            <a:ext cx="8229600" cy="868680"/>
          </a:xfrm>
          <a:prstGeom prst="rect">
            <a:avLst/>
          </a:prstGeom>
          <a:noFill/>
          <a:ln/>
        </p:spPr>
        <p:txBody>
          <a:bodyPr wrap="square" lIns="0" tIns="0" rIns="0" bIns="0" rtlCol="0" anchor="t"/>
          <a:lstStyle/>
          <a:p>
            <a:pPr indent="0" marL="0">
              <a:buNone/>
            </a:pPr>
            <a:r>
              <a:rPr lang="en-US" sz="1500" dirty="0">
                <a:solidFill>
                  <a:srgbClr val="DBE6F3"/>
                </a:solidFill>
                <a:latin typeface="Calibri" pitchFamily="34" charset="0"/>
                <a:ea typeface="Calibri" pitchFamily="34" charset="-122"/>
                <a:cs typeface="Calibri" pitchFamily="34" charset="-120"/>
              </a:rPr>
              <a:t>Le directeur commercial veut le CA, les commandes, les paniers, les stocks. La technique veut débit, erreurs et latence filtrables par instance et par route. Tout le monde veut voir quand on a cassé quelque chose.</a:t>
            </a:r>
            <a:endParaRPr lang="en-US" sz="1500" dirty="0"/>
          </a:p>
        </p:txBody>
      </p:sp>
      <p:sp>
        <p:nvSpPr>
          <p:cNvPr id="7" name="Shape 5"/>
          <p:cNvSpPr/>
          <p:nvPr/>
        </p:nvSpPr>
        <p:spPr>
          <a:xfrm>
            <a:off x="457200" y="2377440"/>
            <a:ext cx="1499616" cy="2194560"/>
          </a:xfrm>
          <a:prstGeom prst="roundRect">
            <a:avLst>
              <a:gd name="adj" fmla="val 4878"/>
            </a:avLst>
          </a:prstGeom>
          <a:solidFill>
            <a:srgbClr val="163D6B"/>
          </a:solidFill>
          <a:ln w="12700">
            <a:solidFill>
              <a:srgbClr val="163D6B"/>
            </a:solidFill>
            <a:prstDash val="solid"/>
          </a:ln>
        </p:spPr>
      </p:sp>
      <p:sp>
        <p:nvSpPr>
          <p:cNvPr id="8" name="Shape 6"/>
          <p:cNvSpPr/>
          <p:nvPr/>
        </p:nvSpPr>
        <p:spPr>
          <a:xfrm>
            <a:off x="640080" y="2560320"/>
            <a:ext cx="347472" cy="347472"/>
          </a:xfrm>
          <a:prstGeom prst="ellipse">
            <a:avLst/>
          </a:prstGeom>
          <a:solidFill>
            <a:srgbClr val="F15A22"/>
          </a:solidFill>
          <a:ln w="12700">
            <a:solidFill>
              <a:srgbClr val="F15A22"/>
            </a:solidFill>
            <a:prstDash val="solid"/>
          </a:ln>
        </p:spPr>
      </p:sp>
      <p:sp>
        <p:nvSpPr>
          <p:cNvPr id="9" name="Text 7"/>
          <p:cNvSpPr txBox="1"/>
          <p:nvPr/>
        </p:nvSpPr>
        <p:spPr>
          <a:xfrm>
            <a:off x="64008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078992"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Métier</a:t>
            </a:r>
            <a:endParaRPr lang="en-US" sz="1150" dirty="0"/>
          </a:p>
        </p:txBody>
      </p:sp>
      <p:sp>
        <p:nvSpPr>
          <p:cNvPr id="11" name="Text 9"/>
          <p:cNvSpPr txBox="1"/>
          <p:nvPr/>
        </p:nvSpPr>
        <p:spPr>
          <a:xfrm>
            <a:off x="640080"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CA/h en Stat, commandes, paniers, pie chart des paiements, stock en bar gauge LCD.</a:t>
            </a:r>
            <a:endParaRPr lang="en-US" sz="1050" dirty="0"/>
          </a:p>
        </p:txBody>
      </p:sp>
      <p:sp>
        <p:nvSpPr>
          <p:cNvPr id="12" name="Shape 10"/>
          <p:cNvSpPr/>
          <p:nvPr/>
        </p:nvSpPr>
        <p:spPr>
          <a:xfrm>
            <a:off x="2139696" y="2377440"/>
            <a:ext cx="1499616" cy="2194560"/>
          </a:xfrm>
          <a:prstGeom prst="roundRect">
            <a:avLst>
              <a:gd name="adj" fmla="val 4878"/>
            </a:avLst>
          </a:prstGeom>
          <a:solidFill>
            <a:srgbClr val="163D6B"/>
          </a:solidFill>
          <a:ln w="12700">
            <a:solidFill>
              <a:srgbClr val="163D6B"/>
            </a:solidFill>
            <a:prstDash val="solid"/>
          </a:ln>
        </p:spPr>
      </p:sp>
      <p:sp>
        <p:nvSpPr>
          <p:cNvPr id="13" name="Shape 11"/>
          <p:cNvSpPr/>
          <p:nvPr/>
        </p:nvSpPr>
        <p:spPr>
          <a:xfrm>
            <a:off x="2322576" y="2560320"/>
            <a:ext cx="347472" cy="347472"/>
          </a:xfrm>
          <a:prstGeom prst="ellipse">
            <a:avLst/>
          </a:prstGeom>
          <a:solidFill>
            <a:srgbClr val="F15A22"/>
          </a:solidFill>
          <a:ln w="12700">
            <a:solidFill>
              <a:srgbClr val="F15A22"/>
            </a:solidFill>
            <a:prstDash val="solid"/>
          </a:ln>
        </p:spPr>
      </p:sp>
      <p:sp>
        <p:nvSpPr>
          <p:cNvPr id="14" name="Text 12"/>
          <p:cNvSpPr txBox="1"/>
          <p:nvPr/>
        </p:nvSpPr>
        <p:spPr>
          <a:xfrm>
            <a:off x="2322576"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2761488"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RED</a:t>
            </a:r>
            <a:endParaRPr lang="en-US" sz="1150" dirty="0"/>
          </a:p>
        </p:txBody>
      </p:sp>
      <p:sp>
        <p:nvSpPr>
          <p:cNvPr id="16" name="Text 14"/>
          <p:cNvSpPr txBox="1"/>
          <p:nvPr/>
        </p:nvSpPr>
        <p:spPr>
          <a:xfrm>
            <a:off x="2322576"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Débit empilé, taux d'erreur avec seuil, p50/p95/p99, heatmap des latences.</a:t>
            </a:r>
            <a:endParaRPr lang="en-US" sz="1050" dirty="0"/>
          </a:p>
        </p:txBody>
      </p:sp>
      <p:sp>
        <p:nvSpPr>
          <p:cNvPr id="17" name="Shape 15"/>
          <p:cNvSpPr/>
          <p:nvPr/>
        </p:nvSpPr>
        <p:spPr>
          <a:xfrm>
            <a:off x="3822192" y="2377440"/>
            <a:ext cx="1499616" cy="2194560"/>
          </a:xfrm>
          <a:prstGeom prst="roundRect">
            <a:avLst>
              <a:gd name="adj" fmla="val 4878"/>
            </a:avLst>
          </a:prstGeom>
          <a:solidFill>
            <a:srgbClr val="163D6B"/>
          </a:solidFill>
          <a:ln w="12700">
            <a:solidFill>
              <a:srgbClr val="163D6B"/>
            </a:solidFill>
            <a:prstDash val="solid"/>
          </a:ln>
        </p:spPr>
      </p:sp>
      <p:sp>
        <p:nvSpPr>
          <p:cNvPr id="18" name="Shape 16"/>
          <p:cNvSpPr/>
          <p:nvPr/>
        </p:nvSpPr>
        <p:spPr>
          <a:xfrm>
            <a:off x="4005072" y="2560320"/>
            <a:ext cx="347472" cy="347472"/>
          </a:xfrm>
          <a:prstGeom prst="ellipse">
            <a:avLst/>
          </a:prstGeom>
          <a:solidFill>
            <a:srgbClr val="F15A22"/>
          </a:solidFill>
          <a:ln w="12700">
            <a:solidFill>
              <a:srgbClr val="F15A22"/>
            </a:solidFill>
            <a:prstDash val="solid"/>
          </a:ln>
        </p:spPr>
      </p:sp>
      <p:sp>
        <p:nvSpPr>
          <p:cNvPr id="19" name="Text 17"/>
          <p:cNvSpPr txBox="1"/>
          <p:nvPr/>
        </p:nvSpPr>
        <p:spPr>
          <a:xfrm>
            <a:off x="4005072"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4443984"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Détail</a:t>
            </a:r>
            <a:endParaRPr lang="en-US" sz="1150" dirty="0"/>
          </a:p>
        </p:txBody>
      </p:sp>
      <p:sp>
        <p:nvSpPr>
          <p:cNvPr id="21" name="Text 19"/>
          <p:cNvSpPr txBox="1"/>
          <p:nvPr/>
        </p:nvSpPr>
        <p:spPr>
          <a:xfrm>
            <a:off x="4005072"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Table Top routes colorée, bar chart par code HTTP, version déployée.</a:t>
            </a:r>
            <a:endParaRPr lang="en-US" sz="1050" dirty="0"/>
          </a:p>
        </p:txBody>
      </p:sp>
      <p:sp>
        <p:nvSpPr>
          <p:cNvPr id="22" name="Shape 20"/>
          <p:cNvSpPr/>
          <p:nvPr/>
        </p:nvSpPr>
        <p:spPr>
          <a:xfrm>
            <a:off x="5504688" y="2377440"/>
            <a:ext cx="1499616" cy="2194560"/>
          </a:xfrm>
          <a:prstGeom prst="roundRect">
            <a:avLst>
              <a:gd name="adj" fmla="val 4878"/>
            </a:avLst>
          </a:prstGeom>
          <a:solidFill>
            <a:srgbClr val="163D6B"/>
          </a:solidFill>
          <a:ln w="12700">
            <a:solidFill>
              <a:srgbClr val="163D6B"/>
            </a:solidFill>
            <a:prstDash val="solid"/>
          </a:ln>
        </p:spPr>
      </p:sp>
      <p:sp>
        <p:nvSpPr>
          <p:cNvPr id="23" name="Shape 21"/>
          <p:cNvSpPr/>
          <p:nvPr/>
        </p:nvSpPr>
        <p:spPr>
          <a:xfrm>
            <a:off x="5687568" y="2560320"/>
            <a:ext cx="347472" cy="347472"/>
          </a:xfrm>
          <a:prstGeom prst="ellipse">
            <a:avLst/>
          </a:prstGeom>
          <a:solidFill>
            <a:srgbClr val="F15A22"/>
          </a:solidFill>
          <a:ln w="12700">
            <a:solidFill>
              <a:srgbClr val="F15A22"/>
            </a:solidFill>
            <a:prstDash val="solid"/>
          </a:ln>
        </p:spPr>
      </p:sp>
      <p:sp>
        <p:nvSpPr>
          <p:cNvPr id="24" name="Text 22"/>
          <p:cNvSpPr txBox="1"/>
          <p:nvPr/>
        </p:nvSpPr>
        <p:spPr>
          <a:xfrm>
            <a:off x="5687568"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6126480"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Annotations</a:t>
            </a:r>
            <a:endParaRPr lang="en-US" sz="1150" dirty="0"/>
          </a:p>
        </p:txBody>
      </p:sp>
      <p:sp>
        <p:nvSpPr>
          <p:cNvPr id="26" name="Text 24"/>
          <p:cNvSpPr txBox="1"/>
          <p:nvPr/>
        </p:nvSpPr>
        <p:spPr>
          <a:xfrm>
            <a:off x="5687568"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Les bascules chaos annotées, lien vers le TP 4 et vers Prometheus.</a:t>
            </a:r>
            <a:endParaRPr lang="en-US" sz="1050" dirty="0"/>
          </a:p>
        </p:txBody>
      </p:sp>
      <p:sp>
        <p:nvSpPr>
          <p:cNvPr id="27" name="Shape 25"/>
          <p:cNvSpPr/>
          <p:nvPr/>
        </p:nvSpPr>
        <p:spPr>
          <a:xfrm>
            <a:off x="7187184" y="2377440"/>
            <a:ext cx="1499616" cy="2194560"/>
          </a:xfrm>
          <a:prstGeom prst="roundRect">
            <a:avLst>
              <a:gd name="adj" fmla="val 4878"/>
            </a:avLst>
          </a:prstGeom>
          <a:solidFill>
            <a:srgbClr val="163D6B"/>
          </a:solidFill>
          <a:ln w="12700">
            <a:solidFill>
              <a:srgbClr val="163D6B"/>
            </a:solidFill>
            <a:prstDash val="solid"/>
          </a:ln>
        </p:spPr>
      </p:sp>
      <p:sp>
        <p:nvSpPr>
          <p:cNvPr id="28" name="Shape 26"/>
          <p:cNvSpPr/>
          <p:nvPr/>
        </p:nvSpPr>
        <p:spPr>
          <a:xfrm>
            <a:off x="7370064" y="2560320"/>
            <a:ext cx="347472" cy="347472"/>
          </a:xfrm>
          <a:prstGeom prst="ellipse">
            <a:avLst/>
          </a:prstGeom>
          <a:solidFill>
            <a:srgbClr val="F15A22"/>
          </a:solidFill>
          <a:ln w="12700">
            <a:solidFill>
              <a:srgbClr val="F15A22"/>
            </a:solidFill>
            <a:prstDash val="solid"/>
          </a:ln>
        </p:spPr>
      </p:sp>
      <p:sp>
        <p:nvSpPr>
          <p:cNvPr id="29" name="Text 27"/>
          <p:cNvSpPr txBox="1"/>
          <p:nvPr/>
        </p:nvSpPr>
        <p:spPr>
          <a:xfrm>
            <a:off x="7370064"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0" name="Text 28"/>
          <p:cNvSpPr txBox="1"/>
          <p:nvPr/>
        </p:nvSpPr>
        <p:spPr>
          <a:xfrm>
            <a:off x="7808976"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As code</a:t>
            </a:r>
            <a:endParaRPr lang="en-US" sz="1150" dirty="0"/>
          </a:p>
        </p:txBody>
      </p:sp>
      <p:sp>
        <p:nvSpPr>
          <p:cNvPr id="31" name="Text 29"/>
          <p:cNvSpPr txBox="1"/>
          <p:nvPr/>
        </p:nvSpPr>
        <p:spPr>
          <a:xfrm>
            <a:off x="7370064"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Export as code (Classic, JSON) → grafana/dashboards/. Provisionné, cadenas.</a:t>
            </a:r>
            <a:endParaRPr lang="en-US" sz="1050" dirty="0"/>
          </a:p>
        </p:txBody>
      </p:sp>
      <p:sp>
        <p:nvSpPr>
          <p:cNvPr id="32" name="Text 30"/>
          <p:cNvSpPr txBox="1"/>
          <p:nvPr/>
        </p:nvSpPr>
        <p:spPr>
          <a:xfrm>
            <a:off x="457200" y="4709160"/>
            <a:ext cx="8229600" cy="274320"/>
          </a:xfrm>
          <a:prstGeom prst="rect">
            <a:avLst/>
          </a:prstGeom>
          <a:noFill/>
          <a:ln/>
        </p:spPr>
        <p:txBody>
          <a:bodyPr wrap="square" lIns="0" tIns="0" rIns="0" bIns="0" rtlCol="0" anchor="ctr"/>
          <a:lstStyle/>
          <a:p>
            <a:pPr indent="0" marL="0">
              <a:buNone/>
            </a:pPr>
            <a:r>
              <a:rPr lang="en-US" sz="1000" i="1" dirty="0">
                <a:solidFill>
                  <a:srgbClr val="8FA3BD"/>
                </a:solidFill>
                <a:latin typeface="Calibri" pitchFamily="34" charset="0"/>
                <a:ea typeface="Calibri" pitchFamily="34" charset="-122"/>
                <a:cs typeface="Calibri" pitchFamily="34" charset="-120"/>
              </a:rPr>
              <a:t>Énoncé complet dans le guide stagiaire · corrigé projeté après recherche</a:t>
            </a:r>
            <a:endParaRPr lang="en-US" sz="10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61</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TP 5 — le résultat attendu</a:t>
            </a:r>
            <a:endParaRPr lang="en-US" sz="2800" dirty="0"/>
          </a:p>
        </p:txBody>
      </p:sp>
      <p:pic>
        <p:nvPicPr>
          <p:cNvPr id="5" name="Image 0" descr="/home/claude/formation-observabilite-lab/docs/formateur/img/tp5-boutique.png">    </p:cNvPr>
          <p:cNvPicPr>
            <a:picLocks noChangeAspect="1"/>
          </p:cNvPicPr>
          <p:nvPr/>
        </p:nvPicPr>
        <p:blipFill>
          <a:blip r:embed="rId1"/>
          <a:srcRect l="0" r="0" t="0" b="0"/>
          <a:stretch/>
        </p:blipFill>
        <p:spPr>
          <a:xfrm>
            <a:off x="457200" y="1143000"/>
            <a:ext cx="8229600" cy="3291840"/>
          </a:xfrm>
          <a:prstGeom prst="rect">
            <a:avLst/>
          </a:prstGeom>
        </p:spPr>
      </p:pic>
      <p:sp>
        <p:nvSpPr>
          <p:cNvPr id="6" name="Text 3"/>
          <p:cNvSpPr txBox="1"/>
          <p:nvPr/>
        </p:nvSpPr>
        <p:spPr>
          <a:xfrm>
            <a:off x="457200" y="4480560"/>
            <a:ext cx="8229600" cy="274320"/>
          </a:xfrm>
          <a:prstGeom prst="rect">
            <a:avLst/>
          </a:prstGeom>
          <a:noFill/>
          <a:ln/>
        </p:spPr>
        <p:txBody>
          <a:bodyPr wrap="square" lIns="0" tIns="0" rIns="0" bIns="0" rtlCol="0" anchor="ctr"/>
          <a:lstStyle/>
          <a:p>
            <a:pPr algn="ctr" indent="0" marL="0">
              <a:buNone/>
            </a:pPr>
            <a:r>
              <a:rPr lang="en-US" sz="1100" i="1" dirty="0">
                <a:solidFill>
                  <a:srgbClr val="5B6270"/>
                </a:solidFill>
                <a:latin typeface="Calibri" pitchFamily="34" charset="0"/>
                <a:ea typeface="Calibri" pitchFamily="34" charset="-122"/>
                <a:cs typeface="Calibri" pitchFamily="34" charset="-120"/>
              </a:rPr>
              <a:t>Métier en haut, RED au milieu, détail en bas, deux bascules chaos annotées</a:t>
            </a:r>
            <a:endParaRPr lang="en-US" sz="11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10</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Provisioning, utilisateurs, droits</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Tout en fichiers, un modèle de droits propre, OSS ou Enterprise ?</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63</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 modèle de droits</a:t>
            </a:r>
            <a:endParaRPr lang="en-US" sz="2800" dirty="0"/>
          </a:p>
        </p:txBody>
      </p:sp>
      <p:sp>
        <p:nvSpPr>
          <p:cNvPr id="5" name="Shape 3"/>
          <p:cNvSpPr/>
          <p:nvPr/>
        </p:nvSpPr>
        <p:spPr>
          <a:xfrm>
            <a:off x="457200" y="1234440"/>
            <a:ext cx="4000500" cy="1600200"/>
          </a:xfrm>
          <a:prstGeom prst="roundRect">
            <a:avLst>
              <a:gd name="adj" fmla="val 4571"/>
            </a:avLst>
          </a:prstGeom>
          <a:solidFill>
            <a:srgbClr val="F4F5F7"/>
          </a:solidFill>
          <a:ln w="12700">
            <a:solidFill>
              <a:srgbClr val="F4F5F7"/>
            </a:solidFill>
            <a:prstDash val="solid"/>
          </a:ln>
        </p:spPr>
      </p:sp>
      <p:sp>
        <p:nvSpPr>
          <p:cNvPr id="6" name="Text 4"/>
          <p:cNvSpPr txBox="1"/>
          <p:nvPr/>
        </p:nvSpPr>
        <p:spPr>
          <a:xfrm>
            <a:off x="6400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Organisation</a:t>
            </a:r>
            <a:endParaRPr lang="en-US" sz="1500" dirty="0"/>
          </a:p>
        </p:txBody>
      </p:sp>
      <p:sp>
        <p:nvSpPr>
          <p:cNvPr id="7" name="Text 5"/>
          <p:cNvSpPr txBox="1"/>
          <p:nvPr/>
        </p:nvSpPr>
        <p:spPr>
          <a:xfrm>
            <a:off x="6400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Cloisonnement total. Une par client chez un hébergeur, sinon une seule. Pas pour séparer des équipes.</a:t>
            </a:r>
            <a:endParaRPr lang="en-US" sz="1200" dirty="0"/>
          </a:p>
        </p:txBody>
      </p:sp>
      <p:sp>
        <p:nvSpPr>
          <p:cNvPr id="8" name="Shape 6"/>
          <p:cNvSpPr/>
          <p:nvPr/>
        </p:nvSpPr>
        <p:spPr>
          <a:xfrm>
            <a:off x="4686300" y="1234440"/>
            <a:ext cx="4000500" cy="1600200"/>
          </a:xfrm>
          <a:prstGeom prst="roundRect">
            <a:avLst>
              <a:gd name="adj" fmla="val 4571"/>
            </a:avLst>
          </a:prstGeom>
          <a:solidFill>
            <a:srgbClr val="F4F5F7"/>
          </a:solidFill>
          <a:ln w="12700">
            <a:solidFill>
              <a:srgbClr val="F4F5F7"/>
            </a:solidFill>
            <a:prstDash val="solid"/>
          </a:ln>
        </p:spPr>
      </p:sp>
      <p:sp>
        <p:nvSpPr>
          <p:cNvPr id="9" name="Text 7"/>
          <p:cNvSpPr txBox="1"/>
          <p:nvPr/>
        </p:nvSpPr>
        <p:spPr>
          <a:xfrm>
            <a:off x="48691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Utilisateurs et rôles</a:t>
            </a:r>
            <a:endParaRPr lang="en-US" sz="1500" dirty="0"/>
          </a:p>
        </p:txBody>
      </p:sp>
      <p:sp>
        <p:nvSpPr>
          <p:cNvPr id="10" name="Text 8"/>
          <p:cNvSpPr txBox="1"/>
          <p:nvPr/>
        </p:nvSpPr>
        <p:spPr>
          <a:xfrm>
            <a:off x="48691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Locaux ou OAuth / LDAP / SAML. Admin, Editor, Viewer, None par organisation. Le Server Admin à part.</a:t>
            </a:r>
            <a:endParaRPr lang="en-US" sz="1200" dirty="0"/>
          </a:p>
        </p:txBody>
      </p:sp>
      <p:sp>
        <p:nvSpPr>
          <p:cNvPr id="11" name="Shape 9"/>
          <p:cNvSpPr/>
          <p:nvPr/>
        </p:nvSpPr>
        <p:spPr>
          <a:xfrm>
            <a:off x="457200" y="3063240"/>
            <a:ext cx="4000500" cy="1600200"/>
          </a:xfrm>
          <a:prstGeom prst="roundRect">
            <a:avLst>
              <a:gd name="adj" fmla="val 4571"/>
            </a:avLst>
          </a:prstGeom>
          <a:solidFill>
            <a:srgbClr val="F4F5F7"/>
          </a:solidFill>
          <a:ln w="12700">
            <a:solidFill>
              <a:srgbClr val="F4F5F7"/>
            </a:solidFill>
            <a:prstDash val="solid"/>
          </a:ln>
        </p:spPr>
      </p:sp>
      <p:sp>
        <p:nvSpPr>
          <p:cNvPr id="12" name="Text 10"/>
          <p:cNvSpPr txBox="1"/>
          <p:nvPr/>
        </p:nvSpPr>
        <p:spPr>
          <a:xfrm>
            <a:off x="6400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Teams et dossiers</a:t>
            </a:r>
            <a:endParaRPr lang="en-US" sz="1500" dirty="0"/>
          </a:p>
        </p:txBody>
      </p:sp>
      <p:sp>
        <p:nvSpPr>
          <p:cNvPr id="13" name="Text 11"/>
          <p:cNvSpPr txBox="1"/>
          <p:nvPr/>
        </p:nvSpPr>
        <p:spPr>
          <a:xfrm>
            <a:off x="6400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Les droits vont aux teams, pas aux personnes. View / Edit / Admin par dossier ou dashboard.</a:t>
            </a:r>
            <a:endParaRPr lang="en-US" sz="1200" dirty="0"/>
          </a:p>
        </p:txBody>
      </p:sp>
      <p:sp>
        <p:nvSpPr>
          <p:cNvPr id="14" name="Shape 12"/>
          <p:cNvSpPr/>
          <p:nvPr/>
        </p:nvSpPr>
        <p:spPr>
          <a:xfrm>
            <a:off x="4686300" y="3063240"/>
            <a:ext cx="4000500" cy="1600200"/>
          </a:xfrm>
          <a:prstGeom prst="roundRect">
            <a:avLst>
              <a:gd name="adj" fmla="val 4571"/>
            </a:avLst>
          </a:prstGeom>
          <a:solidFill>
            <a:srgbClr val="F4F5F7"/>
          </a:solidFill>
          <a:ln w="12700">
            <a:solidFill>
              <a:srgbClr val="F4F5F7"/>
            </a:solidFill>
            <a:prstDash val="solid"/>
          </a:ln>
        </p:spPr>
      </p:sp>
      <p:sp>
        <p:nvSpPr>
          <p:cNvPr id="15" name="Text 13"/>
          <p:cNvSpPr txBox="1"/>
          <p:nvPr/>
        </p:nvSpPr>
        <p:spPr>
          <a:xfrm>
            <a:off x="48691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Service accounts</a:t>
            </a:r>
            <a:endParaRPr lang="en-US" sz="1500" dirty="0"/>
          </a:p>
        </p:txBody>
      </p:sp>
      <p:sp>
        <p:nvSpPr>
          <p:cNvPr id="16" name="Text 14"/>
          <p:cNvSpPr txBox="1"/>
          <p:nvPr/>
        </p:nvSpPr>
        <p:spPr>
          <a:xfrm>
            <a:off x="48691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Comptes techniques avec token, pour les scripts et la CI. Remplacent les API keys.</a:t>
            </a:r>
            <a:endParaRPr lang="en-US" sz="12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64</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OSS, Enterprise, Cloud</a:t>
            </a:r>
            <a:endParaRPr lang="en-US" sz="28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3291840"/>
                <a:gridCol w="2194560"/>
                <a:gridCol w="2743200"/>
              </a:tblGrid>
              <a:tr h="411480">
                <a:tc>
                  <a:txBody>
                    <a:bodyPr/>
                    <a:lstStyle/>
                    <a:p>
                      <a:pPr indent="0" marL="0">
                        <a:buNone/>
                      </a:pP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OSS (AGPL v3)</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Enterprise / Cloud</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r>
              <a:tr h="411480">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Dashboards, alerting, Explore, provisioning, Git Sync</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Oui</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Oui</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11480">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Sources de données</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Toutes les open source</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 Splunk, Datadog, ServiceNow, Oracle, SAP…</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11480">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Authentification</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OAuth, LDAP, proxy</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 SAML, SCIM, sync de teams</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11480">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Droits</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Rôles fixes, permissions dossiers</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 RBAC fin, permissions par source</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11480">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Rapports PDF, white-label, audit, query caching</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Non</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Oui</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11480">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Support, prix</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Communauté, gratuit</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Contrat ; licence par utilisateur actif / à l'usage</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bl>
          </a:graphicData>
        </a:graphic>
      </p:graphicFrame>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65</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Exercices 2.30 à 2.33 — droits (20 min)</a:t>
            </a:r>
            <a:endParaRPr lang="en-US" sz="2800" dirty="0"/>
          </a:p>
        </p:txBody>
      </p:sp>
      <p:sp>
        <p:nvSpPr>
          <p:cNvPr id="5" name="Shape 3"/>
          <p:cNvSpPr/>
          <p:nvPr/>
        </p:nvSpPr>
        <p:spPr>
          <a:xfrm>
            <a:off x="457200" y="1280160"/>
            <a:ext cx="384048" cy="384048"/>
          </a:xfrm>
          <a:prstGeom prst="ellipse">
            <a:avLst/>
          </a:prstGeom>
          <a:solidFill>
            <a:srgbClr val="F15A22"/>
          </a:solidFill>
          <a:ln w="12700">
            <a:solidFill>
              <a:srgbClr val="F15A22"/>
            </a:solidFill>
            <a:prstDash val="solid"/>
          </a:ln>
        </p:spPr>
      </p:sp>
      <p:sp>
        <p:nvSpPr>
          <p:cNvPr id="6" name="Text 4"/>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2.30</a:t>
            </a:r>
            <a:endParaRPr lang="en-US" sz="950" dirty="0"/>
          </a:p>
        </p:txBody>
      </p:sp>
      <p:sp>
        <p:nvSpPr>
          <p:cNvPr id="7" name="Text 5"/>
          <p:cNvSpPr txBox="1"/>
          <p:nvPr/>
        </p:nvSpPr>
        <p:spPr>
          <a:xfrm>
            <a:off x="960120" y="1234440"/>
            <a:ext cx="3520440" cy="548640"/>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Une utilisatrice Viewer : que peut-elle faire ?</a:t>
            </a:r>
            <a:endParaRPr lang="en-US" sz="1200" dirty="0"/>
          </a:p>
        </p:txBody>
      </p:sp>
      <p:sp>
        <p:nvSpPr>
          <p:cNvPr id="8" name="Shape 6"/>
          <p:cNvSpPr/>
          <p:nvPr/>
        </p:nvSpPr>
        <p:spPr>
          <a:xfrm>
            <a:off x="457200" y="1938528"/>
            <a:ext cx="384048" cy="384048"/>
          </a:xfrm>
          <a:prstGeom prst="ellipse">
            <a:avLst/>
          </a:prstGeom>
          <a:solidFill>
            <a:srgbClr val="F15A22"/>
          </a:solidFill>
          <a:ln w="12700">
            <a:solidFill>
              <a:srgbClr val="F15A22"/>
            </a:solidFill>
            <a:prstDash val="solid"/>
          </a:ln>
        </p:spPr>
      </p:sp>
      <p:sp>
        <p:nvSpPr>
          <p:cNvPr id="9" name="Text 7"/>
          <p:cNvSpPr txBox="1"/>
          <p:nvPr/>
        </p:nvSpPr>
        <p:spPr>
          <a:xfrm>
            <a:off x="457200" y="1938528"/>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2.31</a:t>
            </a:r>
            <a:endParaRPr lang="en-US" sz="950" dirty="0"/>
          </a:p>
        </p:txBody>
      </p:sp>
      <p:sp>
        <p:nvSpPr>
          <p:cNvPr id="10" name="Text 8"/>
          <p:cNvSpPr txBox="1"/>
          <p:nvPr/>
        </p:nvSpPr>
        <p:spPr>
          <a:xfrm>
            <a:off x="960120" y="1892808"/>
            <a:ext cx="3520440" cy="548640"/>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Un dossier Boutique, une team, Edit sur le dossier seulement</a:t>
            </a:r>
            <a:endParaRPr lang="en-US" sz="1200" dirty="0"/>
          </a:p>
        </p:txBody>
      </p:sp>
      <p:sp>
        <p:nvSpPr>
          <p:cNvPr id="11" name="Shape 9"/>
          <p:cNvSpPr/>
          <p:nvPr/>
        </p:nvSpPr>
        <p:spPr>
          <a:xfrm>
            <a:off x="4663440" y="1280160"/>
            <a:ext cx="384048" cy="384048"/>
          </a:xfrm>
          <a:prstGeom prst="ellipse">
            <a:avLst/>
          </a:prstGeom>
          <a:solidFill>
            <a:srgbClr val="F15A22"/>
          </a:solidFill>
          <a:ln w="12700">
            <a:solidFill>
              <a:srgbClr val="F15A22"/>
            </a:solidFill>
            <a:prstDash val="solid"/>
          </a:ln>
        </p:spPr>
      </p:sp>
      <p:sp>
        <p:nvSpPr>
          <p:cNvPr id="12" name="Text 10"/>
          <p:cNvSpPr txBox="1"/>
          <p:nvPr/>
        </p:nvSpPr>
        <p:spPr>
          <a:xfrm>
            <a:off x="4663440" y="12801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2.32</a:t>
            </a:r>
            <a:endParaRPr lang="en-US" sz="950" dirty="0"/>
          </a:p>
        </p:txBody>
      </p:sp>
      <p:sp>
        <p:nvSpPr>
          <p:cNvPr id="13" name="Text 11"/>
          <p:cNvSpPr txBox="1"/>
          <p:nvPr/>
        </p:nvSpPr>
        <p:spPr>
          <a:xfrm>
            <a:off x="5166360" y="1234440"/>
            <a:ext cx="3520440" cy="548640"/>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Une organisation : que voit-on dedans ?</a:t>
            </a:r>
            <a:endParaRPr lang="en-US" sz="1200" dirty="0"/>
          </a:p>
        </p:txBody>
      </p:sp>
      <p:sp>
        <p:nvSpPr>
          <p:cNvPr id="14" name="Shape 12"/>
          <p:cNvSpPr/>
          <p:nvPr/>
        </p:nvSpPr>
        <p:spPr>
          <a:xfrm>
            <a:off x="4663440" y="1938528"/>
            <a:ext cx="384048" cy="384048"/>
          </a:xfrm>
          <a:prstGeom prst="ellipse">
            <a:avLst/>
          </a:prstGeom>
          <a:solidFill>
            <a:srgbClr val="F15A22"/>
          </a:solidFill>
          <a:ln w="12700">
            <a:solidFill>
              <a:srgbClr val="F15A22"/>
            </a:solidFill>
            <a:prstDash val="solid"/>
          </a:ln>
        </p:spPr>
      </p:sp>
      <p:sp>
        <p:nvSpPr>
          <p:cNvPr id="15" name="Text 13"/>
          <p:cNvSpPr txBox="1"/>
          <p:nvPr/>
        </p:nvSpPr>
        <p:spPr>
          <a:xfrm>
            <a:off x="4663440" y="1938528"/>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2.33</a:t>
            </a:r>
            <a:endParaRPr lang="en-US" sz="950" dirty="0"/>
          </a:p>
        </p:txBody>
      </p:sp>
      <p:sp>
        <p:nvSpPr>
          <p:cNvPr id="16" name="Text 14"/>
          <p:cNvSpPr txBox="1"/>
          <p:nvPr/>
        </p:nvSpPr>
        <p:spPr>
          <a:xfrm>
            <a:off x="5166360" y="1892808"/>
            <a:ext cx="3520440" cy="548640"/>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Bonus : service account, token, curl, une annotation par l'API</a:t>
            </a:r>
            <a:endParaRPr lang="en-US" sz="12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66</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Récap du jour 2</a:t>
            </a:r>
            <a:endParaRPr lang="en-US" sz="2800" dirty="0"/>
          </a:p>
        </p:txBody>
      </p:sp>
      <p:sp>
        <p:nvSpPr>
          <p:cNvPr id="5" name="Text 3"/>
          <p:cNvSpPr txBox="1"/>
          <p:nvPr/>
        </p:nvSpPr>
        <p:spPr>
          <a:xfrm>
            <a:off x="457200" y="1188720"/>
            <a:ext cx="8229600" cy="34747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rate() sur un counter, jamais brut ; fenêtre ≥ 4 × scrape</a:t>
            </a:r>
            <a:endParaRPr lang="en-US" sz="1600" dirty="0"/>
          </a:p>
          <a:p>
            <a:pPr marL="342900" indent="-3429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histogram_quantile a besoin de by (le)</a:t>
            </a:r>
            <a:endParaRPr lang="en-US" sz="1600" dirty="0"/>
          </a:p>
          <a:p>
            <a:pPr marL="342900" indent="-3429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$__rate_interval partout dans Grafana ; multi-valeur → =~</a:t>
            </a:r>
            <a:endParaRPr lang="en-US" sz="1600" dirty="0"/>
          </a:p>
          <a:p>
            <a:pPr marL="342900" indent="-3429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Unités, seuils, value mappings : un dashboard lisible par le CEO</a:t>
            </a:r>
            <a:endParaRPr lang="en-US" sz="1600" dirty="0"/>
          </a:p>
          <a:p>
            <a:pPr marL="342900" indent="-3429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Merge + Organize + Sort : la table</a:t>
            </a:r>
            <a:endParaRPr lang="en-US" sz="1600" dirty="0"/>
          </a:p>
          <a:p>
            <a:pPr marL="342900" indent="-3429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Un dashboard vit dans Git, provisionné ; uid fixe</a:t>
            </a:r>
            <a:endParaRPr lang="en-US" sz="1600" dirty="0"/>
          </a:p>
          <a:p>
            <a:pPr marL="342900" indent="-3429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Droits par team et par dossier</a:t>
            </a:r>
            <a:endParaRPr lang="en-US" sz="16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JOUR 3</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Réagir</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Des alertes qui ne réveillent que pour de bonnes raisons, l'exploitation, le passage à l'échelle.</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11</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Philosophie de l'alerting</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Symptômes, pas causes. Actionnable, ou pas du tout.</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69</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Mauvaise alerte, bonne alerte</a:t>
            </a:r>
            <a:endParaRPr lang="en-US" sz="2800" dirty="0"/>
          </a:p>
        </p:txBody>
      </p:sp>
      <p:sp>
        <p:nvSpPr>
          <p:cNvPr id="5" name="Shape 3"/>
          <p:cNvSpPr/>
          <p:nvPr/>
        </p:nvSpPr>
        <p:spPr>
          <a:xfrm>
            <a:off x="457200" y="1234440"/>
            <a:ext cx="3977640" cy="3429000"/>
          </a:xfrm>
          <a:prstGeom prst="roundRect">
            <a:avLst>
              <a:gd name="adj" fmla="val 2133"/>
            </a:avLst>
          </a:prstGeom>
          <a:solidFill>
            <a:srgbClr val="F4F5F7"/>
          </a:solidFill>
          <a:ln w="12700">
            <a:solidFill>
              <a:srgbClr val="F4F5F7"/>
            </a:solidFill>
            <a:prstDash val="solid"/>
          </a:ln>
        </p:spPr>
      </p:sp>
      <p:sp>
        <p:nvSpPr>
          <p:cNvPr id="6" name="Text 4"/>
          <p:cNvSpPr txBox="1"/>
          <p:nvPr/>
        </p:nvSpPr>
        <p:spPr>
          <a:xfrm>
            <a:off x="68580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Cause</a:t>
            </a:r>
            <a:endParaRPr lang="en-US" sz="1700" dirty="0"/>
          </a:p>
        </p:txBody>
      </p:sp>
      <p:sp>
        <p:nvSpPr>
          <p:cNvPr id="7" name="Text 5"/>
          <p:cNvSpPr txBox="1"/>
          <p:nvPr/>
        </p:nvSpPr>
        <p:spPr>
          <a:xfrm>
            <a:off x="68580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 CPU &gt; 90 % »</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Peut-être un problème… ou le serveur qui fait son travail</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Réponse quand ça sonne : « je regarde »</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C'est un panel, pas une alerte</a:t>
            </a:r>
            <a:endParaRPr lang="en-US" sz="1300" dirty="0"/>
          </a:p>
        </p:txBody>
      </p:sp>
      <p:sp>
        <p:nvSpPr>
          <p:cNvPr id="8" name="Shape 6"/>
          <p:cNvSpPr/>
          <p:nvPr/>
        </p:nvSpPr>
        <p:spPr>
          <a:xfrm>
            <a:off x="4709160" y="1234440"/>
            <a:ext cx="3977640" cy="3429000"/>
          </a:xfrm>
          <a:prstGeom prst="roundRect">
            <a:avLst>
              <a:gd name="adj" fmla="val 2133"/>
            </a:avLst>
          </a:prstGeom>
          <a:solidFill>
            <a:srgbClr val="0F2A4A"/>
          </a:solidFill>
          <a:ln w="12700">
            <a:solidFill>
              <a:srgbClr val="0F2A4A"/>
            </a:solidFill>
            <a:prstDash val="solid"/>
          </a:ln>
        </p:spPr>
      </p:sp>
      <p:sp>
        <p:nvSpPr>
          <p:cNvPr id="9" name="Text 7"/>
          <p:cNvSpPr txBox="1"/>
          <p:nvPr/>
        </p:nvSpPr>
        <p:spPr>
          <a:xfrm>
            <a:off x="4937760" y="1371600"/>
            <a:ext cx="3566160" cy="41148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Symptôme</a:t>
            </a:r>
            <a:endParaRPr lang="en-US" sz="1700" dirty="0"/>
          </a:p>
        </p:txBody>
      </p:sp>
      <p:sp>
        <p:nvSpPr>
          <p:cNvPr id="10" name="Text 8"/>
          <p:cNvSpPr txBox="1"/>
          <p:nvPr/>
        </p:nvSpPr>
        <p:spPr>
          <a:xfrm>
            <a:off x="493776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 Les clients attendent plus de 3 s »</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 5 % des paiements échouent »</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Quelqu'un souffre, il faut agir</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Un runbook, un responsable, une sévérité</a:t>
            </a:r>
            <a:endParaRPr lang="en-US" sz="13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731520" y="1371600"/>
            <a:ext cx="7680960" cy="164592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400 notifications par jour.</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La nuit où la base est tombée, l'alerte est passée avec les autres.</a:t>
            </a:r>
            <a:endParaRPr lang="en-US" sz="3400" dirty="0"/>
          </a:p>
        </p:txBody>
      </p:sp>
      <p:sp>
        <p:nvSpPr>
          <p:cNvPr id="3" name="Text 1"/>
          <p:cNvSpPr txBox="1"/>
          <p:nvPr/>
        </p:nvSpPr>
        <p:spPr>
          <a:xfrm>
            <a:off x="731520" y="3108960"/>
            <a:ext cx="7680960" cy="914400"/>
          </a:xfrm>
          <a:prstGeom prst="rect">
            <a:avLst/>
          </a:prstGeom>
          <a:noFill/>
          <a:ln/>
        </p:spPr>
        <p:txBody>
          <a:bodyPr wrap="square" lIns="0" tIns="0" rIns="0" bIns="0" rtlCol="0" anchor="ctr"/>
          <a:lstStyle/>
          <a:p>
            <a:pPr indent="0" marL="0">
              <a:buNone/>
            </a:pPr>
            <a:r>
              <a:rPr lang="en-US" sz="1800" dirty="0">
                <a:solidFill>
                  <a:srgbClr val="FFB48F"/>
                </a:solidFill>
                <a:latin typeface="Calibri" pitchFamily="34" charset="0"/>
                <a:ea typeface="Calibri" pitchFamily="34" charset="-122"/>
                <a:cs typeface="Calibri" pitchFamily="34" charset="-120"/>
              </a:rPr>
              <a:t>Après nettoyage : 12 alertes, toutes sur des symptômes, chacune avec un runbook. La fatigue d'alerte tue plus de systèmes que les pannes.</a:t>
            </a:r>
            <a:endParaRPr lang="en-US" sz="18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71</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Anatomie d'une règle</a:t>
            </a:r>
            <a:endParaRPr lang="en-US" sz="2800" dirty="0"/>
          </a:p>
        </p:txBody>
      </p:sp>
      <p:sp>
        <p:nvSpPr>
          <p:cNvPr id="5" name="Shape 3"/>
          <p:cNvSpPr/>
          <p:nvPr/>
        </p:nvSpPr>
        <p:spPr>
          <a:xfrm>
            <a:off x="457200" y="1234440"/>
            <a:ext cx="5943600" cy="3429000"/>
          </a:xfrm>
          <a:prstGeom prst="roundRect">
            <a:avLst>
              <a:gd name="adj" fmla="val 2133"/>
            </a:avLst>
          </a:prstGeom>
          <a:solidFill>
            <a:srgbClr val="1E2633"/>
          </a:solidFill>
          <a:ln w="12700">
            <a:solidFill>
              <a:srgbClr val="1E2633"/>
            </a:solidFill>
            <a:prstDash val="solid"/>
          </a:ln>
        </p:spPr>
      </p:sp>
      <p:sp>
        <p:nvSpPr>
          <p:cNvPr id="6" name="Text 4"/>
          <p:cNvSpPr txBox="1"/>
          <p:nvPr/>
        </p:nvSpPr>
        <p:spPr>
          <a:xfrm>
            <a:off x="640080" y="1371600"/>
            <a:ext cx="5577840" cy="315468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groups: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 name: shop-api</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rules: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 alert: ShopHighErrorRate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expr: |</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sum by (instance) (rate(http_requests_total{status=~"5.."}[5m]))</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 sum by (instance) (rate(http_requests_total[5m])) &gt; 0.05</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for: 2m                 # inactive → pending → firing</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keep_firing_for: 3m     # anti-clignotement</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labels: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severity: critical</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team: boutique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annotations: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summary: "Taux d'erreur élevé sur {{ $labels.instance }}"</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description: "{{ $value | humanizePercentage }} des requêtes échouent."</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runbook_url: "https://…/shop-errors.md"</a:t>
            </a:r>
            <a:endParaRPr lang="en-US" sz="1000" dirty="0"/>
          </a:p>
        </p:txBody>
      </p:sp>
      <p:sp>
        <p:nvSpPr>
          <p:cNvPr id="7" name="Text 5"/>
          <p:cNvSpPr txBox="1"/>
          <p:nvPr/>
        </p:nvSpPr>
        <p:spPr>
          <a:xfrm>
            <a:off x="6583680" y="1234440"/>
            <a:ext cx="2103120" cy="342900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Une alerte par série renvoyée : by (instance) → une par instance</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Labels : pour router. Annotations : pour les humains</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Templates Go : $labels, $value, humanize*, printf</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promtool check rules, promtool test rules</a:t>
            </a:r>
            <a:endParaRPr lang="en-US" sz="11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12</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Alertmanager</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Qui prévenir, quand, combien de fois.</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73</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L'arbre de routage</a:t>
            </a:r>
            <a:endParaRPr lang="en-US" sz="2800" dirty="0"/>
          </a:p>
        </p:txBody>
      </p:sp>
      <p:sp>
        <p:nvSpPr>
          <p:cNvPr id="5" name="Shape 3"/>
          <p:cNvSpPr/>
          <p:nvPr/>
        </p:nvSpPr>
        <p:spPr>
          <a:xfrm>
            <a:off x="457200" y="1234440"/>
            <a:ext cx="5943600" cy="3429000"/>
          </a:xfrm>
          <a:prstGeom prst="roundRect">
            <a:avLst>
              <a:gd name="adj" fmla="val 2133"/>
            </a:avLst>
          </a:prstGeom>
          <a:solidFill>
            <a:srgbClr val="1E2633"/>
          </a:solidFill>
          <a:ln w="12700">
            <a:solidFill>
              <a:srgbClr val="1E2633"/>
            </a:solidFill>
            <a:prstDash val="solid"/>
          </a:ln>
        </p:spPr>
      </p:sp>
      <p:sp>
        <p:nvSpPr>
          <p:cNvPr id="6" name="Text 4"/>
          <p:cNvSpPr txBox="1"/>
          <p:nvPr/>
        </p:nvSpPr>
        <p:spPr>
          <a:xfrm>
            <a:off x="640080" y="1371600"/>
            <a:ext cx="5577840" cy="315468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route:                          # la racine reçoit tout</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receiver: inbox-default</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group_by: ["alertname", "job"]</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group_wait: 30s               # attendre avant la 1re notification du groupe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group_interval: 5m            # avant d'envoyer les nouveautés d'un groupe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repeat_interval: 4h           # re-notifier une alerte toujours active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routes: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 matchers: [severity = critical]</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receiver: astreinte-teams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continue: true            # évaluer aussi les routes suivantes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 matchers: [team = boutique]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receiver: boutique-slack</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inhibit_rules: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 source_matchers: [alertname = TargetDown]</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target_matchers: [alertname =~ "ShopHighErrorRate|ShopCheckoutSlow"]</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equal: [instance]</a:t>
            </a:r>
            <a:endParaRPr lang="en-US" sz="1000" dirty="0"/>
          </a:p>
        </p:txBody>
      </p:sp>
      <p:sp>
        <p:nvSpPr>
          <p:cNvPr id="7" name="Text 5"/>
          <p:cNvSpPr txBox="1"/>
          <p:nvPr/>
        </p:nvSpPr>
        <p:spPr>
          <a:xfrm>
            <a:off x="6583680" y="1234440"/>
            <a:ext cx="2103120" cy="342900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Première route qui matche, sauf continue: true</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Regroupement : 50 instances down = 1 notification</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Inhibition : serveur éteint, inutile de dire qu'il est lent</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Silences et time_intervals : maintenances, week-ends</a:t>
            </a:r>
            <a:endParaRPr lang="en-US" sz="11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74</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Alertmanager en action</a:t>
            </a:r>
            <a:endParaRPr lang="en-US" sz="2800" dirty="0"/>
          </a:p>
        </p:txBody>
      </p:sp>
      <p:pic>
        <p:nvPicPr>
          <p:cNvPr id="5" name="Image 0" descr="/home/claude/formation-observabilite-lab/docs/formateur/img/alertmanager-alerts.png">    </p:cNvPr>
          <p:cNvPicPr>
            <a:picLocks noChangeAspect="1"/>
          </p:cNvPicPr>
          <p:nvPr/>
        </p:nvPicPr>
        <p:blipFill>
          <a:blip r:embed="rId1"/>
          <a:srcRect l="0" r="0" t="0" b="0"/>
          <a:stretch/>
        </p:blipFill>
        <p:spPr>
          <a:xfrm>
            <a:off x="457200" y="1143000"/>
            <a:ext cx="8229600" cy="3291840"/>
          </a:xfrm>
          <a:prstGeom prst="rect">
            <a:avLst/>
          </a:prstGeom>
        </p:spPr>
      </p:pic>
      <p:sp>
        <p:nvSpPr>
          <p:cNvPr id="6" name="Text 3"/>
          <p:cNvSpPr txBox="1"/>
          <p:nvPr/>
        </p:nvSpPr>
        <p:spPr>
          <a:xfrm>
            <a:off x="457200" y="4480560"/>
            <a:ext cx="8229600" cy="274320"/>
          </a:xfrm>
          <a:prstGeom prst="rect">
            <a:avLst/>
          </a:prstGeom>
          <a:noFill/>
          <a:ln/>
        </p:spPr>
        <p:txBody>
          <a:bodyPr wrap="square" lIns="0" tIns="0" rIns="0" bIns="0" rtlCol="0" anchor="ctr"/>
          <a:lstStyle/>
          <a:p>
            <a:pPr algn="ctr" indent="0" marL="0">
              <a:buNone/>
            </a:pPr>
            <a:r>
              <a:rPr lang="en-US" sz="1100" i="1" dirty="0">
                <a:solidFill>
                  <a:srgbClr val="5B6270"/>
                </a:solidFill>
                <a:latin typeface="Calibri" pitchFamily="34" charset="0"/>
                <a:ea typeface="Calibri" pitchFamily="34" charset="-122"/>
                <a:cs typeface="Calibri" pitchFamily="34" charset="-120"/>
              </a:rPr>
              <a:t>Groupes par receiver, silences, inhibitions</a:t>
            </a:r>
            <a:endParaRPr lang="en-US" sz="11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0F2A4A"/>
        </a:solidFill>
      </p:bgPr>
    </p:bg>
    <p:spTree>
      <p:nvGrpSpPr>
        <p:cNvPr id="1" name=""/>
        <p:cNvGrpSpPr/>
        <p:nvPr/>
      </p:nvGrpSpPr>
      <p:grpSpPr>
        <a:xfrm>
          <a:off x="0" y="0"/>
          <a:ext cx="0" cy="0"/>
          <a:chOff x="0" y="0"/>
          <a:chExt cx="0" cy="0"/>
        </a:xfrm>
      </p:grpSpPr>
      <p:sp>
        <p:nvSpPr>
          <p:cNvPr id="2" name="Shape 0"/>
          <p:cNvSpPr/>
          <p:nvPr/>
        </p:nvSpPr>
        <p:spPr>
          <a:xfrm>
            <a:off x="457200" y="411480"/>
            <a:ext cx="1371600" cy="457200"/>
          </a:xfrm>
          <a:prstGeom prst="roundRect">
            <a:avLst>
              <a:gd name="adj" fmla="val 20000"/>
            </a:avLst>
          </a:prstGeom>
          <a:solidFill>
            <a:srgbClr val="F15A22"/>
          </a:solidFill>
          <a:ln w="12700">
            <a:solidFill>
              <a:srgbClr val="F15A22"/>
            </a:solidFill>
            <a:prstDash val="solid"/>
          </a:ln>
        </p:spPr>
      </p:sp>
      <p:sp>
        <p:nvSpPr>
          <p:cNvPr id="3" name="Text 1"/>
          <p:cNvSpPr txBox="1"/>
          <p:nvPr/>
        </p:nvSpPr>
        <p:spPr>
          <a:xfrm>
            <a:off x="457200" y="411480"/>
            <a:ext cx="13716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TP 6</a:t>
            </a:r>
            <a:endParaRPr lang="en-US" sz="1600" dirty="0"/>
          </a:p>
        </p:txBody>
      </p:sp>
      <p:sp>
        <p:nvSpPr>
          <p:cNvPr id="4" name="Text 2"/>
          <p:cNvSpPr txBox="1"/>
          <p:nvPr/>
        </p:nvSpPr>
        <p:spPr>
          <a:xfrm>
            <a:off x="2011680" y="365760"/>
            <a:ext cx="667512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Alertes Prometheus et routage Alertmanager</a:t>
            </a:r>
            <a:endParaRPr lang="en-US" sz="2400" dirty="0"/>
          </a:p>
        </p:txBody>
      </p:sp>
      <p:sp>
        <p:nvSpPr>
          <p:cNvPr id="5" name="Text 3"/>
          <p:cNvSpPr txBox="1"/>
          <p:nvPr/>
        </p:nvSpPr>
        <p:spPr>
          <a:xfrm>
            <a:off x="457200" y="1097280"/>
            <a:ext cx="1828800" cy="274320"/>
          </a:xfrm>
          <a:prstGeom prst="rect">
            <a:avLst/>
          </a:prstGeom>
          <a:noFill/>
          <a:ln/>
        </p:spPr>
        <p:txBody>
          <a:bodyPr wrap="square" lIns="0" tIns="0" rIns="0" bIns="0" rtlCol="0" anchor="ctr"/>
          <a:lstStyle/>
          <a:p>
            <a:pPr indent="0" marL="0">
              <a:buNone/>
            </a:pPr>
            <a:r>
              <a:rPr lang="en-US" sz="1200" b="1" spc="300" kern="0" dirty="0">
                <a:solidFill>
                  <a:srgbClr val="FFB48F"/>
                </a:solidFill>
                <a:latin typeface="Calibri" pitchFamily="34" charset="0"/>
                <a:ea typeface="Calibri" pitchFamily="34" charset="-122"/>
                <a:cs typeface="Calibri" pitchFamily="34" charset="-120"/>
              </a:rPr>
              <a:t>Mission</a:t>
            </a:r>
            <a:endParaRPr lang="en-US" sz="1200" dirty="0"/>
          </a:p>
        </p:txBody>
      </p:sp>
      <p:sp>
        <p:nvSpPr>
          <p:cNvPr id="6" name="Text 4"/>
          <p:cNvSpPr txBox="1"/>
          <p:nvPr/>
        </p:nvSpPr>
        <p:spPr>
          <a:xfrm>
            <a:off x="457200" y="1371600"/>
            <a:ext cx="8229600" cy="868680"/>
          </a:xfrm>
          <a:prstGeom prst="rect">
            <a:avLst/>
          </a:prstGeom>
          <a:noFill/>
          <a:ln/>
        </p:spPr>
        <p:txBody>
          <a:bodyPr wrap="square" lIns="0" tIns="0" rIns="0" bIns="0" rtlCol="0" anchor="t"/>
          <a:lstStyle/>
          <a:p>
            <a:pPr indent="0" marL="0">
              <a:buNone/>
            </a:pPr>
            <a:r>
              <a:rPr lang="en-US" sz="1500" dirty="0">
                <a:solidFill>
                  <a:srgbClr val="DBE6F3"/>
                </a:solidFill>
                <a:latin typeface="Calibri" pitchFamily="34" charset="0"/>
                <a:ea typeface="Calibri" pitchFamily="34" charset="-122"/>
                <a:cs typeface="Calibri" pitchFamily="34" charset="-120"/>
              </a:rPr>
              <a:t>L'équipe boutique veut son canal. L'astreinte veut uniquement le critique, tout de suite. L'infra ne veut rien le week-end sauf le critique. Et personne ne veut « erreurs sur shop-api-2 » quand shop-api-2 est éteint.</a:t>
            </a:r>
            <a:endParaRPr lang="en-US" sz="1500" dirty="0"/>
          </a:p>
        </p:txBody>
      </p:sp>
      <p:sp>
        <p:nvSpPr>
          <p:cNvPr id="7" name="Shape 5"/>
          <p:cNvSpPr/>
          <p:nvPr/>
        </p:nvSpPr>
        <p:spPr>
          <a:xfrm>
            <a:off x="457200" y="2377440"/>
            <a:ext cx="1499616" cy="2194560"/>
          </a:xfrm>
          <a:prstGeom prst="roundRect">
            <a:avLst>
              <a:gd name="adj" fmla="val 4878"/>
            </a:avLst>
          </a:prstGeom>
          <a:solidFill>
            <a:srgbClr val="163D6B"/>
          </a:solidFill>
          <a:ln w="12700">
            <a:solidFill>
              <a:srgbClr val="163D6B"/>
            </a:solidFill>
            <a:prstDash val="solid"/>
          </a:ln>
        </p:spPr>
      </p:sp>
      <p:sp>
        <p:nvSpPr>
          <p:cNvPr id="8" name="Shape 6"/>
          <p:cNvSpPr/>
          <p:nvPr/>
        </p:nvSpPr>
        <p:spPr>
          <a:xfrm>
            <a:off x="640080" y="2560320"/>
            <a:ext cx="347472" cy="347472"/>
          </a:xfrm>
          <a:prstGeom prst="ellipse">
            <a:avLst/>
          </a:prstGeom>
          <a:solidFill>
            <a:srgbClr val="F15A22"/>
          </a:solidFill>
          <a:ln w="12700">
            <a:solidFill>
              <a:srgbClr val="F15A22"/>
            </a:solidFill>
            <a:prstDash val="solid"/>
          </a:ln>
        </p:spPr>
      </p:sp>
      <p:sp>
        <p:nvSpPr>
          <p:cNvPr id="9" name="Text 7"/>
          <p:cNvSpPr txBox="1"/>
          <p:nvPr/>
        </p:nvSpPr>
        <p:spPr>
          <a:xfrm>
            <a:off x="64008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078992"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Alertes</a:t>
            </a:r>
            <a:endParaRPr lang="en-US" sz="1150" dirty="0"/>
          </a:p>
        </p:txBody>
      </p:sp>
      <p:sp>
        <p:nvSpPr>
          <p:cNvPr id="11" name="Text 9"/>
          <p:cNvSpPr txBox="1"/>
          <p:nvPr/>
        </p:nvSpPr>
        <p:spPr>
          <a:xfrm>
            <a:off x="640080"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ShopHighErrorRate, ShopCheckoutSlow, ShopNoOrders (and), ShopStockLow, BlackboxProbeFailed.</a:t>
            </a:r>
            <a:endParaRPr lang="en-US" sz="1050" dirty="0"/>
          </a:p>
        </p:txBody>
      </p:sp>
      <p:sp>
        <p:nvSpPr>
          <p:cNvPr id="12" name="Shape 10"/>
          <p:cNvSpPr/>
          <p:nvPr/>
        </p:nvSpPr>
        <p:spPr>
          <a:xfrm>
            <a:off x="2139696" y="2377440"/>
            <a:ext cx="1499616" cy="2194560"/>
          </a:xfrm>
          <a:prstGeom prst="roundRect">
            <a:avLst>
              <a:gd name="adj" fmla="val 4878"/>
            </a:avLst>
          </a:prstGeom>
          <a:solidFill>
            <a:srgbClr val="163D6B"/>
          </a:solidFill>
          <a:ln w="12700">
            <a:solidFill>
              <a:srgbClr val="163D6B"/>
            </a:solidFill>
            <a:prstDash val="solid"/>
          </a:ln>
        </p:spPr>
      </p:sp>
      <p:sp>
        <p:nvSpPr>
          <p:cNvPr id="13" name="Shape 11"/>
          <p:cNvSpPr/>
          <p:nvPr/>
        </p:nvSpPr>
        <p:spPr>
          <a:xfrm>
            <a:off x="2322576" y="2560320"/>
            <a:ext cx="347472" cy="347472"/>
          </a:xfrm>
          <a:prstGeom prst="ellipse">
            <a:avLst/>
          </a:prstGeom>
          <a:solidFill>
            <a:srgbClr val="F15A22"/>
          </a:solidFill>
          <a:ln w="12700">
            <a:solidFill>
              <a:srgbClr val="F15A22"/>
            </a:solidFill>
            <a:prstDash val="solid"/>
          </a:ln>
        </p:spPr>
      </p:sp>
      <p:sp>
        <p:nvSpPr>
          <p:cNvPr id="14" name="Text 12"/>
          <p:cNvSpPr txBox="1"/>
          <p:nvPr/>
        </p:nvSpPr>
        <p:spPr>
          <a:xfrm>
            <a:off x="2322576"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2761488"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Casser</a:t>
            </a:r>
            <a:endParaRPr lang="en-US" sz="1150" dirty="0"/>
          </a:p>
        </p:txBody>
      </p:sp>
      <p:sp>
        <p:nvSpPr>
          <p:cNvPr id="16" name="Text 14"/>
          <p:cNvSpPr txBox="1"/>
          <p:nvPr/>
        </p:nvSpPr>
        <p:spPr>
          <a:xfrm>
            <a:off x="2322576"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Chaos errors, chronométrer pending / firing / notification / resolved. Expliquer chaque délai.</a:t>
            </a:r>
            <a:endParaRPr lang="en-US" sz="1050" dirty="0"/>
          </a:p>
        </p:txBody>
      </p:sp>
      <p:sp>
        <p:nvSpPr>
          <p:cNvPr id="17" name="Shape 15"/>
          <p:cNvSpPr/>
          <p:nvPr/>
        </p:nvSpPr>
        <p:spPr>
          <a:xfrm>
            <a:off x="3822192" y="2377440"/>
            <a:ext cx="1499616" cy="2194560"/>
          </a:xfrm>
          <a:prstGeom prst="roundRect">
            <a:avLst>
              <a:gd name="adj" fmla="val 4878"/>
            </a:avLst>
          </a:prstGeom>
          <a:solidFill>
            <a:srgbClr val="163D6B"/>
          </a:solidFill>
          <a:ln w="12700">
            <a:solidFill>
              <a:srgbClr val="163D6B"/>
            </a:solidFill>
            <a:prstDash val="solid"/>
          </a:ln>
        </p:spPr>
      </p:sp>
      <p:sp>
        <p:nvSpPr>
          <p:cNvPr id="18" name="Shape 16"/>
          <p:cNvSpPr/>
          <p:nvPr/>
        </p:nvSpPr>
        <p:spPr>
          <a:xfrm>
            <a:off x="4005072" y="2560320"/>
            <a:ext cx="347472" cy="347472"/>
          </a:xfrm>
          <a:prstGeom prst="ellipse">
            <a:avLst/>
          </a:prstGeom>
          <a:solidFill>
            <a:srgbClr val="F15A22"/>
          </a:solidFill>
          <a:ln w="12700">
            <a:solidFill>
              <a:srgbClr val="F15A22"/>
            </a:solidFill>
            <a:prstDash val="solid"/>
          </a:ln>
        </p:spPr>
      </p:sp>
      <p:sp>
        <p:nvSpPr>
          <p:cNvPr id="19" name="Text 17"/>
          <p:cNvSpPr txBox="1"/>
          <p:nvPr/>
        </p:nvSpPr>
        <p:spPr>
          <a:xfrm>
            <a:off x="4005072"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4443984"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Router</a:t>
            </a:r>
            <a:endParaRPr lang="en-US" sz="1150" dirty="0"/>
          </a:p>
        </p:txBody>
      </p:sp>
      <p:sp>
        <p:nvSpPr>
          <p:cNvPr id="21" name="Text 19"/>
          <p:cNvSpPr txBox="1"/>
          <p:nvPr/>
        </p:nvSpPr>
        <p:spPr>
          <a:xfrm>
            <a:off x="4005072"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Quatre receivers, quatre routes, continue: true, amtool routes test.</a:t>
            </a:r>
            <a:endParaRPr lang="en-US" sz="1050" dirty="0"/>
          </a:p>
        </p:txBody>
      </p:sp>
      <p:sp>
        <p:nvSpPr>
          <p:cNvPr id="22" name="Shape 20"/>
          <p:cNvSpPr/>
          <p:nvPr/>
        </p:nvSpPr>
        <p:spPr>
          <a:xfrm>
            <a:off x="5504688" y="2377440"/>
            <a:ext cx="1499616" cy="2194560"/>
          </a:xfrm>
          <a:prstGeom prst="roundRect">
            <a:avLst>
              <a:gd name="adj" fmla="val 4878"/>
            </a:avLst>
          </a:prstGeom>
          <a:solidFill>
            <a:srgbClr val="163D6B"/>
          </a:solidFill>
          <a:ln w="12700">
            <a:solidFill>
              <a:srgbClr val="163D6B"/>
            </a:solidFill>
            <a:prstDash val="solid"/>
          </a:ln>
        </p:spPr>
      </p:sp>
      <p:sp>
        <p:nvSpPr>
          <p:cNvPr id="23" name="Shape 21"/>
          <p:cNvSpPr/>
          <p:nvPr/>
        </p:nvSpPr>
        <p:spPr>
          <a:xfrm>
            <a:off x="5687568" y="2560320"/>
            <a:ext cx="347472" cy="347472"/>
          </a:xfrm>
          <a:prstGeom prst="ellipse">
            <a:avLst/>
          </a:prstGeom>
          <a:solidFill>
            <a:srgbClr val="F15A22"/>
          </a:solidFill>
          <a:ln w="12700">
            <a:solidFill>
              <a:srgbClr val="F15A22"/>
            </a:solidFill>
            <a:prstDash val="solid"/>
          </a:ln>
        </p:spPr>
      </p:sp>
      <p:sp>
        <p:nvSpPr>
          <p:cNvPr id="24" name="Text 22"/>
          <p:cNvSpPr txBox="1"/>
          <p:nvPr/>
        </p:nvSpPr>
        <p:spPr>
          <a:xfrm>
            <a:off x="5687568"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6126480"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Inhiber</a:t>
            </a:r>
            <a:endParaRPr lang="en-US" sz="1150" dirty="0"/>
          </a:p>
        </p:txBody>
      </p:sp>
      <p:sp>
        <p:nvSpPr>
          <p:cNvPr id="26" name="Text 24"/>
          <p:cNvSpPr txBox="1"/>
          <p:nvPr/>
        </p:nvSpPr>
        <p:spPr>
          <a:xfrm>
            <a:off x="5687568"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TargetDown masque erreurs et latence sur la même instance.</a:t>
            </a:r>
            <a:endParaRPr lang="en-US" sz="1050" dirty="0"/>
          </a:p>
        </p:txBody>
      </p:sp>
      <p:sp>
        <p:nvSpPr>
          <p:cNvPr id="27" name="Shape 25"/>
          <p:cNvSpPr/>
          <p:nvPr/>
        </p:nvSpPr>
        <p:spPr>
          <a:xfrm>
            <a:off x="7187184" y="2377440"/>
            <a:ext cx="1499616" cy="2194560"/>
          </a:xfrm>
          <a:prstGeom prst="roundRect">
            <a:avLst>
              <a:gd name="adj" fmla="val 4878"/>
            </a:avLst>
          </a:prstGeom>
          <a:solidFill>
            <a:srgbClr val="163D6B"/>
          </a:solidFill>
          <a:ln w="12700">
            <a:solidFill>
              <a:srgbClr val="163D6B"/>
            </a:solidFill>
            <a:prstDash val="solid"/>
          </a:ln>
        </p:spPr>
      </p:sp>
      <p:sp>
        <p:nvSpPr>
          <p:cNvPr id="28" name="Shape 26"/>
          <p:cNvSpPr/>
          <p:nvPr/>
        </p:nvSpPr>
        <p:spPr>
          <a:xfrm>
            <a:off x="7370064" y="2560320"/>
            <a:ext cx="347472" cy="347472"/>
          </a:xfrm>
          <a:prstGeom prst="ellipse">
            <a:avLst/>
          </a:prstGeom>
          <a:solidFill>
            <a:srgbClr val="F15A22"/>
          </a:solidFill>
          <a:ln w="12700">
            <a:solidFill>
              <a:srgbClr val="F15A22"/>
            </a:solidFill>
            <a:prstDash val="solid"/>
          </a:ln>
        </p:spPr>
      </p:sp>
      <p:sp>
        <p:nvSpPr>
          <p:cNvPr id="29" name="Text 27"/>
          <p:cNvSpPr txBox="1"/>
          <p:nvPr/>
        </p:nvSpPr>
        <p:spPr>
          <a:xfrm>
            <a:off x="7370064"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0" name="Text 28"/>
          <p:cNvSpPr txBox="1"/>
          <p:nvPr/>
        </p:nvSpPr>
        <p:spPr>
          <a:xfrm>
            <a:off x="7808976"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Taire</a:t>
            </a:r>
            <a:endParaRPr lang="en-US" sz="1150" dirty="0"/>
          </a:p>
        </p:txBody>
      </p:sp>
      <p:sp>
        <p:nvSpPr>
          <p:cNvPr id="31" name="Text 29"/>
          <p:cNvSpPr txBox="1"/>
          <p:nvPr/>
        </p:nvSpPr>
        <p:spPr>
          <a:xfrm>
            <a:off x="7370064"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Un silence par l'UI et amtool, un time_interval nuit-et-weekend.</a:t>
            </a:r>
            <a:endParaRPr lang="en-US" sz="1050" dirty="0"/>
          </a:p>
        </p:txBody>
      </p:sp>
      <p:sp>
        <p:nvSpPr>
          <p:cNvPr id="32" name="Text 30"/>
          <p:cNvSpPr txBox="1"/>
          <p:nvPr/>
        </p:nvSpPr>
        <p:spPr>
          <a:xfrm>
            <a:off x="457200" y="4709160"/>
            <a:ext cx="8229600" cy="274320"/>
          </a:xfrm>
          <a:prstGeom prst="rect">
            <a:avLst/>
          </a:prstGeom>
          <a:noFill/>
          <a:ln/>
        </p:spPr>
        <p:txBody>
          <a:bodyPr wrap="square" lIns="0" tIns="0" rIns="0" bIns="0" rtlCol="0" anchor="ctr"/>
          <a:lstStyle/>
          <a:p>
            <a:pPr indent="0" marL="0">
              <a:buNone/>
            </a:pPr>
            <a:r>
              <a:rPr lang="en-US" sz="1000" i="1" dirty="0">
                <a:solidFill>
                  <a:srgbClr val="8FA3BD"/>
                </a:solidFill>
                <a:latin typeface="Calibri" pitchFamily="34" charset="0"/>
                <a:ea typeface="Calibri" pitchFamily="34" charset="-122"/>
                <a:cs typeface="Calibri" pitchFamily="34" charset="-120"/>
              </a:rPr>
              <a:t>Énoncé complet dans le guide stagiaire · corrigé projeté après recherche</a:t>
            </a:r>
            <a:endParaRPr lang="en-US" sz="10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13</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Notifications tierces et ChatOps</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Slack, PagerDuty, Teams via Workflows, GitHub, templates.</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77</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Slack et PagerDuty</a:t>
            </a:r>
            <a:endParaRPr lang="en-US" sz="2800" dirty="0"/>
          </a:p>
        </p:txBody>
      </p:sp>
      <p:sp>
        <p:nvSpPr>
          <p:cNvPr id="5" name="Shape 3"/>
          <p:cNvSpPr/>
          <p:nvPr/>
        </p:nvSpPr>
        <p:spPr>
          <a:xfrm>
            <a:off x="457200" y="1234440"/>
            <a:ext cx="3977640" cy="3429000"/>
          </a:xfrm>
          <a:prstGeom prst="roundRect">
            <a:avLst>
              <a:gd name="adj" fmla="val 2133"/>
            </a:avLst>
          </a:prstGeom>
          <a:solidFill>
            <a:srgbClr val="F4F5F7"/>
          </a:solidFill>
          <a:ln w="12700">
            <a:solidFill>
              <a:srgbClr val="F4F5F7"/>
            </a:solidFill>
            <a:prstDash val="solid"/>
          </a:ln>
        </p:spPr>
      </p:sp>
      <p:sp>
        <p:nvSpPr>
          <p:cNvPr id="6" name="Text 4"/>
          <p:cNvSpPr txBox="1"/>
          <p:nvPr/>
        </p:nvSpPr>
        <p:spPr>
          <a:xfrm>
            <a:off x="68580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Slack</a:t>
            </a:r>
            <a:endParaRPr lang="en-US" sz="1700" dirty="0"/>
          </a:p>
        </p:txBody>
      </p:sp>
      <p:sp>
        <p:nvSpPr>
          <p:cNvPr id="7" name="Text 5"/>
          <p:cNvSpPr txBox="1"/>
          <p:nvPr/>
        </p:nvSpPr>
        <p:spPr>
          <a:xfrm>
            <a:off x="68580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Incoming webhook (api_url_file) ou application avec token</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channel, title, text templatables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Le secret dans un fichier, jamais dans le YAML commité</a:t>
            </a:r>
            <a:endParaRPr lang="en-US" sz="1300" dirty="0"/>
          </a:p>
        </p:txBody>
      </p:sp>
      <p:sp>
        <p:nvSpPr>
          <p:cNvPr id="8" name="Shape 6"/>
          <p:cNvSpPr/>
          <p:nvPr/>
        </p:nvSpPr>
        <p:spPr>
          <a:xfrm>
            <a:off x="4709160" y="1234440"/>
            <a:ext cx="3977640" cy="3429000"/>
          </a:xfrm>
          <a:prstGeom prst="roundRect">
            <a:avLst>
              <a:gd name="adj" fmla="val 2133"/>
            </a:avLst>
          </a:prstGeom>
          <a:solidFill>
            <a:srgbClr val="F4F5F7"/>
          </a:solidFill>
          <a:ln w="12700">
            <a:solidFill>
              <a:srgbClr val="F4F5F7"/>
            </a:solidFill>
            <a:prstDash val="solid"/>
          </a:ln>
        </p:spPr>
      </p:sp>
      <p:sp>
        <p:nvSpPr>
          <p:cNvPr id="9" name="Text 7"/>
          <p:cNvSpPr txBox="1"/>
          <p:nvPr/>
        </p:nvSpPr>
        <p:spPr>
          <a:xfrm>
            <a:off x="493776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PagerDuty</a:t>
            </a:r>
            <a:endParaRPr lang="en-US" sz="1700" dirty="0"/>
          </a:p>
        </p:txBody>
      </p:sp>
      <p:sp>
        <p:nvSpPr>
          <p:cNvPr id="10" name="Text 8"/>
          <p:cNvSpPr txBox="1"/>
          <p:nvPr/>
        </p:nvSpPr>
        <p:spPr>
          <a:xfrm>
            <a:off x="493776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Events API v2, une integration key par service</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routing_key_file, severity, description</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Escalade, plannings, acquittement côté PagerDuty</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trigger / resolve avec la même clé de déduplication</a:t>
            </a:r>
            <a:endParaRPr lang="en-US" sz="13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78</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Microsoft Teams, la méthode 2026</a:t>
            </a:r>
            <a:endParaRPr lang="en-US" sz="2800" dirty="0"/>
          </a:p>
        </p:txBody>
      </p:sp>
      <p:sp>
        <p:nvSpPr>
          <p:cNvPr id="5" name="Shape 3"/>
          <p:cNvSpPr/>
          <p:nvPr/>
        </p:nvSpPr>
        <p:spPr>
          <a:xfrm>
            <a:off x="457200" y="1234440"/>
            <a:ext cx="4000500" cy="1600200"/>
          </a:xfrm>
          <a:prstGeom prst="roundRect">
            <a:avLst>
              <a:gd name="adj" fmla="val 4571"/>
            </a:avLst>
          </a:prstGeom>
          <a:solidFill>
            <a:srgbClr val="F4F5F7"/>
          </a:solidFill>
          <a:ln w="12700">
            <a:solidFill>
              <a:srgbClr val="F4F5F7"/>
            </a:solidFill>
            <a:prstDash val="solid"/>
          </a:ln>
        </p:spPr>
      </p:sp>
      <p:sp>
        <p:nvSpPr>
          <p:cNvPr id="6" name="Shape 4"/>
          <p:cNvSpPr/>
          <p:nvPr/>
        </p:nvSpPr>
        <p:spPr>
          <a:xfrm>
            <a:off x="640080" y="1417320"/>
            <a:ext cx="365760" cy="365760"/>
          </a:xfrm>
          <a:prstGeom prst="ellipse">
            <a:avLst/>
          </a:prstGeom>
          <a:solidFill>
            <a:srgbClr val="F15A22"/>
          </a:solidFill>
          <a:ln w="12700">
            <a:solidFill>
              <a:srgbClr val="F15A22"/>
            </a:solidFill>
            <a:prstDash val="solid"/>
          </a:ln>
        </p:spPr>
      </p:sp>
      <p:sp>
        <p:nvSpPr>
          <p:cNvPr id="7" name="Text 5"/>
          <p:cNvSpPr txBox="1"/>
          <p:nvPr/>
        </p:nvSpPr>
        <p:spPr>
          <a:xfrm>
            <a:off x="640080" y="1417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1097280" y="1399032"/>
            <a:ext cx="31775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Les connecteurs Office 365 sont morts</a:t>
            </a:r>
            <a:endParaRPr lang="en-US" sz="1500" dirty="0"/>
          </a:p>
        </p:txBody>
      </p:sp>
      <p:sp>
        <p:nvSpPr>
          <p:cNvPr id="9" name="Text 7"/>
          <p:cNvSpPr txBox="1"/>
          <p:nvPr/>
        </p:nvSpPr>
        <p:spPr>
          <a:xfrm>
            <a:off x="6400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Création bloquée depuis 2024, arrêt définitif fin 2025. msteams_configs est déprécié.</a:t>
            </a:r>
            <a:endParaRPr lang="en-US" sz="1200" dirty="0"/>
          </a:p>
        </p:txBody>
      </p:sp>
      <p:sp>
        <p:nvSpPr>
          <p:cNvPr id="10" name="Shape 8"/>
          <p:cNvSpPr/>
          <p:nvPr/>
        </p:nvSpPr>
        <p:spPr>
          <a:xfrm>
            <a:off x="4686300" y="1234440"/>
            <a:ext cx="4000500" cy="1600200"/>
          </a:xfrm>
          <a:prstGeom prst="roundRect">
            <a:avLst>
              <a:gd name="adj" fmla="val 4571"/>
            </a:avLst>
          </a:prstGeom>
          <a:solidFill>
            <a:srgbClr val="F4F5F7"/>
          </a:solidFill>
          <a:ln w="12700">
            <a:solidFill>
              <a:srgbClr val="F4F5F7"/>
            </a:solidFill>
            <a:prstDash val="solid"/>
          </a:ln>
        </p:spPr>
      </p:sp>
      <p:sp>
        <p:nvSpPr>
          <p:cNvPr id="11" name="Shape 9"/>
          <p:cNvSpPr/>
          <p:nvPr/>
        </p:nvSpPr>
        <p:spPr>
          <a:xfrm>
            <a:off x="4869180" y="1417320"/>
            <a:ext cx="365760" cy="365760"/>
          </a:xfrm>
          <a:prstGeom prst="ellipse">
            <a:avLst/>
          </a:prstGeom>
          <a:solidFill>
            <a:srgbClr val="F15A22"/>
          </a:solidFill>
          <a:ln w="12700">
            <a:solidFill>
              <a:srgbClr val="F15A22"/>
            </a:solidFill>
            <a:prstDash val="solid"/>
          </a:ln>
        </p:spPr>
      </p:sp>
      <p:sp>
        <p:nvSpPr>
          <p:cNvPr id="12" name="Text 10"/>
          <p:cNvSpPr txBox="1"/>
          <p:nvPr/>
        </p:nvSpPr>
        <p:spPr>
          <a:xfrm>
            <a:off x="4869180" y="1417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5326380" y="1399032"/>
            <a:ext cx="31775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Workflows (Power Automate)</a:t>
            </a:r>
            <a:endParaRPr lang="en-US" sz="1500" dirty="0"/>
          </a:p>
        </p:txBody>
      </p:sp>
      <p:sp>
        <p:nvSpPr>
          <p:cNvPr id="14" name="Text 12"/>
          <p:cNvSpPr txBox="1"/>
          <p:nvPr/>
        </p:nvSpPr>
        <p:spPr>
          <a:xfrm>
            <a:off x="48691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Dans le canal : … → Workflows → « Post to a channel when a webhook request is received ». Copier l'URL.</a:t>
            </a:r>
            <a:endParaRPr lang="en-US" sz="1200" dirty="0"/>
          </a:p>
        </p:txBody>
      </p:sp>
      <p:sp>
        <p:nvSpPr>
          <p:cNvPr id="15" name="Shape 13"/>
          <p:cNvSpPr/>
          <p:nvPr/>
        </p:nvSpPr>
        <p:spPr>
          <a:xfrm>
            <a:off x="457200" y="3063240"/>
            <a:ext cx="4000500" cy="1600200"/>
          </a:xfrm>
          <a:prstGeom prst="roundRect">
            <a:avLst>
              <a:gd name="adj" fmla="val 4571"/>
            </a:avLst>
          </a:prstGeom>
          <a:solidFill>
            <a:srgbClr val="F4F5F7"/>
          </a:solidFill>
          <a:ln w="12700">
            <a:solidFill>
              <a:srgbClr val="F4F5F7"/>
            </a:solidFill>
            <a:prstDash val="solid"/>
          </a:ln>
        </p:spPr>
      </p:sp>
      <p:sp>
        <p:nvSpPr>
          <p:cNvPr id="16" name="Shape 14"/>
          <p:cNvSpPr/>
          <p:nvPr/>
        </p:nvSpPr>
        <p:spPr>
          <a:xfrm>
            <a:off x="640080" y="3246120"/>
            <a:ext cx="365760" cy="365760"/>
          </a:xfrm>
          <a:prstGeom prst="ellipse">
            <a:avLst/>
          </a:prstGeom>
          <a:solidFill>
            <a:srgbClr val="F15A22"/>
          </a:solidFill>
          <a:ln w="12700">
            <a:solidFill>
              <a:srgbClr val="F15A22"/>
            </a:solidFill>
            <a:prstDash val="solid"/>
          </a:ln>
        </p:spPr>
      </p:sp>
      <p:sp>
        <p:nvSpPr>
          <p:cNvPr id="17" name="Text 15"/>
          <p:cNvSpPr txBox="1"/>
          <p:nvPr/>
        </p:nvSpPr>
        <p:spPr>
          <a:xfrm>
            <a:off x="640080" y="32461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097280" y="3227832"/>
            <a:ext cx="31775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Alertmanager et Grafana</a:t>
            </a:r>
            <a:endParaRPr lang="en-US" sz="1500" dirty="0"/>
          </a:p>
        </p:txBody>
      </p:sp>
      <p:sp>
        <p:nvSpPr>
          <p:cNvPr id="19" name="Text 17"/>
          <p:cNvSpPr txBox="1"/>
          <p:nvPr/>
        </p:nvSpPr>
        <p:spPr>
          <a:xfrm>
            <a:off x="6400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msteamsv2_configs: webhook_url_file. Contact point Microsoft Teams, champ URL. La carte adaptative est générée.</a:t>
            </a:r>
            <a:endParaRPr lang="en-US" sz="1200" dirty="0"/>
          </a:p>
        </p:txBody>
      </p:sp>
      <p:sp>
        <p:nvSpPr>
          <p:cNvPr id="20" name="Shape 18"/>
          <p:cNvSpPr/>
          <p:nvPr/>
        </p:nvSpPr>
        <p:spPr>
          <a:xfrm>
            <a:off x="4686300" y="3063240"/>
            <a:ext cx="4000500" cy="1600200"/>
          </a:xfrm>
          <a:prstGeom prst="roundRect">
            <a:avLst>
              <a:gd name="adj" fmla="val 4571"/>
            </a:avLst>
          </a:prstGeom>
          <a:solidFill>
            <a:srgbClr val="F4F5F7"/>
          </a:solidFill>
          <a:ln w="12700">
            <a:solidFill>
              <a:srgbClr val="F4F5F7"/>
            </a:solidFill>
            <a:prstDash val="solid"/>
          </a:ln>
        </p:spPr>
      </p:sp>
      <p:sp>
        <p:nvSpPr>
          <p:cNvPr id="21" name="Shape 19"/>
          <p:cNvSpPr/>
          <p:nvPr/>
        </p:nvSpPr>
        <p:spPr>
          <a:xfrm>
            <a:off x="4869180" y="3246120"/>
            <a:ext cx="365760" cy="365760"/>
          </a:xfrm>
          <a:prstGeom prst="ellipse">
            <a:avLst/>
          </a:prstGeom>
          <a:solidFill>
            <a:srgbClr val="F15A22"/>
          </a:solidFill>
          <a:ln w="12700">
            <a:solidFill>
              <a:srgbClr val="F15A22"/>
            </a:solidFill>
            <a:prstDash val="solid"/>
          </a:ln>
        </p:spPr>
      </p:sp>
      <p:sp>
        <p:nvSpPr>
          <p:cNvPr id="22" name="Text 20"/>
          <p:cNvSpPr txBox="1"/>
          <p:nvPr/>
        </p:nvSpPr>
        <p:spPr>
          <a:xfrm>
            <a:off x="4869180" y="32461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txBox="1"/>
          <p:nvPr/>
        </p:nvSpPr>
        <p:spPr>
          <a:xfrm>
            <a:off x="5326380" y="3227832"/>
            <a:ext cx="31775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Pièges</a:t>
            </a:r>
            <a:endParaRPr lang="en-US" sz="1500" dirty="0"/>
          </a:p>
        </p:txBody>
      </p:sp>
      <p:sp>
        <p:nvSpPr>
          <p:cNvPr id="24" name="Text 22"/>
          <p:cNvSpPr txBox="1"/>
          <p:nvPr/>
        </p:nvSpPr>
        <p:spPr>
          <a:xfrm>
            <a:off x="48691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Canal privé : Post as User. Rien n'arrive ? Historique du flux dans Power Automate. L'Inbox du lab imite le flux.</a:t>
            </a:r>
            <a:endParaRPr lang="en-US" sz="12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79</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GitHub et templates</a:t>
            </a:r>
            <a:endParaRPr lang="en-US" sz="2800" dirty="0"/>
          </a:p>
        </p:txBody>
      </p:sp>
      <p:sp>
        <p:nvSpPr>
          <p:cNvPr id="5" name="Shape 3"/>
          <p:cNvSpPr/>
          <p:nvPr/>
        </p:nvSpPr>
        <p:spPr>
          <a:xfrm>
            <a:off x="457200" y="1234440"/>
            <a:ext cx="3977640" cy="3429000"/>
          </a:xfrm>
          <a:prstGeom prst="roundRect">
            <a:avLst>
              <a:gd name="adj" fmla="val 2133"/>
            </a:avLst>
          </a:prstGeom>
          <a:solidFill>
            <a:srgbClr val="F4F5F7"/>
          </a:solidFill>
          <a:ln w="12700">
            <a:solidFill>
              <a:srgbClr val="F4F5F7"/>
            </a:solidFill>
            <a:prstDash val="solid"/>
          </a:ln>
        </p:spPr>
      </p:sp>
      <p:sp>
        <p:nvSpPr>
          <p:cNvPr id="6" name="Text 4"/>
          <p:cNvSpPr txBox="1"/>
          <p:nvPr/>
        </p:nvSpPr>
        <p:spPr>
          <a:xfrm>
            <a:off x="68580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GitHub (ChatOps)</a:t>
            </a:r>
            <a:endParaRPr lang="en-US" sz="1700" dirty="0"/>
          </a:p>
        </p:txBody>
      </p:sp>
      <p:sp>
        <p:nvSpPr>
          <p:cNvPr id="7" name="Text 5"/>
          <p:cNvSpPr txBox="1"/>
          <p:nvPr/>
        </p:nvSpPr>
        <p:spPr>
          <a:xfrm>
            <a:off x="68580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Une alerte ouvre une issue, la commente, la ferme</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Webhook → repository_dispatch → workflow Actions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.github/workflows/alert-to-issue.yml dans le dépôt</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Grafana : contact point Webhook + payload personnalisé + Authorization</a:t>
            </a:r>
            <a:endParaRPr lang="en-US" sz="1300" dirty="0"/>
          </a:p>
        </p:txBody>
      </p:sp>
      <p:sp>
        <p:nvSpPr>
          <p:cNvPr id="8" name="Shape 6"/>
          <p:cNvSpPr/>
          <p:nvPr/>
        </p:nvSpPr>
        <p:spPr>
          <a:xfrm>
            <a:off x="4709160" y="1234440"/>
            <a:ext cx="3977640" cy="3429000"/>
          </a:xfrm>
          <a:prstGeom prst="roundRect">
            <a:avLst>
              <a:gd name="adj" fmla="val 2133"/>
            </a:avLst>
          </a:prstGeom>
          <a:solidFill>
            <a:srgbClr val="F4F5F7"/>
          </a:solidFill>
          <a:ln w="12700">
            <a:solidFill>
              <a:srgbClr val="F4F5F7"/>
            </a:solidFill>
            <a:prstDash val="solid"/>
          </a:ln>
        </p:spPr>
      </p:sp>
      <p:sp>
        <p:nvSpPr>
          <p:cNvPr id="9" name="Text 7"/>
          <p:cNvSpPr txBox="1"/>
          <p:nvPr/>
        </p:nvSpPr>
        <p:spPr>
          <a:xfrm>
            <a:off x="493776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Templates Alertmanager</a:t>
            </a:r>
            <a:endParaRPr lang="en-US" sz="1700" dirty="0"/>
          </a:p>
        </p:txBody>
      </p:sp>
      <p:sp>
        <p:nvSpPr>
          <p:cNvPr id="10" name="Text 8"/>
          <p:cNvSpPr txBox="1"/>
          <p:nvPr/>
        </p:nvSpPr>
        <p:spPr>
          <a:xfrm>
            <a:off x="493776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Templates Go, fichiers .tmpl chargés par templates: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 template "formation.text" . }}</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.Status, .Alerts, .CommonLabels, .CommonAnnotations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Un bon message : statut, résumé, sévérité, instance, runbook, dashboard. Pas un dump de labels</a:t>
            </a:r>
            <a:endParaRPr lang="en-US" sz="13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0F2A4A"/>
        </a:solidFill>
      </p:bgPr>
    </p:bg>
    <p:spTree>
      <p:nvGrpSpPr>
        <p:cNvPr id="1" name=""/>
        <p:cNvGrpSpPr/>
        <p:nvPr/>
      </p:nvGrpSpPr>
      <p:grpSpPr>
        <a:xfrm>
          <a:off x="0" y="0"/>
          <a:ext cx="0" cy="0"/>
          <a:chOff x="0" y="0"/>
          <a:chExt cx="0" cy="0"/>
        </a:xfrm>
      </p:grpSpPr>
      <p:sp>
        <p:nvSpPr>
          <p:cNvPr id="2" name="Shape 0"/>
          <p:cNvSpPr/>
          <p:nvPr/>
        </p:nvSpPr>
        <p:spPr>
          <a:xfrm>
            <a:off x="457200" y="411480"/>
            <a:ext cx="1371600" cy="457200"/>
          </a:xfrm>
          <a:prstGeom prst="roundRect">
            <a:avLst>
              <a:gd name="adj" fmla="val 20000"/>
            </a:avLst>
          </a:prstGeom>
          <a:solidFill>
            <a:srgbClr val="F15A22"/>
          </a:solidFill>
          <a:ln w="12700">
            <a:solidFill>
              <a:srgbClr val="F15A22"/>
            </a:solidFill>
            <a:prstDash val="solid"/>
          </a:ln>
        </p:spPr>
      </p:sp>
      <p:sp>
        <p:nvSpPr>
          <p:cNvPr id="3" name="Text 1"/>
          <p:cNvSpPr txBox="1"/>
          <p:nvPr/>
        </p:nvSpPr>
        <p:spPr>
          <a:xfrm>
            <a:off x="457200" y="411480"/>
            <a:ext cx="13716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TP 7</a:t>
            </a:r>
            <a:endParaRPr lang="en-US" sz="1600" dirty="0"/>
          </a:p>
        </p:txBody>
      </p:sp>
      <p:sp>
        <p:nvSpPr>
          <p:cNvPr id="4" name="Text 2"/>
          <p:cNvSpPr txBox="1"/>
          <p:nvPr/>
        </p:nvSpPr>
        <p:spPr>
          <a:xfrm>
            <a:off x="2011680" y="365760"/>
            <a:ext cx="667512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Cas pratique : alerte CPU élevé → Teams</a:t>
            </a:r>
            <a:endParaRPr lang="en-US" sz="2400" dirty="0"/>
          </a:p>
        </p:txBody>
      </p:sp>
      <p:sp>
        <p:nvSpPr>
          <p:cNvPr id="5" name="Text 3"/>
          <p:cNvSpPr txBox="1"/>
          <p:nvPr/>
        </p:nvSpPr>
        <p:spPr>
          <a:xfrm>
            <a:off x="457200" y="1097280"/>
            <a:ext cx="1828800" cy="274320"/>
          </a:xfrm>
          <a:prstGeom prst="rect">
            <a:avLst/>
          </a:prstGeom>
          <a:noFill/>
          <a:ln/>
        </p:spPr>
        <p:txBody>
          <a:bodyPr wrap="square" lIns="0" tIns="0" rIns="0" bIns="0" rtlCol="0" anchor="ctr"/>
          <a:lstStyle/>
          <a:p>
            <a:pPr indent="0" marL="0">
              <a:buNone/>
            </a:pPr>
            <a:r>
              <a:rPr lang="en-US" sz="1200" b="1" spc="300" kern="0" dirty="0">
                <a:solidFill>
                  <a:srgbClr val="FFB48F"/>
                </a:solidFill>
                <a:latin typeface="Calibri" pitchFamily="34" charset="0"/>
                <a:ea typeface="Calibri" pitchFamily="34" charset="-122"/>
                <a:cs typeface="Calibri" pitchFamily="34" charset="-120"/>
              </a:rPr>
              <a:t>Mission</a:t>
            </a:r>
            <a:endParaRPr lang="en-US" sz="1200" dirty="0"/>
          </a:p>
        </p:txBody>
      </p:sp>
      <p:sp>
        <p:nvSpPr>
          <p:cNvPr id="6" name="Text 4"/>
          <p:cNvSpPr txBox="1"/>
          <p:nvPr/>
        </p:nvSpPr>
        <p:spPr>
          <a:xfrm>
            <a:off x="457200" y="1371600"/>
            <a:ext cx="8229600" cy="868680"/>
          </a:xfrm>
          <a:prstGeom prst="rect">
            <a:avLst/>
          </a:prstGeom>
          <a:noFill/>
          <a:ln/>
        </p:spPr>
        <p:txBody>
          <a:bodyPr wrap="square" lIns="0" tIns="0" rIns="0" bIns="0" rtlCol="0" anchor="t"/>
          <a:lstStyle/>
          <a:p>
            <a:pPr indent="0" marL="0">
              <a:buNone/>
            </a:pPr>
            <a:r>
              <a:rPr lang="en-US" sz="1500" dirty="0">
                <a:solidFill>
                  <a:srgbClr val="DBE6F3"/>
                </a:solidFill>
                <a:latin typeface="Calibri" pitchFamily="34" charset="0"/>
                <a:ea typeface="Calibri" pitchFamily="34" charset="-122"/>
                <a:cs typeface="Calibri" pitchFamily="34" charset="-120"/>
              </a:rPr>
              <a:t>L'équipe infra veut être prévenue dans son canal Teams quand un serveur dépasse 80 % de CPU pendant plus de deux minutes, avec un message lisible : le serveur, la valeur, un lien vers le dashboard.</a:t>
            </a:r>
            <a:endParaRPr lang="en-US" sz="1500" dirty="0"/>
          </a:p>
        </p:txBody>
      </p:sp>
      <p:sp>
        <p:nvSpPr>
          <p:cNvPr id="7" name="Shape 5"/>
          <p:cNvSpPr/>
          <p:nvPr/>
        </p:nvSpPr>
        <p:spPr>
          <a:xfrm>
            <a:off x="457200" y="2377440"/>
            <a:ext cx="1920240" cy="2194560"/>
          </a:xfrm>
          <a:prstGeom prst="roundRect">
            <a:avLst>
              <a:gd name="adj" fmla="val 3810"/>
            </a:avLst>
          </a:prstGeom>
          <a:solidFill>
            <a:srgbClr val="163D6B"/>
          </a:solidFill>
          <a:ln w="12700">
            <a:solidFill>
              <a:srgbClr val="163D6B"/>
            </a:solidFill>
            <a:prstDash val="solid"/>
          </a:ln>
        </p:spPr>
      </p:sp>
      <p:sp>
        <p:nvSpPr>
          <p:cNvPr id="8" name="Shape 6"/>
          <p:cNvSpPr/>
          <p:nvPr/>
        </p:nvSpPr>
        <p:spPr>
          <a:xfrm>
            <a:off x="640080" y="2560320"/>
            <a:ext cx="347472" cy="347472"/>
          </a:xfrm>
          <a:prstGeom prst="ellipse">
            <a:avLst/>
          </a:prstGeom>
          <a:solidFill>
            <a:srgbClr val="F15A22"/>
          </a:solidFill>
          <a:ln w="12700">
            <a:solidFill>
              <a:srgbClr val="F15A22"/>
            </a:solidFill>
            <a:prstDash val="solid"/>
          </a:ln>
        </p:spPr>
      </p:sp>
      <p:sp>
        <p:nvSpPr>
          <p:cNvPr id="9" name="Text 7"/>
          <p:cNvSpPr txBox="1"/>
          <p:nvPr/>
        </p:nvSpPr>
        <p:spPr>
          <a:xfrm>
            <a:off x="64008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078992" y="2542032"/>
            <a:ext cx="114300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La règle</a:t>
            </a:r>
            <a:endParaRPr lang="en-US" sz="1350" dirty="0"/>
          </a:p>
        </p:txBody>
      </p:sp>
      <p:sp>
        <p:nvSpPr>
          <p:cNvPr id="11" name="Text 9"/>
          <p:cNvSpPr txBox="1"/>
          <p:nvPr/>
        </p:nvSpPr>
        <p:spPr>
          <a:xfrm>
            <a:off x="640080" y="3017520"/>
            <a:ext cx="155448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HostHighCpuLoad, rate 2 min, for 2 min, printf. Un test unitaire avec une série idle constante.</a:t>
            </a:r>
            <a:endParaRPr lang="en-US" sz="1150" dirty="0"/>
          </a:p>
        </p:txBody>
      </p:sp>
      <p:sp>
        <p:nvSpPr>
          <p:cNvPr id="12" name="Shape 10"/>
          <p:cNvSpPr/>
          <p:nvPr/>
        </p:nvSpPr>
        <p:spPr>
          <a:xfrm>
            <a:off x="2560320" y="2377440"/>
            <a:ext cx="1920240" cy="2194560"/>
          </a:xfrm>
          <a:prstGeom prst="roundRect">
            <a:avLst>
              <a:gd name="adj" fmla="val 3810"/>
            </a:avLst>
          </a:prstGeom>
          <a:solidFill>
            <a:srgbClr val="163D6B"/>
          </a:solidFill>
          <a:ln w="12700">
            <a:solidFill>
              <a:srgbClr val="163D6B"/>
            </a:solidFill>
            <a:prstDash val="solid"/>
          </a:ln>
        </p:spPr>
      </p:sp>
      <p:sp>
        <p:nvSpPr>
          <p:cNvPr id="13" name="Shape 11"/>
          <p:cNvSpPr/>
          <p:nvPr/>
        </p:nvSpPr>
        <p:spPr>
          <a:xfrm>
            <a:off x="2743200" y="2560320"/>
            <a:ext cx="347472" cy="347472"/>
          </a:xfrm>
          <a:prstGeom prst="ellipse">
            <a:avLst/>
          </a:prstGeom>
          <a:solidFill>
            <a:srgbClr val="F15A22"/>
          </a:solidFill>
          <a:ln w="12700">
            <a:solidFill>
              <a:srgbClr val="F15A22"/>
            </a:solidFill>
            <a:prstDash val="solid"/>
          </a:ln>
        </p:spPr>
      </p:sp>
      <p:sp>
        <p:nvSpPr>
          <p:cNvPr id="14" name="Text 12"/>
          <p:cNvSpPr txBox="1"/>
          <p:nvPr/>
        </p:nvSpPr>
        <p:spPr>
          <a:xfrm>
            <a:off x="274320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3182112" y="2542032"/>
            <a:ext cx="114300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Le routage</a:t>
            </a:r>
            <a:endParaRPr lang="en-US" sz="1350" dirty="0"/>
          </a:p>
        </p:txBody>
      </p:sp>
      <p:sp>
        <p:nvSpPr>
          <p:cNvPr id="16" name="Text 14"/>
          <p:cNvSpPr txBox="1"/>
          <p:nvPr/>
        </p:nvSpPr>
        <p:spPr>
          <a:xfrm>
            <a:off x="2743200" y="3017520"/>
            <a:ext cx="155448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Route alertname = HostHighCpuLoad → astreinte-teams, avant team = infra. Vraie URL Workflows ou Inbox.</a:t>
            </a:r>
            <a:endParaRPr lang="en-US" sz="1150" dirty="0"/>
          </a:p>
        </p:txBody>
      </p:sp>
      <p:sp>
        <p:nvSpPr>
          <p:cNvPr id="17" name="Shape 15"/>
          <p:cNvSpPr/>
          <p:nvPr/>
        </p:nvSpPr>
        <p:spPr>
          <a:xfrm>
            <a:off x="4663440" y="2377440"/>
            <a:ext cx="1920240" cy="2194560"/>
          </a:xfrm>
          <a:prstGeom prst="roundRect">
            <a:avLst>
              <a:gd name="adj" fmla="val 3810"/>
            </a:avLst>
          </a:prstGeom>
          <a:solidFill>
            <a:srgbClr val="163D6B"/>
          </a:solidFill>
          <a:ln w="12700">
            <a:solidFill>
              <a:srgbClr val="163D6B"/>
            </a:solidFill>
            <a:prstDash val="solid"/>
          </a:ln>
        </p:spPr>
      </p:sp>
      <p:sp>
        <p:nvSpPr>
          <p:cNvPr id="18" name="Shape 16"/>
          <p:cNvSpPr/>
          <p:nvPr/>
        </p:nvSpPr>
        <p:spPr>
          <a:xfrm>
            <a:off x="4846320" y="2560320"/>
            <a:ext cx="347472" cy="347472"/>
          </a:xfrm>
          <a:prstGeom prst="ellipse">
            <a:avLst/>
          </a:prstGeom>
          <a:solidFill>
            <a:srgbClr val="F15A22"/>
          </a:solidFill>
          <a:ln w="12700">
            <a:solidFill>
              <a:srgbClr val="F15A22"/>
            </a:solidFill>
            <a:prstDash val="solid"/>
          </a:ln>
        </p:spPr>
      </p:sp>
      <p:sp>
        <p:nvSpPr>
          <p:cNvPr id="19" name="Text 17"/>
          <p:cNvSpPr txBox="1"/>
          <p:nvPr/>
        </p:nvSpPr>
        <p:spPr>
          <a:xfrm>
            <a:off x="484632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5285232" y="2542032"/>
            <a:ext cx="114300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Déclencher</a:t>
            </a:r>
            <a:endParaRPr lang="en-US" sz="1350" dirty="0"/>
          </a:p>
        </p:txBody>
      </p:sp>
      <p:sp>
        <p:nvSpPr>
          <p:cNvPr id="21" name="Text 19"/>
          <p:cNvSpPr txBox="1"/>
          <p:nvPr/>
        </p:nvSpPr>
        <p:spPr>
          <a:xfrm>
            <a:off x="4846320" y="3017520"/>
            <a:ext cx="155448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./lab.sh chaos cpu 300. Chronométrer. Ouvrir la carte : que manque-t-il ?</a:t>
            </a:r>
            <a:endParaRPr lang="en-US" sz="1150" dirty="0"/>
          </a:p>
        </p:txBody>
      </p:sp>
      <p:sp>
        <p:nvSpPr>
          <p:cNvPr id="22" name="Shape 20"/>
          <p:cNvSpPr/>
          <p:nvPr/>
        </p:nvSpPr>
        <p:spPr>
          <a:xfrm>
            <a:off x="6766560" y="2377440"/>
            <a:ext cx="1920240" cy="2194560"/>
          </a:xfrm>
          <a:prstGeom prst="roundRect">
            <a:avLst>
              <a:gd name="adj" fmla="val 3810"/>
            </a:avLst>
          </a:prstGeom>
          <a:solidFill>
            <a:srgbClr val="163D6B"/>
          </a:solidFill>
          <a:ln w="12700">
            <a:solidFill>
              <a:srgbClr val="163D6B"/>
            </a:solidFill>
            <a:prstDash val="solid"/>
          </a:ln>
        </p:spPr>
      </p:sp>
      <p:sp>
        <p:nvSpPr>
          <p:cNvPr id="23" name="Shape 21"/>
          <p:cNvSpPr/>
          <p:nvPr/>
        </p:nvSpPr>
        <p:spPr>
          <a:xfrm>
            <a:off x="6949440" y="2560320"/>
            <a:ext cx="347472" cy="347472"/>
          </a:xfrm>
          <a:prstGeom prst="ellipse">
            <a:avLst/>
          </a:prstGeom>
          <a:solidFill>
            <a:srgbClr val="F15A22"/>
          </a:solidFill>
          <a:ln w="12700">
            <a:solidFill>
              <a:srgbClr val="F15A22"/>
            </a:solidFill>
            <a:prstDash val="solid"/>
          </a:ln>
        </p:spPr>
      </p:sp>
      <p:sp>
        <p:nvSpPr>
          <p:cNvPr id="24" name="Text 22"/>
          <p:cNvSpPr txBox="1"/>
          <p:nvPr/>
        </p:nvSpPr>
        <p:spPr>
          <a:xfrm>
            <a:off x="694944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7388352" y="2542032"/>
            <a:ext cx="114300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Personnaliser</a:t>
            </a:r>
            <a:endParaRPr lang="en-US" sz="1350" dirty="0"/>
          </a:p>
        </p:txBody>
      </p:sp>
      <p:sp>
        <p:nvSpPr>
          <p:cNvPr id="26" name="Text 24"/>
          <p:cNvSpPr txBox="1"/>
          <p:nvPr/>
        </p:nvSpPr>
        <p:spPr>
          <a:xfrm>
            <a:off x="6949440" y="3017520"/>
            <a:ext cx="155448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formation.title / formation.text, lien dashboard avec var-instance, amtool template render.</a:t>
            </a:r>
            <a:endParaRPr lang="en-US" sz="1150" dirty="0"/>
          </a:p>
        </p:txBody>
      </p:sp>
      <p:sp>
        <p:nvSpPr>
          <p:cNvPr id="27" name="Text 25"/>
          <p:cNvSpPr txBox="1"/>
          <p:nvPr/>
        </p:nvSpPr>
        <p:spPr>
          <a:xfrm>
            <a:off x="457200" y="4709160"/>
            <a:ext cx="8229600" cy="274320"/>
          </a:xfrm>
          <a:prstGeom prst="rect">
            <a:avLst/>
          </a:prstGeom>
          <a:noFill/>
          <a:ln/>
        </p:spPr>
        <p:txBody>
          <a:bodyPr wrap="square" lIns="0" tIns="0" rIns="0" bIns="0" rtlCol="0" anchor="ctr"/>
          <a:lstStyle/>
          <a:p>
            <a:pPr indent="0" marL="0">
              <a:buNone/>
            </a:pPr>
            <a:r>
              <a:rPr lang="en-US" sz="1000" i="1" dirty="0">
                <a:solidFill>
                  <a:srgbClr val="8FA3BD"/>
                </a:solidFill>
                <a:latin typeface="Calibri" pitchFamily="34" charset="0"/>
                <a:ea typeface="Calibri" pitchFamily="34" charset="-122"/>
                <a:cs typeface="Calibri" pitchFamily="34" charset="-120"/>
              </a:rPr>
              <a:t>Énoncé complet dans le guide stagiaire · corrigé projeté après recherche</a:t>
            </a:r>
            <a:endParaRPr lang="en-US" sz="10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14</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Alerting Grafana</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Les mêmes concepts sous d'autres noms, et quand choisir quoi.</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82</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Alertmanager ↔ Grafana</a:t>
            </a:r>
            <a:endParaRPr lang="en-US" sz="2800" dirty="0"/>
          </a:p>
        </p:txBody>
      </p:sp>
      <p:graphicFrame>
        <p:nvGraphicFramePr>
          <p:cNvPr id="83"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2011680"/>
                <a:gridCol w="3474720"/>
                <a:gridCol w="274320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Alertmanager</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Grafana</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r>
              <a:tr h="41148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receiver</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Contact point</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où envoyer</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1148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route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Notification policy</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qui reçoit quoi</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1148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silence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Silence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identique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1148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time_interval</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Time interval (mute timing)</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plages horaires</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1148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template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Notification template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même langage Go</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1148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règle (for)</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Alert rule : pending period, keep firing for</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requêtes + Reduce / Math / Threshold</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bl>
          </a:graphicData>
        </a:graphic>
      </p:graphicFrame>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83</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Quand utiliser quoi</a:t>
            </a:r>
            <a:endParaRPr lang="en-US" sz="2800" dirty="0"/>
          </a:p>
        </p:txBody>
      </p:sp>
      <p:sp>
        <p:nvSpPr>
          <p:cNvPr id="5" name="Shape 3"/>
          <p:cNvSpPr/>
          <p:nvPr/>
        </p:nvSpPr>
        <p:spPr>
          <a:xfrm>
            <a:off x="457200" y="1234440"/>
            <a:ext cx="3977640" cy="3429000"/>
          </a:xfrm>
          <a:prstGeom prst="roundRect">
            <a:avLst>
              <a:gd name="adj" fmla="val 2133"/>
            </a:avLst>
          </a:prstGeom>
          <a:solidFill>
            <a:srgbClr val="F4F5F7"/>
          </a:solidFill>
          <a:ln w="12700">
            <a:solidFill>
              <a:srgbClr val="F4F5F7"/>
            </a:solidFill>
            <a:prstDash val="solid"/>
          </a:ln>
        </p:spPr>
      </p:sp>
      <p:sp>
        <p:nvSpPr>
          <p:cNvPr id="6" name="Text 4"/>
          <p:cNvSpPr txBox="1"/>
          <p:nvPr/>
        </p:nvSpPr>
        <p:spPr>
          <a:xfrm>
            <a:off x="68580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Prometheus + Alertmanager</a:t>
            </a:r>
            <a:endParaRPr lang="en-US" sz="1700" dirty="0"/>
          </a:p>
        </p:txBody>
      </p:sp>
      <p:sp>
        <p:nvSpPr>
          <p:cNvPr id="7" name="Text 5"/>
          <p:cNvSpPr txBox="1"/>
          <p:nvPr/>
        </p:nvSpPr>
        <p:spPr>
          <a:xfrm>
            <a:off x="68580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Alertes pures métriques, versionnées, testées avec promtool</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Évaluées là où sont les données, pas de dépendance à Grafana</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HA triviale</a:t>
            </a:r>
            <a:endParaRPr lang="en-US" sz="1300" dirty="0"/>
          </a:p>
        </p:txBody>
      </p:sp>
      <p:sp>
        <p:nvSpPr>
          <p:cNvPr id="8" name="Shape 6"/>
          <p:cNvSpPr/>
          <p:nvPr/>
        </p:nvSpPr>
        <p:spPr>
          <a:xfrm>
            <a:off x="4709160" y="1234440"/>
            <a:ext cx="3977640" cy="3429000"/>
          </a:xfrm>
          <a:prstGeom prst="roundRect">
            <a:avLst>
              <a:gd name="adj" fmla="val 2133"/>
            </a:avLst>
          </a:prstGeom>
          <a:solidFill>
            <a:srgbClr val="0F2A4A"/>
          </a:solidFill>
          <a:ln w="12700">
            <a:solidFill>
              <a:srgbClr val="0F2A4A"/>
            </a:solidFill>
            <a:prstDash val="solid"/>
          </a:ln>
        </p:spPr>
      </p:sp>
      <p:sp>
        <p:nvSpPr>
          <p:cNvPr id="9" name="Text 7"/>
          <p:cNvSpPr txBox="1"/>
          <p:nvPr/>
        </p:nvSpPr>
        <p:spPr>
          <a:xfrm>
            <a:off x="4937760" y="1371600"/>
            <a:ext cx="3566160" cy="41148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Alerting Grafana</a:t>
            </a:r>
            <a:endParaRPr lang="en-US" sz="1700" dirty="0"/>
          </a:p>
        </p:txBody>
      </p:sp>
      <p:sp>
        <p:nvSpPr>
          <p:cNvPr id="10" name="Text 8"/>
          <p:cNvSpPr txBox="1"/>
          <p:nvPr/>
        </p:nvSpPr>
        <p:spPr>
          <a:xfrm>
            <a:off x="493776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Multi-sources : un log Loki + une métrique</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Alertes SQL, équipes qui vivent dans Grafana</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Lien direct règle ↔ panel</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Se provisionne aussi en YAML, bouton Export partout</a:t>
            </a:r>
            <a:endParaRPr lang="en-US" sz="13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84</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Une règle Grafana 13</a:t>
            </a:r>
            <a:endParaRPr lang="en-US" sz="2800" dirty="0"/>
          </a:p>
        </p:txBody>
      </p:sp>
      <p:pic>
        <p:nvPicPr>
          <p:cNvPr id="5" name="Image 0" descr="/home/claude/formation-observabilite-lab/docs/formateur/img/grafana-alert-rule.png">    </p:cNvPr>
          <p:cNvPicPr>
            <a:picLocks noChangeAspect="1"/>
          </p:cNvPicPr>
          <p:nvPr/>
        </p:nvPicPr>
        <p:blipFill>
          <a:blip r:embed="rId1"/>
          <a:srcRect l="0" r="0" t="0" b="0"/>
          <a:stretch/>
        </p:blipFill>
        <p:spPr>
          <a:xfrm>
            <a:off x="457200" y="1143000"/>
            <a:ext cx="8229600" cy="3291840"/>
          </a:xfrm>
          <a:prstGeom prst="rect">
            <a:avLst/>
          </a:prstGeom>
        </p:spPr>
      </p:pic>
      <p:sp>
        <p:nvSpPr>
          <p:cNvPr id="6" name="Text 3"/>
          <p:cNvSpPr txBox="1"/>
          <p:nvPr/>
        </p:nvSpPr>
        <p:spPr>
          <a:xfrm>
            <a:off x="457200" y="4480560"/>
            <a:ext cx="8229600" cy="274320"/>
          </a:xfrm>
          <a:prstGeom prst="rect">
            <a:avLst/>
          </a:prstGeom>
          <a:noFill/>
          <a:ln/>
        </p:spPr>
        <p:txBody>
          <a:bodyPr wrap="square" lIns="0" tIns="0" rIns="0" bIns="0" rtlCol="0" anchor="ctr"/>
          <a:lstStyle/>
          <a:p>
            <a:pPr algn="ctr" indent="0" marL="0">
              <a:buNone/>
            </a:pPr>
            <a:r>
              <a:rPr lang="en-US" sz="1100" i="1" dirty="0">
                <a:solidFill>
                  <a:srgbClr val="5B6270"/>
                </a:solidFill>
                <a:latin typeface="Calibri" pitchFamily="34" charset="0"/>
                <a:ea typeface="Calibri" pitchFamily="34" charset="-122"/>
                <a:cs typeface="Calibri" pitchFamily="34" charset="-120"/>
              </a:rPr>
              <a:t>Six étapes : nom, requête et condition, dossier et labels, évaluation, notifications, message</a:t>
            </a:r>
            <a:endParaRPr lang="en-US" sz="11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0F2A4A"/>
        </a:solidFill>
      </p:bgPr>
    </p:bg>
    <p:spTree>
      <p:nvGrpSpPr>
        <p:cNvPr id="1" name=""/>
        <p:cNvGrpSpPr/>
        <p:nvPr/>
      </p:nvGrpSpPr>
      <p:grpSpPr>
        <a:xfrm>
          <a:off x="0" y="0"/>
          <a:ext cx="0" cy="0"/>
          <a:chOff x="0" y="0"/>
          <a:chExt cx="0" cy="0"/>
        </a:xfrm>
      </p:grpSpPr>
      <p:sp>
        <p:nvSpPr>
          <p:cNvPr id="2" name="Shape 0"/>
          <p:cNvSpPr/>
          <p:nvPr/>
        </p:nvSpPr>
        <p:spPr>
          <a:xfrm>
            <a:off x="457200" y="411480"/>
            <a:ext cx="1371600" cy="457200"/>
          </a:xfrm>
          <a:prstGeom prst="roundRect">
            <a:avLst>
              <a:gd name="adj" fmla="val 20000"/>
            </a:avLst>
          </a:prstGeom>
          <a:solidFill>
            <a:srgbClr val="F15A22"/>
          </a:solidFill>
          <a:ln w="12700">
            <a:solidFill>
              <a:srgbClr val="F15A22"/>
            </a:solidFill>
            <a:prstDash val="solid"/>
          </a:ln>
        </p:spPr>
      </p:sp>
      <p:sp>
        <p:nvSpPr>
          <p:cNvPr id="3" name="Text 1"/>
          <p:cNvSpPr txBox="1"/>
          <p:nvPr/>
        </p:nvSpPr>
        <p:spPr>
          <a:xfrm>
            <a:off x="457200" y="411480"/>
            <a:ext cx="13716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TP 8</a:t>
            </a:r>
            <a:endParaRPr lang="en-US" sz="1600" dirty="0"/>
          </a:p>
        </p:txBody>
      </p:sp>
      <p:sp>
        <p:nvSpPr>
          <p:cNvPr id="4" name="Text 2"/>
          <p:cNvSpPr txBox="1"/>
          <p:nvPr/>
        </p:nvSpPr>
        <p:spPr>
          <a:xfrm>
            <a:off x="2011680" y="365760"/>
            <a:ext cx="667512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Alerting Grafana, de l'interface au code</a:t>
            </a:r>
            <a:endParaRPr lang="en-US" sz="2400" dirty="0"/>
          </a:p>
        </p:txBody>
      </p:sp>
      <p:sp>
        <p:nvSpPr>
          <p:cNvPr id="5" name="Text 3"/>
          <p:cNvSpPr txBox="1"/>
          <p:nvPr/>
        </p:nvSpPr>
        <p:spPr>
          <a:xfrm>
            <a:off x="457200" y="1097280"/>
            <a:ext cx="1828800" cy="274320"/>
          </a:xfrm>
          <a:prstGeom prst="rect">
            <a:avLst/>
          </a:prstGeom>
          <a:noFill/>
          <a:ln/>
        </p:spPr>
        <p:txBody>
          <a:bodyPr wrap="square" lIns="0" tIns="0" rIns="0" bIns="0" rtlCol="0" anchor="ctr"/>
          <a:lstStyle/>
          <a:p>
            <a:pPr indent="0" marL="0">
              <a:buNone/>
            </a:pPr>
            <a:r>
              <a:rPr lang="en-US" sz="1200" b="1" spc="300" kern="0" dirty="0">
                <a:solidFill>
                  <a:srgbClr val="FFB48F"/>
                </a:solidFill>
                <a:latin typeface="Calibri" pitchFamily="34" charset="0"/>
                <a:ea typeface="Calibri" pitchFamily="34" charset="-122"/>
                <a:cs typeface="Calibri" pitchFamily="34" charset="-120"/>
              </a:rPr>
              <a:t>Mission</a:t>
            </a:r>
            <a:endParaRPr lang="en-US" sz="1200" dirty="0"/>
          </a:p>
        </p:txBody>
      </p:sp>
      <p:sp>
        <p:nvSpPr>
          <p:cNvPr id="6" name="Text 4"/>
          <p:cNvSpPr txBox="1"/>
          <p:nvPr/>
        </p:nvSpPr>
        <p:spPr>
          <a:xfrm>
            <a:off x="457200" y="1371600"/>
            <a:ext cx="8229600" cy="868680"/>
          </a:xfrm>
          <a:prstGeom prst="rect">
            <a:avLst/>
          </a:prstGeom>
          <a:noFill/>
          <a:ln/>
        </p:spPr>
        <p:txBody>
          <a:bodyPr wrap="square" lIns="0" tIns="0" rIns="0" bIns="0" rtlCol="0" anchor="t"/>
          <a:lstStyle/>
          <a:p>
            <a:pPr indent="0" marL="0">
              <a:buNone/>
            </a:pPr>
            <a:r>
              <a:rPr lang="en-US" sz="1500" dirty="0">
                <a:solidFill>
                  <a:srgbClr val="DBE6F3"/>
                </a:solidFill>
                <a:latin typeface="Calibri" pitchFamily="34" charset="0"/>
                <a:ea typeface="Calibri" pitchFamily="34" charset="-122"/>
                <a:cs typeface="Calibri" pitchFamily="34" charset="-120"/>
              </a:rPr>
              <a:t>Une règle multi-dimensionnelle dans l'interface, un contact point Teams, une politique, un test, puis tout exporter et provisionner par fichier.</a:t>
            </a:r>
            <a:endParaRPr lang="en-US" sz="1500" dirty="0"/>
          </a:p>
        </p:txBody>
      </p:sp>
      <p:sp>
        <p:nvSpPr>
          <p:cNvPr id="7" name="Shape 5"/>
          <p:cNvSpPr/>
          <p:nvPr/>
        </p:nvSpPr>
        <p:spPr>
          <a:xfrm>
            <a:off x="457200" y="2377440"/>
            <a:ext cx="1920240" cy="2194560"/>
          </a:xfrm>
          <a:prstGeom prst="roundRect">
            <a:avLst>
              <a:gd name="adj" fmla="val 3810"/>
            </a:avLst>
          </a:prstGeom>
          <a:solidFill>
            <a:srgbClr val="163D6B"/>
          </a:solidFill>
          <a:ln w="12700">
            <a:solidFill>
              <a:srgbClr val="163D6B"/>
            </a:solidFill>
            <a:prstDash val="solid"/>
          </a:ln>
        </p:spPr>
      </p:sp>
      <p:sp>
        <p:nvSpPr>
          <p:cNvPr id="8" name="Shape 6"/>
          <p:cNvSpPr/>
          <p:nvPr/>
        </p:nvSpPr>
        <p:spPr>
          <a:xfrm>
            <a:off x="640080" y="2560320"/>
            <a:ext cx="347472" cy="347472"/>
          </a:xfrm>
          <a:prstGeom prst="ellipse">
            <a:avLst/>
          </a:prstGeom>
          <a:solidFill>
            <a:srgbClr val="F15A22"/>
          </a:solidFill>
          <a:ln w="12700">
            <a:solidFill>
              <a:srgbClr val="F15A22"/>
            </a:solidFill>
            <a:prstDash val="solid"/>
          </a:ln>
        </p:spPr>
      </p:sp>
      <p:sp>
        <p:nvSpPr>
          <p:cNvPr id="9" name="Text 7"/>
          <p:cNvSpPr txBox="1"/>
          <p:nvPr/>
        </p:nvSpPr>
        <p:spPr>
          <a:xfrm>
            <a:off x="64008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078992" y="2542032"/>
            <a:ext cx="114300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Contact points</a:t>
            </a:r>
            <a:endParaRPr lang="en-US" sz="1350" dirty="0"/>
          </a:p>
        </p:txBody>
      </p:sp>
      <p:sp>
        <p:nvSpPr>
          <p:cNvPr id="11" name="Text 9"/>
          <p:cNvSpPr txBox="1"/>
          <p:nvPr/>
        </p:nvSpPr>
        <p:spPr>
          <a:xfrm>
            <a:off x="640080" y="3017520"/>
            <a:ext cx="155448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inbox-grafana (Webhook), teams-astreinte (Microsoft Teams). Bouton Test.</a:t>
            </a:r>
            <a:endParaRPr lang="en-US" sz="1150" dirty="0"/>
          </a:p>
        </p:txBody>
      </p:sp>
      <p:sp>
        <p:nvSpPr>
          <p:cNvPr id="12" name="Shape 10"/>
          <p:cNvSpPr/>
          <p:nvPr/>
        </p:nvSpPr>
        <p:spPr>
          <a:xfrm>
            <a:off x="2560320" y="2377440"/>
            <a:ext cx="1920240" cy="2194560"/>
          </a:xfrm>
          <a:prstGeom prst="roundRect">
            <a:avLst>
              <a:gd name="adj" fmla="val 3810"/>
            </a:avLst>
          </a:prstGeom>
          <a:solidFill>
            <a:srgbClr val="163D6B"/>
          </a:solidFill>
          <a:ln w="12700">
            <a:solidFill>
              <a:srgbClr val="163D6B"/>
            </a:solidFill>
            <a:prstDash val="solid"/>
          </a:ln>
        </p:spPr>
      </p:sp>
      <p:sp>
        <p:nvSpPr>
          <p:cNvPr id="13" name="Shape 11"/>
          <p:cNvSpPr/>
          <p:nvPr/>
        </p:nvSpPr>
        <p:spPr>
          <a:xfrm>
            <a:off x="2743200" y="2560320"/>
            <a:ext cx="347472" cy="347472"/>
          </a:xfrm>
          <a:prstGeom prst="ellipse">
            <a:avLst/>
          </a:prstGeom>
          <a:solidFill>
            <a:srgbClr val="F15A22"/>
          </a:solidFill>
          <a:ln w="12700">
            <a:solidFill>
              <a:srgbClr val="F15A22"/>
            </a:solidFill>
            <a:prstDash val="solid"/>
          </a:ln>
        </p:spPr>
      </p:sp>
      <p:sp>
        <p:nvSpPr>
          <p:cNvPr id="14" name="Text 12"/>
          <p:cNvSpPr txBox="1"/>
          <p:nvPr/>
        </p:nvSpPr>
        <p:spPr>
          <a:xfrm>
            <a:off x="274320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3182112" y="2542032"/>
            <a:ext cx="114300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Policies</a:t>
            </a:r>
            <a:endParaRPr lang="en-US" sz="1350" dirty="0"/>
          </a:p>
        </p:txBody>
      </p:sp>
      <p:sp>
        <p:nvSpPr>
          <p:cNvPr id="16" name="Text 14"/>
          <p:cNvSpPr txBox="1"/>
          <p:nvPr/>
        </p:nvSpPr>
        <p:spPr>
          <a:xfrm>
            <a:off x="2743200" y="3017520"/>
            <a:ext cx="155448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Default → inbox ; severity = critical → Teams, group wait 10 s.</a:t>
            </a:r>
            <a:endParaRPr lang="en-US" sz="1150" dirty="0"/>
          </a:p>
        </p:txBody>
      </p:sp>
      <p:sp>
        <p:nvSpPr>
          <p:cNvPr id="17" name="Shape 15"/>
          <p:cNvSpPr/>
          <p:nvPr/>
        </p:nvSpPr>
        <p:spPr>
          <a:xfrm>
            <a:off x="4663440" y="2377440"/>
            <a:ext cx="1920240" cy="2194560"/>
          </a:xfrm>
          <a:prstGeom prst="roundRect">
            <a:avLst>
              <a:gd name="adj" fmla="val 3810"/>
            </a:avLst>
          </a:prstGeom>
          <a:solidFill>
            <a:srgbClr val="163D6B"/>
          </a:solidFill>
          <a:ln w="12700">
            <a:solidFill>
              <a:srgbClr val="163D6B"/>
            </a:solidFill>
            <a:prstDash val="solid"/>
          </a:ln>
        </p:spPr>
      </p:sp>
      <p:sp>
        <p:nvSpPr>
          <p:cNvPr id="18" name="Shape 16"/>
          <p:cNvSpPr/>
          <p:nvPr/>
        </p:nvSpPr>
        <p:spPr>
          <a:xfrm>
            <a:off x="4846320" y="2560320"/>
            <a:ext cx="347472" cy="347472"/>
          </a:xfrm>
          <a:prstGeom prst="ellipse">
            <a:avLst/>
          </a:prstGeom>
          <a:solidFill>
            <a:srgbClr val="F15A22"/>
          </a:solidFill>
          <a:ln w="12700">
            <a:solidFill>
              <a:srgbClr val="F15A22"/>
            </a:solidFill>
            <a:prstDash val="solid"/>
          </a:ln>
        </p:spPr>
      </p:sp>
      <p:sp>
        <p:nvSpPr>
          <p:cNvPr id="19" name="Text 17"/>
          <p:cNvSpPr txBox="1"/>
          <p:nvPr/>
        </p:nvSpPr>
        <p:spPr>
          <a:xfrm>
            <a:off x="484632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5285232" y="2542032"/>
            <a:ext cx="114300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Règle</a:t>
            </a:r>
            <a:endParaRPr lang="en-US" sz="1350" dirty="0"/>
          </a:p>
        </p:txBody>
      </p:sp>
      <p:sp>
        <p:nvSpPr>
          <p:cNvPr id="21" name="Text 19"/>
          <p:cNvSpPr txBox="1"/>
          <p:nvPr/>
        </p:nvSpPr>
        <p:spPr>
          <a:xfrm>
            <a:off x="4846320" y="3017520"/>
            <a:ext cx="155448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Taux d'erreur par instance, Instant, WHEN A IS ABOVE 5, pending 2 min, lien dashboard/panel.</a:t>
            </a:r>
            <a:endParaRPr lang="en-US" sz="1150" dirty="0"/>
          </a:p>
        </p:txBody>
      </p:sp>
      <p:sp>
        <p:nvSpPr>
          <p:cNvPr id="22" name="Shape 20"/>
          <p:cNvSpPr/>
          <p:nvPr/>
        </p:nvSpPr>
        <p:spPr>
          <a:xfrm>
            <a:off x="6766560" y="2377440"/>
            <a:ext cx="1920240" cy="2194560"/>
          </a:xfrm>
          <a:prstGeom prst="roundRect">
            <a:avLst>
              <a:gd name="adj" fmla="val 3810"/>
            </a:avLst>
          </a:prstGeom>
          <a:solidFill>
            <a:srgbClr val="163D6B"/>
          </a:solidFill>
          <a:ln w="12700">
            <a:solidFill>
              <a:srgbClr val="163D6B"/>
            </a:solidFill>
            <a:prstDash val="solid"/>
          </a:ln>
        </p:spPr>
      </p:sp>
      <p:sp>
        <p:nvSpPr>
          <p:cNvPr id="23" name="Shape 21"/>
          <p:cNvSpPr/>
          <p:nvPr/>
        </p:nvSpPr>
        <p:spPr>
          <a:xfrm>
            <a:off x="6949440" y="2560320"/>
            <a:ext cx="347472" cy="347472"/>
          </a:xfrm>
          <a:prstGeom prst="ellipse">
            <a:avLst/>
          </a:prstGeom>
          <a:solidFill>
            <a:srgbClr val="F15A22"/>
          </a:solidFill>
          <a:ln w="12700">
            <a:solidFill>
              <a:srgbClr val="F15A22"/>
            </a:solidFill>
            <a:prstDash val="solid"/>
          </a:ln>
        </p:spPr>
      </p:sp>
      <p:sp>
        <p:nvSpPr>
          <p:cNvPr id="24" name="Text 22"/>
          <p:cNvSpPr txBox="1"/>
          <p:nvPr/>
        </p:nvSpPr>
        <p:spPr>
          <a:xfrm>
            <a:off x="694944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7388352" y="2542032"/>
            <a:ext cx="114300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As code</a:t>
            </a:r>
            <a:endParaRPr lang="en-US" sz="1350" dirty="0"/>
          </a:p>
        </p:txBody>
      </p:sp>
      <p:sp>
        <p:nvSpPr>
          <p:cNvPr id="26" name="Text 24"/>
          <p:cNvSpPr txBox="1"/>
          <p:nvPr/>
        </p:nvSpPr>
        <p:spPr>
          <a:xfrm>
            <a:off x="6949440" y="3017520"/>
            <a:ext cx="155448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Export YAML, formation.yml dans provisioning/alerting, restart, cadenas. Intervalle nuit en deux morceaux.</a:t>
            </a:r>
            <a:endParaRPr lang="en-US" sz="1150" dirty="0"/>
          </a:p>
        </p:txBody>
      </p:sp>
      <p:sp>
        <p:nvSpPr>
          <p:cNvPr id="27" name="Text 25"/>
          <p:cNvSpPr txBox="1"/>
          <p:nvPr/>
        </p:nvSpPr>
        <p:spPr>
          <a:xfrm>
            <a:off x="457200" y="4709160"/>
            <a:ext cx="8229600" cy="274320"/>
          </a:xfrm>
          <a:prstGeom prst="rect">
            <a:avLst/>
          </a:prstGeom>
          <a:noFill/>
          <a:ln/>
        </p:spPr>
        <p:txBody>
          <a:bodyPr wrap="square" lIns="0" tIns="0" rIns="0" bIns="0" rtlCol="0" anchor="ctr"/>
          <a:lstStyle/>
          <a:p>
            <a:pPr indent="0" marL="0">
              <a:buNone/>
            </a:pPr>
            <a:r>
              <a:rPr lang="en-US" sz="1000" i="1" dirty="0">
                <a:solidFill>
                  <a:srgbClr val="8FA3BD"/>
                </a:solidFill>
                <a:latin typeface="Calibri" pitchFamily="34" charset="0"/>
                <a:ea typeface="Calibri" pitchFamily="34" charset="-122"/>
                <a:cs typeface="Calibri" pitchFamily="34" charset="-120"/>
              </a:rPr>
              <a:t>Énoncé complet dans le guide stagiaire · corrigé projeté après recherche</a:t>
            </a:r>
            <a:endParaRPr lang="en-US" sz="10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15</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Performances, limites, bonnes pratiques</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Dimensionner, diagnostiquer, déployer proprement.</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87</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Ce qui coûte</a:t>
            </a:r>
            <a:endParaRPr lang="en-US" sz="2800" dirty="0"/>
          </a:p>
        </p:txBody>
      </p:sp>
      <p:sp>
        <p:nvSpPr>
          <p:cNvPr id="5" name="Shape 3"/>
          <p:cNvSpPr/>
          <p:nvPr/>
        </p:nvSpPr>
        <p:spPr>
          <a:xfrm>
            <a:off x="457200" y="1234440"/>
            <a:ext cx="2590800" cy="2468880"/>
          </a:xfrm>
          <a:prstGeom prst="roundRect">
            <a:avLst>
              <a:gd name="adj" fmla="val 2963"/>
            </a:avLst>
          </a:prstGeom>
          <a:solidFill>
            <a:srgbClr val="F4F5F7"/>
          </a:solidFill>
          <a:ln w="12700">
            <a:solidFill>
              <a:srgbClr val="F4F5F7"/>
            </a:solidFill>
            <a:prstDash val="solid"/>
          </a:ln>
        </p:spPr>
      </p:sp>
      <p:sp>
        <p:nvSpPr>
          <p:cNvPr id="6" name="Text 4"/>
          <p:cNvSpPr txBox="1"/>
          <p:nvPr/>
        </p:nvSpPr>
        <p:spPr>
          <a:xfrm>
            <a:off x="6400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Les séries actives</a:t>
            </a:r>
            <a:endParaRPr lang="en-US" sz="1600" dirty="0"/>
          </a:p>
        </p:txBody>
      </p:sp>
      <p:sp>
        <p:nvSpPr>
          <p:cNvPr id="7" name="Text 5"/>
          <p:cNvSpPr txBox="1"/>
          <p:nvPr/>
        </p:nvSpPr>
        <p:spPr>
          <a:xfrm>
            <a:off x="6400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La mémoire. 2 à 4 Ko par série dans le head. Un Prometheus tient 1 à 2 millions de séries confortablement.</a:t>
            </a:r>
            <a:endParaRPr lang="en-US" sz="1300" dirty="0"/>
          </a:p>
        </p:txBody>
      </p:sp>
      <p:sp>
        <p:nvSpPr>
          <p:cNvPr id="8" name="Shape 6"/>
          <p:cNvSpPr/>
          <p:nvPr/>
        </p:nvSpPr>
        <p:spPr>
          <a:xfrm>
            <a:off x="3276600" y="1234440"/>
            <a:ext cx="2590800" cy="2468880"/>
          </a:xfrm>
          <a:prstGeom prst="roundRect">
            <a:avLst>
              <a:gd name="adj" fmla="val 2963"/>
            </a:avLst>
          </a:prstGeom>
          <a:solidFill>
            <a:srgbClr val="F4F5F7"/>
          </a:solidFill>
          <a:ln w="12700">
            <a:solidFill>
              <a:srgbClr val="F4F5F7"/>
            </a:solidFill>
            <a:prstDash val="solid"/>
          </a:ln>
        </p:spPr>
      </p:sp>
      <p:sp>
        <p:nvSpPr>
          <p:cNvPr id="9" name="Text 7"/>
          <p:cNvSpPr txBox="1"/>
          <p:nvPr/>
        </p:nvSpPr>
        <p:spPr>
          <a:xfrm>
            <a:off x="34594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Les échantillons</a:t>
            </a:r>
            <a:endParaRPr lang="en-US" sz="1600" dirty="0"/>
          </a:p>
        </p:txBody>
      </p:sp>
      <p:sp>
        <p:nvSpPr>
          <p:cNvPr id="10" name="Text 8"/>
          <p:cNvSpPr txBox="1"/>
          <p:nvPr/>
        </p:nvSpPr>
        <p:spPr>
          <a:xfrm>
            <a:off x="34594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CPU et disque. 1 à 2 octets chacun : 1 M de séries à 15 s ≈ 8,5 Go par jour.</a:t>
            </a:r>
            <a:endParaRPr lang="en-US" sz="1300" dirty="0"/>
          </a:p>
        </p:txBody>
      </p:sp>
      <p:sp>
        <p:nvSpPr>
          <p:cNvPr id="11" name="Shape 9"/>
          <p:cNvSpPr/>
          <p:nvPr/>
        </p:nvSpPr>
        <p:spPr>
          <a:xfrm>
            <a:off x="6096000" y="1234440"/>
            <a:ext cx="2590800" cy="2468880"/>
          </a:xfrm>
          <a:prstGeom prst="roundRect">
            <a:avLst>
              <a:gd name="adj" fmla="val 2963"/>
            </a:avLst>
          </a:prstGeom>
          <a:solidFill>
            <a:srgbClr val="F4F5F7"/>
          </a:solidFill>
          <a:ln w="12700">
            <a:solidFill>
              <a:srgbClr val="F4F5F7"/>
            </a:solidFill>
            <a:prstDash val="solid"/>
          </a:ln>
        </p:spPr>
      </p:sp>
      <p:sp>
        <p:nvSpPr>
          <p:cNvPr id="12" name="Text 10"/>
          <p:cNvSpPr txBox="1"/>
          <p:nvPr/>
        </p:nvSpPr>
        <p:spPr>
          <a:xfrm>
            <a:off x="62788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Les requêtes</a:t>
            </a:r>
            <a:endParaRPr lang="en-US" sz="1600" dirty="0"/>
          </a:p>
        </p:txBody>
      </p:sp>
      <p:sp>
        <p:nvSpPr>
          <p:cNvPr id="13" name="Text 11"/>
          <p:cNvSpPr txBox="1"/>
          <p:nvPr/>
        </p:nvSpPr>
        <p:spPr>
          <a:xfrm>
            <a:off x="62788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Séries touchées × points. rate() sur un an sans filtre = des milliards de points.</a:t>
            </a:r>
            <a:endParaRPr lang="en-US" sz="13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88</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Diagnostiquer et limiter</a:t>
            </a:r>
            <a:endParaRPr lang="en-US" sz="2800" dirty="0"/>
          </a:p>
        </p:txBody>
      </p:sp>
      <p:sp>
        <p:nvSpPr>
          <p:cNvPr id="5" name="Shape 3"/>
          <p:cNvSpPr/>
          <p:nvPr/>
        </p:nvSpPr>
        <p:spPr>
          <a:xfrm>
            <a:off x="457200" y="1234440"/>
            <a:ext cx="3977640" cy="3429000"/>
          </a:xfrm>
          <a:prstGeom prst="roundRect">
            <a:avLst>
              <a:gd name="adj" fmla="val 2133"/>
            </a:avLst>
          </a:prstGeom>
          <a:solidFill>
            <a:srgbClr val="F4F5F7"/>
          </a:solidFill>
          <a:ln w="12700">
            <a:solidFill>
              <a:srgbClr val="F4F5F7"/>
            </a:solidFill>
            <a:prstDash val="solid"/>
          </a:ln>
        </p:spPr>
      </p:sp>
      <p:sp>
        <p:nvSpPr>
          <p:cNvPr id="6" name="Text 4"/>
          <p:cNvSpPr txBox="1"/>
          <p:nvPr/>
        </p:nvSpPr>
        <p:spPr>
          <a:xfrm>
            <a:off x="68580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Diagnostiquer</a:t>
            </a:r>
            <a:endParaRPr lang="en-US" sz="1700" dirty="0"/>
          </a:p>
        </p:txBody>
      </p:sp>
      <p:sp>
        <p:nvSpPr>
          <p:cNvPr id="7" name="Text 5"/>
          <p:cNvSpPr txBox="1"/>
          <p:nvPr/>
        </p:nvSpPr>
        <p:spPr>
          <a:xfrm>
            <a:off x="68580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Status → TSDB status : top métriques et labels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prometheus_tsdb_head_series, samples_appended_total</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process_resident_memory_bytes, scrape_duration_seconds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prometheus_engine_query_duration_seconds, ?stats=all</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promtool tsdb analyze sur un bloc</a:t>
            </a:r>
            <a:endParaRPr lang="en-US" sz="1300" dirty="0"/>
          </a:p>
        </p:txBody>
      </p:sp>
      <p:sp>
        <p:nvSpPr>
          <p:cNvPr id="8" name="Shape 6"/>
          <p:cNvSpPr/>
          <p:nvPr/>
        </p:nvSpPr>
        <p:spPr>
          <a:xfrm>
            <a:off x="4709160" y="1234440"/>
            <a:ext cx="3977640" cy="3429000"/>
          </a:xfrm>
          <a:prstGeom prst="roundRect">
            <a:avLst>
              <a:gd name="adj" fmla="val 2133"/>
            </a:avLst>
          </a:prstGeom>
          <a:solidFill>
            <a:srgbClr val="F4F5F7"/>
          </a:solidFill>
          <a:ln w="12700">
            <a:solidFill>
              <a:srgbClr val="F4F5F7"/>
            </a:solidFill>
            <a:prstDash val="solid"/>
          </a:ln>
        </p:spPr>
      </p:sp>
      <p:sp>
        <p:nvSpPr>
          <p:cNvPr id="9" name="Text 7"/>
          <p:cNvSpPr txBox="1"/>
          <p:nvPr/>
        </p:nvSpPr>
        <p:spPr>
          <a:xfrm>
            <a:off x="493776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Limiter la casse</a:t>
            </a:r>
            <a:endParaRPr lang="en-US" sz="1700" dirty="0"/>
          </a:p>
        </p:txBody>
      </p:sp>
      <p:sp>
        <p:nvSpPr>
          <p:cNvPr id="10" name="Text 8"/>
          <p:cNvSpPr txBox="1"/>
          <p:nvPr/>
        </p:nvSpPr>
        <p:spPr>
          <a:xfrm>
            <a:off x="493776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sample_limit, label_limit par job : le scrape est refusé, up passe à 0</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metric_relabel_configs drop</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--query.max-samples, --query.timeout</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Recording rules pour tout ce qui est affiché en boucle</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Pas d'auto-refresh 5 s sur 24 h</a:t>
            </a:r>
            <a:endParaRPr lang="en-US" sz="13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89</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Déployer proprement</a:t>
            </a:r>
            <a:endParaRPr lang="en-US" sz="2800" dirty="0"/>
          </a:p>
        </p:txBody>
      </p:sp>
      <p:sp>
        <p:nvSpPr>
          <p:cNvPr id="5" name="Shape 3"/>
          <p:cNvSpPr/>
          <p:nvPr/>
        </p:nvSpPr>
        <p:spPr>
          <a:xfrm>
            <a:off x="457200" y="1234440"/>
            <a:ext cx="4000500" cy="1600200"/>
          </a:xfrm>
          <a:prstGeom prst="roundRect">
            <a:avLst>
              <a:gd name="adj" fmla="val 4571"/>
            </a:avLst>
          </a:prstGeom>
          <a:solidFill>
            <a:srgbClr val="F4F5F7"/>
          </a:solidFill>
          <a:ln w="12700">
            <a:solidFill>
              <a:srgbClr val="F4F5F7"/>
            </a:solidFill>
            <a:prstDash val="solid"/>
          </a:ln>
        </p:spPr>
      </p:sp>
      <p:sp>
        <p:nvSpPr>
          <p:cNvPr id="6" name="Text 4"/>
          <p:cNvSpPr txBox="1"/>
          <p:nvPr/>
        </p:nvSpPr>
        <p:spPr>
          <a:xfrm>
            <a:off x="6400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Sécurité</a:t>
            </a:r>
            <a:endParaRPr lang="en-US" sz="1500" dirty="0"/>
          </a:p>
        </p:txBody>
      </p:sp>
      <p:sp>
        <p:nvSpPr>
          <p:cNvPr id="7" name="Text 5"/>
          <p:cNvSpPr txBox="1"/>
          <p:nvPr/>
        </p:nvSpPr>
        <p:spPr>
          <a:xfrm>
            <a:off x="6400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Pas d'auth par défaut. web.config.file (TLS, basic auth bcrypt) ou reverse proxy. Secrets dans des *_file.</a:t>
            </a:r>
            <a:endParaRPr lang="en-US" sz="1200" dirty="0"/>
          </a:p>
        </p:txBody>
      </p:sp>
      <p:sp>
        <p:nvSpPr>
          <p:cNvPr id="8" name="Shape 6"/>
          <p:cNvSpPr/>
          <p:nvPr/>
        </p:nvSpPr>
        <p:spPr>
          <a:xfrm>
            <a:off x="4686300" y="1234440"/>
            <a:ext cx="4000500" cy="1600200"/>
          </a:xfrm>
          <a:prstGeom prst="roundRect">
            <a:avLst>
              <a:gd name="adj" fmla="val 4571"/>
            </a:avLst>
          </a:prstGeom>
          <a:solidFill>
            <a:srgbClr val="F4F5F7"/>
          </a:solidFill>
          <a:ln w="12700">
            <a:solidFill>
              <a:srgbClr val="F4F5F7"/>
            </a:solidFill>
            <a:prstDash val="solid"/>
          </a:ln>
        </p:spPr>
      </p:sp>
      <p:sp>
        <p:nvSpPr>
          <p:cNvPr id="9" name="Text 7"/>
          <p:cNvSpPr txBox="1"/>
          <p:nvPr/>
        </p:nvSpPr>
        <p:spPr>
          <a:xfrm>
            <a:off x="48691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Haute disponibilité</a:t>
            </a:r>
            <a:endParaRPr lang="en-US" sz="1500" dirty="0"/>
          </a:p>
        </p:txBody>
      </p:sp>
      <p:sp>
        <p:nvSpPr>
          <p:cNvPr id="10" name="Text 8"/>
          <p:cNvSpPr txBox="1"/>
          <p:nvPr/>
        </p:nvSpPr>
        <p:spPr>
          <a:xfrm>
            <a:off x="48691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Deux Prometheus identiques (external_labels replica), Alertmanager en cluster qui déduplique. Grafana sur PostgreSQL derrière un LB.</a:t>
            </a:r>
            <a:endParaRPr lang="en-US" sz="1200" dirty="0"/>
          </a:p>
        </p:txBody>
      </p:sp>
      <p:sp>
        <p:nvSpPr>
          <p:cNvPr id="11" name="Shape 9"/>
          <p:cNvSpPr/>
          <p:nvPr/>
        </p:nvSpPr>
        <p:spPr>
          <a:xfrm>
            <a:off x="457200" y="3063240"/>
            <a:ext cx="4000500" cy="1600200"/>
          </a:xfrm>
          <a:prstGeom prst="roundRect">
            <a:avLst>
              <a:gd name="adj" fmla="val 4571"/>
            </a:avLst>
          </a:prstGeom>
          <a:solidFill>
            <a:srgbClr val="F4F5F7"/>
          </a:solidFill>
          <a:ln w="12700">
            <a:solidFill>
              <a:srgbClr val="F4F5F7"/>
            </a:solidFill>
            <a:prstDash val="solid"/>
          </a:ln>
        </p:spPr>
      </p:sp>
      <p:sp>
        <p:nvSpPr>
          <p:cNvPr id="12" name="Text 10"/>
          <p:cNvSpPr txBox="1"/>
          <p:nvPr/>
        </p:nvSpPr>
        <p:spPr>
          <a:xfrm>
            <a:off x="6400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Mode agent</a:t>
            </a:r>
            <a:endParaRPr lang="en-US" sz="1500" dirty="0"/>
          </a:p>
        </p:txBody>
      </p:sp>
      <p:sp>
        <p:nvSpPr>
          <p:cNvPr id="13" name="Text 11"/>
          <p:cNvSpPr txBox="1"/>
          <p:nvPr/>
        </p:nvSpPr>
        <p:spPr>
          <a:xfrm>
            <a:off x="6400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--agent : scrape et remote_write, sans stockage ni requêtes. Sites distants, edge. Grafana Alloy fait pareil (et logs, traces, OTLP).</a:t>
            </a:r>
            <a:endParaRPr lang="en-US" sz="1200" dirty="0"/>
          </a:p>
        </p:txBody>
      </p:sp>
      <p:sp>
        <p:nvSpPr>
          <p:cNvPr id="14" name="Shape 12"/>
          <p:cNvSpPr/>
          <p:nvPr/>
        </p:nvSpPr>
        <p:spPr>
          <a:xfrm>
            <a:off x="4686300" y="3063240"/>
            <a:ext cx="4000500" cy="1600200"/>
          </a:xfrm>
          <a:prstGeom prst="roundRect">
            <a:avLst>
              <a:gd name="adj" fmla="val 4571"/>
            </a:avLst>
          </a:prstGeom>
          <a:solidFill>
            <a:srgbClr val="F4F5F7"/>
          </a:solidFill>
          <a:ln w="12700">
            <a:solidFill>
              <a:srgbClr val="F4F5F7"/>
            </a:solidFill>
            <a:prstDash val="solid"/>
          </a:ln>
        </p:spPr>
      </p:sp>
      <p:sp>
        <p:nvSpPr>
          <p:cNvPr id="15" name="Text 13"/>
          <p:cNvSpPr txBox="1"/>
          <p:nvPr/>
        </p:nvSpPr>
        <p:spPr>
          <a:xfrm>
            <a:off x="48691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Conventions</a:t>
            </a:r>
            <a:endParaRPr lang="en-US" sz="1500" dirty="0"/>
          </a:p>
        </p:txBody>
      </p:sp>
      <p:sp>
        <p:nvSpPr>
          <p:cNvPr id="16" name="Text 14"/>
          <p:cNvSpPr txBox="1"/>
          <p:nvPr/>
        </p:nvSpPr>
        <p:spPr>
          <a:xfrm>
            <a:off x="48691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Nommage, labels env / team / service partout, un runbook par alerte, tests de règles en CI, tout provisionné.</a:t>
            </a:r>
            <a:endParaRPr lang="en-US" sz="12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90</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Exercices 3.1 à 3.5 — diagnostic (15 min)</a:t>
            </a:r>
            <a:endParaRPr lang="en-US" sz="2800" dirty="0"/>
          </a:p>
        </p:txBody>
      </p:sp>
      <p:sp>
        <p:nvSpPr>
          <p:cNvPr id="5" name="Shape 3"/>
          <p:cNvSpPr/>
          <p:nvPr/>
        </p:nvSpPr>
        <p:spPr>
          <a:xfrm>
            <a:off x="457200" y="1280160"/>
            <a:ext cx="384048" cy="384048"/>
          </a:xfrm>
          <a:prstGeom prst="ellipse">
            <a:avLst/>
          </a:prstGeom>
          <a:solidFill>
            <a:srgbClr val="F15A22"/>
          </a:solidFill>
          <a:ln w="12700">
            <a:solidFill>
              <a:srgbClr val="F15A22"/>
            </a:solidFill>
            <a:prstDash val="solid"/>
          </a:ln>
        </p:spPr>
      </p:sp>
      <p:sp>
        <p:nvSpPr>
          <p:cNvPr id="6" name="Text 4"/>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3.1</a:t>
            </a:r>
            <a:endParaRPr lang="en-US" sz="950" dirty="0"/>
          </a:p>
        </p:txBody>
      </p:sp>
      <p:sp>
        <p:nvSpPr>
          <p:cNvPr id="7" name="Text 5"/>
          <p:cNvSpPr txBox="1"/>
          <p:nvPr/>
        </p:nvSpPr>
        <p:spPr>
          <a:xfrm>
            <a:off x="960120" y="1234440"/>
            <a:ext cx="3520440" cy="548640"/>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Séries actives, métrique et label les plus lourds</a:t>
            </a:r>
            <a:endParaRPr lang="en-US" sz="1200" dirty="0"/>
          </a:p>
        </p:txBody>
      </p:sp>
      <p:sp>
        <p:nvSpPr>
          <p:cNvPr id="8" name="Shape 6"/>
          <p:cNvSpPr/>
          <p:nvPr/>
        </p:nvSpPr>
        <p:spPr>
          <a:xfrm>
            <a:off x="457200" y="1938528"/>
            <a:ext cx="384048" cy="384048"/>
          </a:xfrm>
          <a:prstGeom prst="ellipse">
            <a:avLst/>
          </a:prstGeom>
          <a:solidFill>
            <a:srgbClr val="F15A22"/>
          </a:solidFill>
          <a:ln w="12700">
            <a:solidFill>
              <a:srgbClr val="F15A22"/>
            </a:solidFill>
            <a:prstDash val="solid"/>
          </a:ln>
        </p:spPr>
      </p:sp>
      <p:sp>
        <p:nvSpPr>
          <p:cNvPr id="9" name="Text 7"/>
          <p:cNvSpPr txBox="1"/>
          <p:nvPr/>
        </p:nvSpPr>
        <p:spPr>
          <a:xfrm>
            <a:off x="457200" y="1938528"/>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3.2</a:t>
            </a:r>
            <a:endParaRPr lang="en-US" sz="950" dirty="0"/>
          </a:p>
        </p:txBody>
      </p:sp>
      <p:sp>
        <p:nvSpPr>
          <p:cNvPr id="10" name="Text 8"/>
          <p:cNvSpPr txBox="1"/>
          <p:nvPr/>
        </p:nvSpPr>
        <p:spPr>
          <a:xfrm>
            <a:off x="960120" y="1892808"/>
            <a:ext cx="3520440" cy="548640"/>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Échantillons par seconde, mémoire de Prometheus</a:t>
            </a:r>
            <a:endParaRPr lang="en-US" sz="1200" dirty="0"/>
          </a:p>
        </p:txBody>
      </p:sp>
      <p:sp>
        <p:nvSpPr>
          <p:cNvPr id="11" name="Shape 9"/>
          <p:cNvSpPr/>
          <p:nvPr/>
        </p:nvSpPr>
        <p:spPr>
          <a:xfrm>
            <a:off x="457200" y="2596896"/>
            <a:ext cx="384048" cy="384048"/>
          </a:xfrm>
          <a:prstGeom prst="ellipse">
            <a:avLst/>
          </a:prstGeom>
          <a:solidFill>
            <a:srgbClr val="F15A22"/>
          </a:solidFill>
          <a:ln w="12700">
            <a:solidFill>
              <a:srgbClr val="F15A22"/>
            </a:solidFill>
            <a:prstDash val="solid"/>
          </a:ln>
        </p:spPr>
      </p:sp>
      <p:sp>
        <p:nvSpPr>
          <p:cNvPr id="12" name="Text 10"/>
          <p:cNvSpPr txBox="1"/>
          <p:nvPr/>
        </p:nvSpPr>
        <p:spPr>
          <a:xfrm>
            <a:off x="457200" y="2596896"/>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3.3</a:t>
            </a:r>
            <a:endParaRPr lang="en-US" sz="950" dirty="0"/>
          </a:p>
        </p:txBody>
      </p:sp>
      <p:sp>
        <p:nvSpPr>
          <p:cNvPr id="13" name="Text 11"/>
          <p:cNvSpPr txBox="1"/>
          <p:nvPr/>
        </p:nvSpPr>
        <p:spPr>
          <a:xfrm>
            <a:off x="960120" y="2551176"/>
            <a:ext cx="3520440" cy="548640"/>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Le job le plus cher, le plus lent</a:t>
            </a:r>
            <a:endParaRPr lang="en-US" sz="1200" dirty="0"/>
          </a:p>
        </p:txBody>
      </p:sp>
      <p:sp>
        <p:nvSpPr>
          <p:cNvPr id="14" name="Shape 12"/>
          <p:cNvSpPr/>
          <p:nvPr/>
        </p:nvSpPr>
        <p:spPr>
          <a:xfrm>
            <a:off x="4663440" y="1280160"/>
            <a:ext cx="384048" cy="384048"/>
          </a:xfrm>
          <a:prstGeom prst="ellipse">
            <a:avLst/>
          </a:prstGeom>
          <a:solidFill>
            <a:srgbClr val="F15A22"/>
          </a:solidFill>
          <a:ln w="12700">
            <a:solidFill>
              <a:srgbClr val="F15A22"/>
            </a:solidFill>
            <a:prstDash val="solid"/>
          </a:ln>
        </p:spPr>
      </p:sp>
      <p:sp>
        <p:nvSpPr>
          <p:cNvPr id="15" name="Text 13"/>
          <p:cNvSpPr txBox="1"/>
          <p:nvPr/>
        </p:nvSpPr>
        <p:spPr>
          <a:xfrm>
            <a:off x="4663440" y="12801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3.4</a:t>
            </a:r>
            <a:endParaRPr lang="en-US" sz="950" dirty="0"/>
          </a:p>
        </p:txBody>
      </p:sp>
      <p:sp>
        <p:nvSpPr>
          <p:cNvPr id="16" name="Text 14"/>
          <p:cNvSpPr txBox="1"/>
          <p:nvPr/>
        </p:nvSpPr>
        <p:spPr>
          <a:xfrm>
            <a:off x="5166360" y="1234440"/>
            <a:ext cx="3520440" cy="548640"/>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sample_limit: 100 sur redis : que devient up ?</a:t>
            </a:r>
            <a:endParaRPr lang="en-US" sz="1200" dirty="0"/>
          </a:p>
        </p:txBody>
      </p:sp>
      <p:sp>
        <p:nvSpPr>
          <p:cNvPr id="17" name="Shape 15"/>
          <p:cNvSpPr/>
          <p:nvPr/>
        </p:nvSpPr>
        <p:spPr>
          <a:xfrm>
            <a:off x="4663440" y="1938528"/>
            <a:ext cx="384048" cy="384048"/>
          </a:xfrm>
          <a:prstGeom prst="ellipse">
            <a:avLst/>
          </a:prstGeom>
          <a:solidFill>
            <a:srgbClr val="F15A22"/>
          </a:solidFill>
          <a:ln w="12700">
            <a:solidFill>
              <a:srgbClr val="F15A22"/>
            </a:solidFill>
            <a:prstDash val="solid"/>
          </a:ln>
        </p:spPr>
      </p:sp>
      <p:sp>
        <p:nvSpPr>
          <p:cNvPr id="18" name="Text 16"/>
          <p:cNvSpPr txBox="1"/>
          <p:nvPr/>
        </p:nvSpPr>
        <p:spPr>
          <a:xfrm>
            <a:off x="4663440" y="1938528"/>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3.5</a:t>
            </a:r>
            <a:endParaRPr lang="en-US" sz="950" dirty="0"/>
          </a:p>
        </p:txBody>
      </p:sp>
      <p:sp>
        <p:nvSpPr>
          <p:cNvPr id="19" name="Text 17"/>
          <p:cNvSpPr txBox="1"/>
          <p:nvPr/>
        </p:nvSpPr>
        <p:spPr>
          <a:xfrm>
            <a:off x="5166360" y="1892808"/>
            <a:ext cx="3520440" cy="548640"/>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?stats=all : brute contre recording rule</a:t>
            </a:r>
            <a:endParaRPr lang="en-US" sz="12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0F2A4A"/>
        </a:solidFill>
      </p:bgPr>
    </p:bg>
    <p:spTree>
      <p:nvGrpSpPr>
        <p:cNvPr id="1" name=""/>
        <p:cNvGrpSpPr/>
        <p:nvPr/>
      </p:nvGrpSpPr>
      <p:grpSpPr>
        <a:xfrm>
          <a:off x="0" y="0"/>
          <a:ext cx="0" cy="0"/>
          <a:chOff x="0" y="0"/>
          <a:chExt cx="0" cy="0"/>
        </a:xfrm>
      </p:grpSpPr>
      <p:sp>
        <p:nvSpPr>
          <p:cNvPr id="2" name="Shape 0"/>
          <p:cNvSpPr/>
          <p:nvPr/>
        </p:nvSpPr>
        <p:spPr>
          <a:xfrm>
            <a:off x="457200" y="411480"/>
            <a:ext cx="1371600" cy="457200"/>
          </a:xfrm>
          <a:prstGeom prst="roundRect">
            <a:avLst>
              <a:gd name="adj" fmla="val 20000"/>
            </a:avLst>
          </a:prstGeom>
          <a:solidFill>
            <a:srgbClr val="F15A22"/>
          </a:solidFill>
          <a:ln w="12700">
            <a:solidFill>
              <a:srgbClr val="F15A22"/>
            </a:solidFill>
            <a:prstDash val="solid"/>
          </a:ln>
        </p:spPr>
      </p:sp>
      <p:sp>
        <p:nvSpPr>
          <p:cNvPr id="3" name="Text 1"/>
          <p:cNvSpPr txBox="1"/>
          <p:nvPr/>
        </p:nvSpPr>
        <p:spPr>
          <a:xfrm>
            <a:off x="457200" y="411480"/>
            <a:ext cx="13716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TP 9</a:t>
            </a:r>
            <a:endParaRPr lang="en-US" sz="1600" dirty="0"/>
          </a:p>
        </p:txBody>
      </p:sp>
      <p:sp>
        <p:nvSpPr>
          <p:cNvPr id="4" name="Text 2"/>
          <p:cNvSpPr txBox="1"/>
          <p:nvPr/>
        </p:nvSpPr>
        <p:spPr>
          <a:xfrm>
            <a:off x="2011680" y="365760"/>
            <a:ext cx="667512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Sauvegarde, restauration, longue durée, sécurité</a:t>
            </a:r>
            <a:endParaRPr lang="en-US" sz="2400" dirty="0"/>
          </a:p>
        </p:txBody>
      </p:sp>
      <p:sp>
        <p:nvSpPr>
          <p:cNvPr id="5" name="Text 3"/>
          <p:cNvSpPr txBox="1"/>
          <p:nvPr/>
        </p:nvSpPr>
        <p:spPr>
          <a:xfrm>
            <a:off x="457200" y="1097280"/>
            <a:ext cx="1828800" cy="274320"/>
          </a:xfrm>
          <a:prstGeom prst="rect">
            <a:avLst/>
          </a:prstGeom>
          <a:noFill/>
          <a:ln/>
        </p:spPr>
        <p:txBody>
          <a:bodyPr wrap="square" lIns="0" tIns="0" rIns="0" bIns="0" rtlCol="0" anchor="ctr"/>
          <a:lstStyle/>
          <a:p>
            <a:pPr indent="0" marL="0">
              <a:buNone/>
            </a:pPr>
            <a:r>
              <a:rPr lang="en-US" sz="1200" b="1" spc="300" kern="0" dirty="0">
                <a:solidFill>
                  <a:srgbClr val="FFB48F"/>
                </a:solidFill>
                <a:latin typeface="Calibri" pitchFamily="34" charset="0"/>
                <a:ea typeface="Calibri" pitchFamily="34" charset="-122"/>
                <a:cs typeface="Calibri" pitchFamily="34" charset="-120"/>
              </a:rPr>
              <a:t>Mission</a:t>
            </a:r>
            <a:endParaRPr lang="en-US" sz="1200" dirty="0"/>
          </a:p>
        </p:txBody>
      </p:sp>
      <p:sp>
        <p:nvSpPr>
          <p:cNvPr id="6" name="Text 4"/>
          <p:cNvSpPr txBox="1"/>
          <p:nvPr/>
        </p:nvSpPr>
        <p:spPr>
          <a:xfrm>
            <a:off x="457200" y="1371600"/>
            <a:ext cx="8229600" cy="868680"/>
          </a:xfrm>
          <a:prstGeom prst="rect">
            <a:avLst/>
          </a:prstGeom>
          <a:noFill/>
          <a:ln/>
        </p:spPr>
        <p:txBody>
          <a:bodyPr wrap="square" lIns="0" tIns="0" rIns="0" bIns="0" rtlCol="0" anchor="t"/>
          <a:lstStyle/>
          <a:p>
            <a:pPr indent="0" marL="0">
              <a:buNone/>
            </a:pPr>
            <a:r>
              <a:rPr lang="en-US" sz="1500" dirty="0">
                <a:solidFill>
                  <a:srgbClr val="DBE6F3"/>
                </a:solidFill>
                <a:latin typeface="Calibri" pitchFamily="34" charset="0"/>
                <a:ea typeface="Calibri" pitchFamily="34" charset="-122"/>
                <a:cs typeface="Calibri" pitchFamily="34" charset="-120"/>
              </a:rPr>
              <a:t>L'audit demande : si le serveur de monitoring brûle, en combien de temps le remettez-vous ? Avez-vous 13 mois d'historique ? Qui peut lire vos métriques ?</a:t>
            </a:r>
            <a:endParaRPr lang="en-US" sz="1500" dirty="0"/>
          </a:p>
        </p:txBody>
      </p:sp>
      <p:sp>
        <p:nvSpPr>
          <p:cNvPr id="7" name="Shape 5"/>
          <p:cNvSpPr/>
          <p:nvPr/>
        </p:nvSpPr>
        <p:spPr>
          <a:xfrm>
            <a:off x="457200" y="2377440"/>
            <a:ext cx="1920240" cy="2194560"/>
          </a:xfrm>
          <a:prstGeom prst="roundRect">
            <a:avLst>
              <a:gd name="adj" fmla="val 3810"/>
            </a:avLst>
          </a:prstGeom>
          <a:solidFill>
            <a:srgbClr val="163D6B"/>
          </a:solidFill>
          <a:ln w="12700">
            <a:solidFill>
              <a:srgbClr val="163D6B"/>
            </a:solidFill>
            <a:prstDash val="solid"/>
          </a:ln>
        </p:spPr>
      </p:sp>
      <p:sp>
        <p:nvSpPr>
          <p:cNvPr id="8" name="Shape 6"/>
          <p:cNvSpPr/>
          <p:nvPr/>
        </p:nvSpPr>
        <p:spPr>
          <a:xfrm>
            <a:off x="640080" y="2560320"/>
            <a:ext cx="347472" cy="347472"/>
          </a:xfrm>
          <a:prstGeom prst="ellipse">
            <a:avLst/>
          </a:prstGeom>
          <a:solidFill>
            <a:srgbClr val="F15A22"/>
          </a:solidFill>
          <a:ln w="12700">
            <a:solidFill>
              <a:srgbClr val="F15A22"/>
            </a:solidFill>
            <a:prstDash val="solid"/>
          </a:ln>
        </p:spPr>
      </p:sp>
      <p:sp>
        <p:nvSpPr>
          <p:cNvPr id="9" name="Text 7"/>
          <p:cNvSpPr txBox="1"/>
          <p:nvPr/>
        </p:nvSpPr>
        <p:spPr>
          <a:xfrm>
            <a:off x="64008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078992" y="2542032"/>
            <a:ext cx="114300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Snapshot</a:t>
            </a:r>
            <a:endParaRPr lang="en-US" sz="1350" dirty="0"/>
          </a:p>
        </p:txBody>
      </p:sp>
      <p:sp>
        <p:nvSpPr>
          <p:cNvPr id="11" name="Text 9"/>
          <p:cNvSpPr txBox="1"/>
          <p:nvPr/>
        </p:nvSpPr>
        <p:spPr>
          <a:xfrm>
            <a:off x="640080" y="3017520"/>
            <a:ext cx="155448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POST /api/v1/admin/tsdb/snapshot, catastrophe simulée, restauration, qu'a-t-on perdu ?</a:t>
            </a:r>
            <a:endParaRPr lang="en-US" sz="1150" dirty="0"/>
          </a:p>
        </p:txBody>
      </p:sp>
      <p:sp>
        <p:nvSpPr>
          <p:cNvPr id="12" name="Shape 10"/>
          <p:cNvSpPr/>
          <p:nvPr/>
        </p:nvSpPr>
        <p:spPr>
          <a:xfrm>
            <a:off x="2560320" y="2377440"/>
            <a:ext cx="1920240" cy="2194560"/>
          </a:xfrm>
          <a:prstGeom prst="roundRect">
            <a:avLst>
              <a:gd name="adj" fmla="val 3810"/>
            </a:avLst>
          </a:prstGeom>
          <a:solidFill>
            <a:srgbClr val="163D6B"/>
          </a:solidFill>
          <a:ln w="12700">
            <a:solidFill>
              <a:srgbClr val="163D6B"/>
            </a:solidFill>
            <a:prstDash val="solid"/>
          </a:ln>
        </p:spPr>
      </p:sp>
      <p:sp>
        <p:nvSpPr>
          <p:cNvPr id="13" name="Shape 11"/>
          <p:cNvSpPr/>
          <p:nvPr/>
        </p:nvSpPr>
        <p:spPr>
          <a:xfrm>
            <a:off x="2743200" y="2560320"/>
            <a:ext cx="347472" cy="347472"/>
          </a:xfrm>
          <a:prstGeom prst="ellipse">
            <a:avLst/>
          </a:prstGeom>
          <a:solidFill>
            <a:srgbClr val="F15A22"/>
          </a:solidFill>
          <a:ln w="12700">
            <a:solidFill>
              <a:srgbClr val="F15A22"/>
            </a:solidFill>
            <a:prstDash val="solid"/>
          </a:ln>
        </p:spPr>
      </p:sp>
      <p:sp>
        <p:nvSpPr>
          <p:cNvPr id="14" name="Text 12"/>
          <p:cNvSpPr txBox="1"/>
          <p:nvPr/>
        </p:nvSpPr>
        <p:spPr>
          <a:xfrm>
            <a:off x="274320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3182112" y="2542032"/>
            <a:ext cx="114300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Grafana</a:t>
            </a:r>
            <a:endParaRPr lang="en-US" sz="1350" dirty="0"/>
          </a:p>
        </p:txBody>
      </p:sp>
      <p:sp>
        <p:nvSpPr>
          <p:cNvPr id="16" name="Text 14"/>
          <p:cNvSpPr txBox="1"/>
          <p:nvPr/>
        </p:nvSpPr>
        <p:spPr>
          <a:xfrm>
            <a:off x="2743200" y="3017520"/>
            <a:ext cx="155448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grafana.db, export de tous les dashboards par l'API. Ce qui n'y est pas. La vraie réponse : Git.</a:t>
            </a:r>
            <a:endParaRPr lang="en-US" sz="1150" dirty="0"/>
          </a:p>
        </p:txBody>
      </p:sp>
      <p:sp>
        <p:nvSpPr>
          <p:cNvPr id="17" name="Shape 15"/>
          <p:cNvSpPr/>
          <p:nvPr/>
        </p:nvSpPr>
        <p:spPr>
          <a:xfrm>
            <a:off x="4663440" y="2377440"/>
            <a:ext cx="1920240" cy="2194560"/>
          </a:xfrm>
          <a:prstGeom prst="roundRect">
            <a:avLst>
              <a:gd name="adj" fmla="val 3810"/>
            </a:avLst>
          </a:prstGeom>
          <a:solidFill>
            <a:srgbClr val="163D6B"/>
          </a:solidFill>
          <a:ln w="12700">
            <a:solidFill>
              <a:srgbClr val="163D6B"/>
            </a:solidFill>
            <a:prstDash val="solid"/>
          </a:ln>
        </p:spPr>
      </p:sp>
      <p:sp>
        <p:nvSpPr>
          <p:cNvPr id="18" name="Shape 16"/>
          <p:cNvSpPr/>
          <p:nvPr/>
        </p:nvSpPr>
        <p:spPr>
          <a:xfrm>
            <a:off x="4846320" y="2560320"/>
            <a:ext cx="347472" cy="347472"/>
          </a:xfrm>
          <a:prstGeom prst="ellipse">
            <a:avLst/>
          </a:prstGeom>
          <a:solidFill>
            <a:srgbClr val="F15A22"/>
          </a:solidFill>
          <a:ln w="12700">
            <a:solidFill>
              <a:srgbClr val="F15A22"/>
            </a:solidFill>
            <a:prstDash val="solid"/>
          </a:ln>
        </p:spPr>
      </p:sp>
      <p:sp>
        <p:nvSpPr>
          <p:cNvPr id="19" name="Text 17"/>
          <p:cNvSpPr txBox="1"/>
          <p:nvPr/>
        </p:nvSpPr>
        <p:spPr>
          <a:xfrm>
            <a:off x="484632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5285232" y="2542032"/>
            <a:ext cx="114300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Remote write</a:t>
            </a:r>
            <a:endParaRPr lang="en-US" sz="1350" dirty="0"/>
          </a:p>
        </p:txBody>
      </p:sp>
      <p:sp>
        <p:nvSpPr>
          <p:cNvPr id="21" name="Text 19"/>
          <p:cNvSpPr txBox="1"/>
          <p:nvPr/>
        </p:nvSpPr>
        <p:spPr>
          <a:xfrm>
            <a:off x="4846320" y="3017520"/>
            <a:ext cx="155448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./lab.sh longterm, write_relabel_configs keep shop_* et recording rules, retard de la file.</a:t>
            </a:r>
            <a:endParaRPr lang="en-US" sz="1150" dirty="0"/>
          </a:p>
        </p:txBody>
      </p:sp>
      <p:sp>
        <p:nvSpPr>
          <p:cNvPr id="22" name="Shape 20"/>
          <p:cNvSpPr/>
          <p:nvPr/>
        </p:nvSpPr>
        <p:spPr>
          <a:xfrm>
            <a:off x="6766560" y="2377440"/>
            <a:ext cx="1920240" cy="2194560"/>
          </a:xfrm>
          <a:prstGeom prst="roundRect">
            <a:avLst>
              <a:gd name="adj" fmla="val 3810"/>
            </a:avLst>
          </a:prstGeom>
          <a:solidFill>
            <a:srgbClr val="163D6B"/>
          </a:solidFill>
          <a:ln w="12700">
            <a:solidFill>
              <a:srgbClr val="163D6B"/>
            </a:solidFill>
            <a:prstDash val="solid"/>
          </a:ln>
        </p:spPr>
      </p:sp>
      <p:sp>
        <p:nvSpPr>
          <p:cNvPr id="23" name="Shape 21"/>
          <p:cNvSpPr/>
          <p:nvPr/>
        </p:nvSpPr>
        <p:spPr>
          <a:xfrm>
            <a:off x="6949440" y="2560320"/>
            <a:ext cx="347472" cy="347472"/>
          </a:xfrm>
          <a:prstGeom prst="ellipse">
            <a:avLst/>
          </a:prstGeom>
          <a:solidFill>
            <a:srgbClr val="F15A22"/>
          </a:solidFill>
          <a:ln w="12700">
            <a:solidFill>
              <a:srgbClr val="F15A22"/>
            </a:solidFill>
            <a:prstDash val="solid"/>
          </a:ln>
        </p:spPr>
      </p:sp>
      <p:sp>
        <p:nvSpPr>
          <p:cNvPr id="24" name="Text 22"/>
          <p:cNvSpPr txBox="1"/>
          <p:nvPr/>
        </p:nvSpPr>
        <p:spPr>
          <a:xfrm>
            <a:off x="694944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7388352" y="2542032"/>
            <a:ext cx="114300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Basic auth</a:t>
            </a:r>
            <a:endParaRPr lang="en-US" sz="1350" dirty="0"/>
          </a:p>
        </p:txBody>
      </p:sp>
      <p:sp>
        <p:nvSpPr>
          <p:cNvPr id="26" name="Text 24"/>
          <p:cNvSpPr txBox="1"/>
          <p:nvPr/>
        </p:nvSpPr>
        <p:spPr>
          <a:xfrm>
            <a:off x="6949440" y="3017520"/>
            <a:ext cx="155448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Bonus : web.yml bcrypt, --web.config.file, qu'est-ce qui casse ? Réparer, puis retirer.</a:t>
            </a:r>
            <a:endParaRPr lang="en-US" sz="1150" dirty="0"/>
          </a:p>
        </p:txBody>
      </p:sp>
      <p:sp>
        <p:nvSpPr>
          <p:cNvPr id="27" name="Text 25"/>
          <p:cNvSpPr txBox="1"/>
          <p:nvPr/>
        </p:nvSpPr>
        <p:spPr>
          <a:xfrm>
            <a:off x="457200" y="4709160"/>
            <a:ext cx="8229600" cy="274320"/>
          </a:xfrm>
          <a:prstGeom prst="rect">
            <a:avLst/>
          </a:prstGeom>
          <a:noFill/>
          <a:ln/>
        </p:spPr>
        <p:txBody>
          <a:bodyPr wrap="square" lIns="0" tIns="0" rIns="0" bIns="0" rtlCol="0" anchor="ctr"/>
          <a:lstStyle/>
          <a:p>
            <a:pPr indent="0" marL="0">
              <a:buNone/>
            </a:pPr>
            <a:r>
              <a:rPr lang="en-US" sz="1000" i="1" dirty="0">
                <a:solidFill>
                  <a:srgbClr val="8FA3BD"/>
                </a:solidFill>
                <a:latin typeface="Calibri" pitchFamily="34" charset="0"/>
                <a:ea typeface="Calibri" pitchFamily="34" charset="-122"/>
                <a:cs typeface="Calibri" pitchFamily="34" charset="-120"/>
              </a:rPr>
              <a:t>Énoncé complet dans le guide stagiaire · corrigé projeté après recherche</a:t>
            </a:r>
            <a:endParaRPr lang="en-US" sz="10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16</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Mise à l'échelle et écosystème</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Quand un Prometheus ne suffit plus, et où va tout ça.</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93</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Les options, dans l'ordre</a:t>
            </a:r>
            <a:endParaRPr lang="en-US" sz="2800" dirty="0"/>
          </a:p>
        </p:txBody>
      </p:sp>
      <p:sp>
        <p:nvSpPr>
          <p:cNvPr id="5" name="Text 3"/>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400" i="1" dirty="0">
                <a:solidFill>
                  <a:srgbClr val="5B6270"/>
                </a:solidFill>
                <a:latin typeface="Calibri" pitchFamily="34" charset="0"/>
                <a:ea typeface="Calibri" pitchFamily="34" charset="-122"/>
                <a:cs typeface="Calibri" pitchFamily="34" charset="-120"/>
              </a:rPr>
              <a:t>Réduire d'abord (cardinalité, drop, agrégation). Ensuite seulement, agrandir.</a:t>
            </a:r>
            <a:endParaRPr lang="en-US" sz="1400" dirty="0"/>
          </a:p>
        </p:txBody>
      </p:sp>
      <p:sp>
        <p:nvSpPr>
          <p:cNvPr id="6" name="Shape 4"/>
          <p:cNvSpPr/>
          <p:nvPr/>
        </p:nvSpPr>
        <p:spPr>
          <a:xfrm>
            <a:off x="457200" y="1554480"/>
            <a:ext cx="457200" cy="457200"/>
          </a:xfrm>
          <a:prstGeom prst="ellipse">
            <a:avLst/>
          </a:prstGeom>
          <a:solidFill>
            <a:srgbClr val="F15A22"/>
          </a:solidFill>
          <a:ln w="12700">
            <a:solidFill>
              <a:srgbClr val="F15A22"/>
            </a:solidFill>
            <a:prstDash val="solid"/>
          </a:ln>
        </p:spPr>
      </p:sp>
      <p:sp>
        <p:nvSpPr>
          <p:cNvPr id="7" name="Text 5"/>
          <p:cNvSpPr txBox="1"/>
          <p:nvPr/>
        </p:nvSpPr>
        <p:spPr>
          <a:xfrm>
            <a:off x="457200" y="15544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097280" y="1508760"/>
            <a:ext cx="2194560" cy="54864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Sharding fonctionnel</a:t>
            </a:r>
            <a:endParaRPr lang="en-US" sz="1500" dirty="0"/>
          </a:p>
        </p:txBody>
      </p:sp>
      <p:sp>
        <p:nvSpPr>
          <p:cNvPr id="9" name="Text 7"/>
          <p:cNvSpPr txBox="1"/>
          <p:nvPr/>
        </p:nvSpPr>
        <p:spPr>
          <a:xfrm>
            <a:off x="3383280" y="1508760"/>
            <a:ext cx="5303520" cy="64008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Un Prometheus par équipe, par cluster, par type. Simple, robuste, vues séparées.</a:t>
            </a:r>
            <a:endParaRPr lang="en-US" sz="1250" dirty="0"/>
          </a:p>
        </p:txBody>
      </p:sp>
      <p:sp>
        <p:nvSpPr>
          <p:cNvPr id="10" name="Shape 8"/>
          <p:cNvSpPr/>
          <p:nvPr/>
        </p:nvSpPr>
        <p:spPr>
          <a:xfrm>
            <a:off x="457200" y="2331720"/>
            <a:ext cx="457200" cy="457200"/>
          </a:xfrm>
          <a:prstGeom prst="ellipse">
            <a:avLst/>
          </a:prstGeom>
          <a:solidFill>
            <a:srgbClr val="F15A22"/>
          </a:solidFill>
          <a:ln w="12700">
            <a:solidFill>
              <a:srgbClr val="F15A22"/>
            </a:solidFill>
            <a:prstDash val="solid"/>
          </a:ln>
        </p:spPr>
      </p:sp>
      <p:sp>
        <p:nvSpPr>
          <p:cNvPr id="11" name="Text 9"/>
          <p:cNvSpPr txBox="1"/>
          <p:nvPr/>
        </p:nvSpPr>
        <p:spPr>
          <a:xfrm>
            <a:off x="457200" y="23317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1097280" y="2286000"/>
            <a:ext cx="2194560" cy="54864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Fédération</a:t>
            </a:r>
            <a:endParaRPr lang="en-US" sz="1500" dirty="0"/>
          </a:p>
        </p:txBody>
      </p:sp>
      <p:sp>
        <p:nvSpPr>
          <p:cNvPr id="13" name="Text 11"/>
          <p:cNvSpPr txBox="1"/>
          <p:nvPr/>
        </p:nvSpPr>
        <p:spPr>
          <a:xfrm>
            <a:off x="3383280" y="2286000"/>
            <a:ext cx="5303520" cy="64008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Un central scrape /federate des régionaux, sur des recording rules agrégées. Vue globale légère.</a:t>
            </a:r>
            <a:endParaRPr lang="en-US" sz="1250" dirty="0"/>
          </a:p>
        </p:txBody>
      </p:sp>
      <p:sp>
        <p:nvSpPr>
          <p:cNvPr id="14" name="Shape 12"/>
          <p:cNvSpPr/>
          <p:nvPr/>
        </p:nvSpPr>
        <p:spPr>
          <a:xfrm>
            <a:off x="457200" y="3108960"/>
            <a:ext cx="457200" cy="457200"/>
          </a:xfrm>
          <a:prstGeom prst="ellipse">
            <a:avLst/>
          </a:prstGeom>
          <a:solidFill>
            <a:srgbClr val="F15A22"/>
          </a:solidFill>
          <a:ln w="12700">
            <a:solidFill>
              <a:srgbClr val="F15A22"/>
            </a:solidFill>
            <a:prstDash val="solid"/>
          </a:ln>
        </p:spPr>
      </p:sp>
      <p:sp>
        <p:nvSpPr>
          <p:cNvPr id="15" name="Text 13"/>
          <p:cNvSpPr txBox="1"/>
          <p:nvPr/>
        </p:nvSpPr>
        <p:spPr>
          <a:xfrm>
            <a:off x="457200" y="31089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4"/>
          <p:cNvSpPr txBox="1"/>
          <p:nvPr/>
        </p:nvSpPr>
        <p:spPr>
          <a:xfrm>
            <a:off x="1097280" y="3063240"/>
            <a:ext cx="2194560" cy="54864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Remote write</a:t>
            </a:r>
            <a:endParaRPr lang="en-US" sz="1500" dirty="0"/>
          </a:p>
        </p:txBody>
      </p:sp>
      <p:sp>
        <p:nvSpPr>
          <p:cNvPr id="17" name="Text 15"/>
          <p:cNvSpPr txBox="1"/>
          <p:nvPr/>
        </p:nvSpPr>
        <p:spPr>
          <a:xfrm>
            <a:off x="3383280" y="3063240"/>
            <a:ext cx="5303520" cy="64008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Mimir (le moteur de Grafana Cloud), Thanos (sidecar + stockage objet), VictoriaMetrics (économe). API compatible : Grafana ne voit pas la différence.</a:t>
            </a:r>
            <a:endParaRPr lang="en-US" sz="1250" dirty="0"/>
          </a:p>
        </p:txBody>
      </p:sp>
      <p:sp>
        <p:nvSpPr>
          <p:cNvPr id="18" name="Shape 16"/>
          <p:cNvSpPr/>
          <p:nvPr/>
        </p:nvSpPr>
        <p:spPr>
          <a:xfrm>
            <a:off x="457200" y="3886200"/>
            <a:ext cx="457200" cy="457200"/>
          </a:xfrm>
          <a:prstGeom prst="ellipse">
            <a:avLst/>
          </a:prstGeom>
          <a:solidFill>
            <a:srgbClr val="F15A22"/>
          </a:solidFill>
          <a:ln w="12700">
            <a:solidFill>
              <a:srgbClr val="F15A22"/>
            </a:solidFill>
            <a:prstDash val="solid"/>
          </a:ln>
        </p:spPr>
      </p:sp>
      <p:sp>
        <p:nvSpPr>
          <p:cNvPr id="19" name="Text 17"/>
          <p:cNvSpPr txBox="1"/>
          <p:nvPr/>
        </p:nvSpPr>
        <p:spPr>
          <a:xfrm>
            <a:off x="457200" y="3886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8"/>
          <p:cNvSpPr txBox="1"/>
          <p:nvPr/>
        </p:nvSpPr>
        <p:spPr>
          <a:xfrm>
            <a:off x="1097280" y="3840480"/>
            <a:ext cx="2194560" cy="54864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Managé</a:t>
            </a:r>
            <a:endParaRPr lang="en-US" sz="1500" dirty="0"/>
          </a:p>
        </p:txBody>
      </p:sp>
      <p:sp>
        <p:nvSpPr>
          <p:cNvPr id="21" name="Text 19"/>
          <p:cNvSpPr txBox="1"/>
          <p:nvPr/>
        </p:nvSpPr>
        <p:spPr>
          <a:xfrm>
            <a:off x="3383280" y="3840480"/>
            <a:ext cx="5303520" cy="64008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Grafana Cloud, Amazon, Google, Azure Monitor managed Prometheus.</a:t>
            </a:r>
            <a:endParaRPr lang="en-US" sz="125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94</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Et autour</a:t>
            </a:r>
            <a:endParaRPr lang="en-US" sz="2800" dirty="0"/>
          </a:p>
        </p:txBody>
      </p:sp>
      <p:sp>
        <p:nvSpPr>
          <p:cNvPr id="5" name="Shape 3"/>
          <p:cNvSpPr/>
          <p:nvPr/>
        </p:nvSpPr>
        <p:spPr>
          <a:xfrm>
            <a:off x="457200" y="1234440"/>
            <a:ext cx="2590800" cy="2468880"/>
          </a:xfrm>
          <a:prstGeom prst="roundRect">
            <a:avLst>
              <a:gd name="adj" fmla="val 2963"/>
            </a:avLst>
          </a:prstGeom>
          <a:solidFill>
            <a:srgbClr val="F4F5F7"/>
          </a:solidFill>
          <a:ln w="12700">
            <a:solidFill>
              <a:srgbClr val="F4F5F7"/>
            </a:solidFill>
            <a:prstDash val="solid"/>
          </a:ln>
        </p:spPr>
      </p:sp>
      <p:sp>
        <p:nvSpPr>
          <p:cNvPr id="6" name="Text 4"/>
          <p:cNvSpPr txBox="1"/>
          <p:nvPr/>
        </p:nvSpPr>
        <p:spPr>
          <a:xfrm>
            <a:off x="6400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OpenTelemetry</a:t>
            </a:r>
            <a:endParaRPr lang="en-US" sz="1600" dirty="0"/>
          </a:p>
        </p:txBody>
      </p:sp>
      <p:sp>
        <p:nvSpPr>
          <p:cNvPr id="7" name="Text 5"/>
          <p:cNvSpPr txBox="1"/>
          <p:nvPr/>
        </p:nvSpPr>
        <p:spPr>
          <a:xfrm>
            <a:off x="6400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Le standard d'instrumentation des trois signaux. Prometheus 3 reçoit l'OTLP nativement, noms avec points et UTF-8. Collector / Alloy pour scraper, recevoir, envoyer.</a:t>
            </a:r>
            <a:endParaRPr lang="en-US" sz="1300" dirty="0"/>
          </a:p>
        </p:txBody>
      </p:sp>
      <p:sp>
        <p:nvSpPr>
          <p:cNvPr id="8" name="Shape 6"/>
          <p:cNvSpPr/>
          <p:nvPr/>
        </p:nvSpPr>
        <p:spPr>
          <a:xfrm>
            <a:off x="3276600" y="1234440"/>
            <a:ext cx="2590800" cy="2468880"/>
          </a:xfrm>
          <a:prstGeom prst="roundRect">
            <a:avLst>
              <a:gd name="adj" fmla="val 2963"/>
            </a:avLst>
          </a:prstGeom>
          <a:solidFill>
            <a:srgbClr val="F4F5F7"/>
          </a:solidFill>
          <a:ln w="12700">
            <a:solidFill>
              <a:srgbClr val="F4F5F7"/>
            </a:solidFill>
            <a:prstDash val="solid"/>
          </a:ln>
        </p:spPr>
      </p:sp>
      <p:sp>
        <p:nvSpPr>
          <p:cNvPr id="9" name="Text 7"/>
          <p:cNvSpPr txBox="1"/>
          <p:nvPr/>
        </p:nvSpPr>
        <p:spPr>
          <a:xfrm>
            <a:off x="34594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Loki et Tempo</a:t>
            </a:r>
            <a:endParaRPr lang="en-US" sz="1600" dirty="0"/>
          </a:p>
        </p:txBody>
      </p:sp>
      <p:sp>
        <p:nvSpPr>
          <p:cNvPr id="10" name="Text 8"/>
          <p:cNvSpPr txBox="1"/>
          <p:nvPr/>
        </p:nvSpPr>
        <p:spPr>
          <a:xfrm>
            <a:off x="34594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Les mêmes idées pour les logs et les traces. Grafana les corrèle : d'un pic de latence aux traces (exemplars) aux logs, en trois clics.</a:t>
            </a:r>
            <a:endParaRPr lang="en-US" sz="1300" dirty="0"/>
          </a:p>
        </p:txBody>
      </p:sp>
      <p:sp>
        <p:nvSpPr>
          <p:cNvPr id="11" name="Shape 9"/>
          <p:cNvSpPr/>
          <p:nvPr/>
        </p:nvSpPr>
        <p:spPr>
          <a:xfrm>
            <a:off x="6096000" y="1234440"/>
            <a:ext cx="2590800" cy="2468880"/>
          </a:xfrm>
          <a:prstGeom prst="roundRect">
            <a:avLst>
              <a:gd name="adj" fmla="val 2963"/>
            </a:avLst>
          </a:prstGeom>
          <a:solidFill>
            <a:srgbClr val="F4F5F7"/>
          </a:solidFill>
          <a:ln w="12700">
            <a:solidFill>
              <a:srgbClr val="F4F5F7"/>
            </a:solidFill>
            <a:prstDash val="solid"/>
          </a:ln>
        </p:spPr>
      </p:sp>
      <p:sp>
        <p:nvSpPr>
          <p:cNvPr id="12" name="Text 10"/>
          <p:cNvSpPr txBox="1"/>
          <p:nvPr/>
        </p:nvSpPr>
        <p:spPr>
          <a:xfrm>
            <a:off x="62788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Kubernetes</a:t>
            </a:r>
            <a:endParaRPr lang="en-US" sz="1600" dirty="0"/>
          </a:p>
        </p:txBody>
      </p:sp>
      <p:sp>
        <p:nvSpPr>
          <p:cNvPr id="13" name="Text 11"/>
          <p:cNvSpPr txBox="1"/>
          <p:nvPr/>
        </p:nvSpPr>
        <p:spPr>
          <a:xfrm>
            <a:off x="62788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kube-prometheus-stack : opérateur, ServiceMonitor, PrometheusRule, kube-state-metrics, dashboards. Un helm install, et tout ce qu'on a vu s'applique.</a:t>
            </a:r>
            <a:endParaRPr lang="en-US" sz="13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0F2A4A"/>
        </a:solidFill>
      </p:bgPr>
    </p:bg>
    <p:spTree>
      <p:nvGrpSpPr>
        <p:cNvPr id="1" name=""/>
        <p:cNvGrpSpPr/>
        <p:nvPr/>
      </p:nvGrpSpPr>
      <p:grpSpPr>
        <a:xfrm>
          <a:off x="0" y="0"/>
          <a:ext cx="0" cy="0"/>
          <a:chOff x="0" y="0"/>
          <a:chExt cx="0" cy="0"/>
        </a:xfrm>
      </p:grpSpPr>
      <p:sp>
        <p:nvSpPr>
          <p:cNvPr id="2" name="Shape 0"/>
          <p:cNvSpPr/>
          <p:nvPr/>
        </p:nvSpPr>
        <p:spPr>
          <a:xfrm>
            <a:off x="457200" y="411480"/>
            <a:ext cx="1371600" cy="457200"/>
          </a:xfrm>
          <a:prstGeom prst="roundRect">
            <a:avLst>
              <a:gd name="adj" fmla="val 20000"/>
            </a:avLst>
          </a:prstGeom>
          <a:solidFill>
            <a:srgbClr val="F15A22"/>
          </a:solidFill>
          <a:ln w="12700">
            <a:solidFill>
              <a:srgbClr val="F15A22"/>
            </a:solidFill>
            <a:prstDash val="solid"/>
          </a:ln>
        </p:spPr>
      </p:sp>
      <p:sp>
        <p:nvSpPr>
          <p:cNvPr id="3" name="Text 1"/>
          <p:cNvSpPr txBox="1"/>
          <p:nvPr/>
        </p:nvSpPr>
        <p:spPr>
          <a:xfrm>
            <a:off x="457200" y="411480"/>
            <a:ext cx="13716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WAR GAME</a:t>
            </a:r>
            <a:endParaRPr lang="en-US" sz="1600" dirty="0"/>
          </a:p>
        </p:txBody>
      </p:sp>
      <p:sp>
        <p:nvSpPr>
          <p:cNvPr id="4" name="Text 2"/>
          <p:cNvSpPr txBox="1"/>
          <p:nvPr/>
        </p:nvSpPr>
        <p:spPr>
          <a:xfrm>
            <a:off x="2011680" y="365760"/>
            <a:ext cx="667512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Diagnostiquer en moins de cinq minutes</a:t>
            </a:r>
            <a:endParaRPr lang="en-US" sz="2400" dirty="0"/>
          </a:p>
        </p:txBody>
      </p:sp>
      <p:sp>
        <p:nvSpPr>
          <p:cNvPr id="5" name="Text 3"/>
          <p:cNvSpPr txBox="1"/>
          <p:nvPr/>
        </p:nvSpPr>
        <p:spPr>
          <a:xfrm>
            <a:off x="457200" y="1097280"/>
            <a:ext cx="1828800" cy="274320"/>
          </a:xfrm>
          <a:prstGeom prst="rect">
            <a:avLst/>
          </a:prstGeom>
          <a:noFill/>
          <a:ln/>
        </p:spPr>
        <p:txBody>
          <a:bodyPr wrap="square" lIns="0" tIns="0" rIns="0" bIns="0" rtlCol="0" anchor="ctr"/>
          <a:lstStyle/>
          <a:p>
            <a:pPr indent="0" marL="0">
              <a:buNone/>
            </a:pPr>
            <a:r>
              <a:rPr lang="en-US" sz="1200" b="1" spc="300" kern="0" dirty="0">
                <a:solidFill>
                  <a:srgbClr val="FFB48F"/>
                </a:solidFill>
                <a:latin typeface="Calibri" pitchFamily="34" charset="0"/>
                <a:ea typeface="Calibri" pitchFamily="34" charset="-122"/>
                <a:cs typeface="Calibri" pitchFamily="34" charset="-120"/>
              </a:rPr>
              <a:t>Mission</a:t>
            </a:r>
            <a:endParaRPr lang="en-US" sz="1200" dirty="0"/>
          </a:p>
        </p:txBody>
      </p:sp>
      <p:sp>
        <p:nvSpPr>
          <p:cNvPr id="6" name="Text 4"/>
          <p:cNvSpPr txBox="1"/>
          <p:nvPr/>
        </p:nvSpPr>
        <p:spPr>
          <a:xfrm>
            <a:off x="457200" y="1371600"/>
            <a:ext cx="8229600" cy="868680"/>
          </a:xfrm>
          <a:prstGeom prst="rect">
            <a:avLst/>
          </a:prstGeom>
          <a:noFill/>
          <a:ln/>
        </p:spPr>
        <p:txBody>
          <a:bodyPr wrap="square" lIns="0" tIns="0" rIns="0" bIns="0" rtlCol="0" anchor="t"/>
          <a:lstStyle/>
          <a:p>
            <a:pPr indent="0" marL="0">
              <a:buNone/>
            </a:pPr>
            <a:r>
              <a:rPr lang="en-US" sz="1500" dirty="0">
                <a:solidFill>
                  <a:srgbClr val="DBE6F3"/>
                </a:solidFill>
                <a:latin typeface="Calibri" pitchFamily="34" charset="0"/>
                <a:ea typeface="Calibri" pitchFamily="34" charset="-122"/>
                <a:cs typeface="Calibri" pitchFamily="34" charset="-120"/>
              </a:rPr>
              <a:t>Vous ne touchez plus à la configuration. Je casse la boutique d'une façon que vous ne connaissez pas, sur une seule instance. Vous avez Grafana, Prometheus, Alertmanager et l'Inbox.</a:t>
            </a:r>
            <a:endParaRPr lang="en-US" sz="1500" dirty="0"/>
          </a:p>
        </p:txBody>
      </p:sp>
      <p:sp>
        <p:nvSpPr>
          <p:cNvPr id="7" name="Shape 5"/>
          <p:cNvSpPr/>
          <p:nvPr/>
        </p:nvSpPr>
        <p:spPr>
          <a:xfrm>
            <a:off x="457200" y="2377440"/>
            <a:ext cx="1499616" cy="2194560"/>
          </a:xfrm>
          <a:prstGeom prst="roundRect">
            <a:avLst>
              <a:gd name="adj" fmla="val 4878"/>
            </a:avLst>
          </a:prstGeom>
          <a:solidFill>
            <a:srgbClr val="163D6B"/>
          </a:solidFill>
          <a:ln w="12700">
            <a:solidFill>
              <a:srgbClr val="163D6B"/>
            </a:solidFill>
            <a:prstDash val="solid"/>
          </a:ln>
        </p:spPr>
      </p:sp>
      <p:sp>
        <p:nvSpPr>
          <p:cNvPr id="8" name="Shape 6"/>
          <p:cNvSpPr/>
          <p:nvPr/>
        </p:nvSpPr>
        <p:spPr>
          <a:xfrm>
            <a:off x="640080" y="2560320"/>
            <a:ext cx="347472" cy="347472"/>
          </a:xfrm>
          <a:prstGeom prst="ellipse">
            <a:avLst/>
          </a:prstGeom>
          <a:solidFill>
            <a:srgbClr val="F15A22"/>
          </a:solidFill>
          <a:ln w="12700">
            <a:solidFill>
              <a:srgbClr val="F15A22"/>
            </a:solidFill>
            <a:prstDash val="solid"/>
          </a:ln>
        </p:spPr>
      </p:sp>
      <p:sp>
        <p:nvSpPr>
          <p:cNvPr id="9" name="Text 7"/>
          <p:cNvSpPr txBox="1"/>
          <p:nvPr/>
        </p:nvSpPr>
        <p:spPr>
          <a:xfrm>
            <a:off x="64008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078992"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Quoi ?</a:t>
            </a:r>
            <a:endParaRPr lang="en-US" sz="1150" dirty="0"/>
          </a:p>
        </p:txBody>
      </p:sp>
      <p:sp>
        <p:nvSpPr>
          <p:cNvPr id="11" name="Text 9"/>
          <p:cNvSpPr txBox="1"/>
          <p:nvPr/>
        </p:nvSpPr>
        <p:spPr>
          <a:xfrm>
            <a:off x="640080"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Qu'est-ce qui est cassé, exactement ?</a:t>
            </a:r>
            <a:endParaRPr lang="en-US" sz="1050" dirty="0"/>
          </a:p>
        </p:txBody>
      </p:sp>
      <p:sp>
        <p:nvSpPr>
          <p:cNvPr id="12" name="Shape 10"/>
          <p:cNvSpPr/>
          <p:nvPr/>
        </p:nvSpPr>
        <p:spPr>
          <a:xfrm>
            <a:off x="2139696" y="2377440"/>
            <a:ext cx="1499616" cy="2194560"/>
          </a:xfrm>
          <a:prstGeom prst="roundRect">
            <a:avLst>
              <a:gd name="adj" fmla="val 4878"/>
            </a:avLst>
          </a:prstGeom>
          <a:solidFill>
            <a:srgbClr val="163D6B"/>
          </a:solidFill>
          <a:ln w="12700">
            <a:solidFill>
              <a:srgbClr val="163D6B"/>
            </a:solidFill>
            <a:prstDash val="solid"/>
          </a:ln>
        </p:spPr>
      </p:sp>
      <p:sp>
        <p:nvSpPr>
          <p:cNvPr id="13" name="Shape 11"/>
          <p:cNvSpPr/>
          <p:nvPr/>
        </p:nvSpPr>
        <p:spPr>
          <a:xfrm>
            <a:off x="2322576" y="2560320"/>
            <a:ext cx="347472" cy="347472"/>
          </a:xfrm>
          <a:prstGeom prst="ellipse">
            <a:avLst/>
          </a:prstGeom>
          <a:solidFill>
            <a:srgbClr val="F15A22"/>
          </a:solidFill>
          <a:ln w="12700">
            <a:solidFill>
              <a:srgbClr val="F15A22"/>
            </a:solidFill>
            <a:prstDash val="solid"/>
          </a:ln>
        </p:spPr>
      </p:sp>
      <p:sp>
        <p:nvSpPr>
          <p:cNvPr id="14" name="Text 12"/>
          <p:cNvSpPr txBox="1"/>
          <p:nvPr/>
        </p:nvSpPr>
        <p:spPr>
          <a:xfrm>
            <a:off x="2322576"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2761488"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Où ?</a:t>
            </a:r>
            <a:endParaRPr lang="en-US" sz="1150" dirty="0"/>
          </a:p>
        </p:txBody>
      </p:sp>
      <p:sp>
        <p:nvSpPr>
          <p:cNvPr id="16" name="Text 14"/>
          <p:cNvSpPr txBox="1"/>
          <p:nvPr/>
        </p:nvSpPr>
        <p:spPr>
          <a:xfrm>
            <a:off x="2322576"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Sur quelle instance, quelle route, quelle dépendance ?</a:t>
            </a:r>
            <a:endParaRPr lang="en-US" sz="1050" dirty="0"/>
          </a:p>
        </p:txBody>
      </p:sp>
      <p:sp>
        <p:nvSpPr>
          <p:cNvPr id="17" name="Shape 15"/>
          <p:cNvSpPr/>
          <p:nvPr/>
        </p:nvSpPr>
        <p:spPr>
          <a:xfrm>
            <a:off x="3822192" y="2377440"/>
            <a:ext cx="1499616" cy="2194560"/>
          </a:xfrm>
          <a:prstGeom prst="roundRect">
            <a:avLst>
              <a:gd name="adj" fmla="val 4878"/>
            </a:avLst>
          </a:prstGeom>
          <a:solidFill>
            <a:srgbClr val="163D6B"/>
          </a:solidFill>
          <a:ln w="12700">
            <a:solidFill>
              <a:srgbClr val="163D6B"/>
            </a:solidFill>
            <a:prstDash val="solid"/>
          </a:ln>
        </p:spPr>
      </p:sp>
      <p:sp>
        <p:nvSpPr>
          <p:cNvPr id="18" name="Shape 16"/>
          <p:cNvSpPr/>
          <p:nvPr/>
        </p:nvSpPr>
        <p:spPr>
          <a:xfrm>
            <a:off x="4005072" y="2560320"/>
            <a:ext cx="347472" cy="347472"/>
          </a:xfrm>
          <a:prstGeom prst="ellipse">
            <a:avLst/>
          </a:prstGeom>
          <a:solidFill>
            <a:srgbClr val="F15A22"/>
          </a:solidFill>
          <a:ln w="12700">
            <a:solidFill>
              <a:srgbClr val="F15A22"/>
            </a:solidFill>
            <a:prstDash val="solid"/>
          </a:ln>
        </p:spPr>
      </p:sp>
      <p:sp>
        <p:nvSpPr>
          <p:cNvPr id="19" name="Text 17"/>
          <p:cNvSpPr txBox="1"/>
          <p:nvPr/>
        </p:nvSpPr>
        <p:spPr>
          <a:xfrm>
            <a:off x="4005072"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4443984"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Depuis quand ?</a:t>
            </a:r>
            <a:endParaRPr lang="en-US" sz="1150" dirty="0"/>
          </a:p>
        </p:txBody>
      </p:sp>
      <p:sp>
        <p:nvSpPr>
          <p:cNvPr id="21" name="Text 19"/>
          <p:cNvSpPr txBox="1"/>
          <p:nvPr/>
        </p:nvSpPr>
        <p:spPr>
          <a:xfrm>
            <a:off x="4005072"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L'heure de début, à la minute.</a:t>
            </a:r>
            <a:endParaRPr lang="en-US" sz="1050" dirty="0"/>
          </a:p>
        </p:txBody>
      </p:sp>
      <p:sp>
        <p:nvSpPr>
          <p:cNvPr id="22" name="Shape 20"/>
          <p:cNvSpPr/>
          <p:nvPr/>
        </p:nvSpPr>
        <p:spPr>
          <a:xfrm>
            <a:off x="5504688" y="2377440"/>
            <a:ext cx="1499616" cy="2194560"/>
          </a:xfrm>
          <a:prstGeom prst="roundRect">
            <a:avLst>
              <a:gd name="adj" fmla="val 4878"/>
            </a:avLst>
          </a:prstGeom>
          <a:solidFill>
            <a:srgbClr val="163D6B"/>
          </a:solidFill>
          <a:ln w="12700">
            <a:solidFill>
              <a:srgbClr val="163D6B"/>
            </a:solidFill>
            <a:prstDash val="solid"/>
          </a:ln>
        </p:spPr>
      </p:sp>
      <p:sp>
        <p:nvSpPr>
          <p:cNvPr id="23" name="Shape 21"/>
          <p:cNvSpPr/>
          <p:nvPr/>
        </p:nvSpPr>
        <p:spPr>
          <a:xfrm>
            <a:off x="5687568" y="2560320"/>
            <a:ext cx="347472" cy="347472"/>
          </a:xfrm>
          <a:prstGeom prst="ellipse">
            <a:avLst/>
          </a:prstGeom>
          <a:solidFill>
            <a:srgbClr val="F15A22"/>
          </a:solidFill>
          <a:ln w="12700">
            <a:solidFill>
              <a:srgbClr val="F15A22"/>
            </a:solidFill>
            <a:prstDash val="solid"/>
          </a:ln>
        </p:spPr>
      </p:sp>
      <p:sp>
        <p:nvSpPr>
          <p:cNvPr id="24" name="Text 22"/>
          <p:cNvSpPr txBox="1"/>
          <p:nvPr/>
        </p:nvSpPr>
        <p:spPr>
          <a:xfrm>
            <a:off x="5687568"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6126480"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Qui a sonné ?</a:t>
            </a:r>
            <a:endParaRPr lang="en-US" sz="1150" dirty="0"/>
          </a:p>
        </p:txBody>
      </p:sp>
      <p:sp>
        <p:nvSpPr>
          <p:cNvPr id="26" name="Text 24"/>
          <p:cNvSpPr txBox="1"/>
          <p:nvPr/>
        </p:nvSpPr>
        <p:spPr>
          <a:xfrm>
            <a:off x="5687568"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Quelle alerte a sonné, laquelle aurait dû ?</a:t>
            </a:r>
            <a:endParaRPr lang="en-US" sz="1050" dirty="0"/>
          </a:p>
        </p:txBody>
      </p:sp>
      <p:sp>
        <p:nvSpPr>
          <p:cNvPr id="27" name="Shape 25"/>
          <p:cNvSpPr/>
          <p:nvPr/>
        </p:nvSpPr>
        <p:spPr>
          <a:xfrm>
            <a:off x="7187184" y="2377440"/>
            <a:ext cx="1499616" cy="2194560"/>
          </a:xfrm>
          <a:prstGeom prst="roundRect">
            <a:avLst>
              <a:gd name="adj" fmla="val 4878"/>
            </a:avLst>
          </a:prstGeom>
          <a:solidFill>
            <a:srgbClr val="163D6B"/>
          </a:solidFill>
          <a:ln w="12700">
            <a:solidFill>
              <a:srgbClr val="163D6B"/>
            </a:solidFill>
            <a:prstDash val="solid"/>
          </a:ln>
        </p:spPr>
      </p:sp>
      <p:sp>
        <p:nvSpPr>
          <p:cNvPr id="28" name="Shape 26"/>
          <p:cNvSpPr/>
          <p:nvPr/>
        </p:nvSpPr>
        <p:spPr>
          <a:xfrm>
            <a:off x="7370064" y="2560320"/>
            <a:ext cx="347472" cy="347472"/>
          </a:xfrm>
          <a:prstGeom prst="ellipse">
            <a:avLst/>
          </a:prstGeom>
          <a:solidFill>
            <a:srgbClr val="F15A22"/>
          </a:solidFill>
          <a:ln w="12700">
            <a:solidFill>
              <a:srgbClr val="F15A22"/>
            </a:solidFill>
            <a:prstDash val="solid"/>
          </a:ln>
        </p:spPr>
      </p:sp>
      <p:sp>
        <p:nvSpPr>
          <p:cNvPr id="29" name="Text 27"/>
          <p:cNvSpPr txBox="1"/>
          <p:nvPr/>
        </p:nvSpPr>
        <p:spPr>
          <a:xfrm>
            <a:off x="7370064"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0" name="Text 28"/>
          <p:cNvSpPr txBox="1"/>
          <p:nvPr/>
        </p:nvSpPr>
        <p:spPr>
          <a:xfrm>
            <a:off x="7808976"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p>
        </p:txBody>
      </p:sp>
      <p:sp>
        <p:nvSpPr>
          <p:cNvPr id="31" name="Text 29"/>
          <p:cNvSpPr txBox="1"/>
          <p:nvPr/>
        </p:nvSpPr>
        <p:spPr>
          <a:xfrm>
            <a:off x="7370064"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La première action. Par écrit.</a:t>
            </a:r>
            <a:endParaRPr lang="en-US" sz="1050" dirty="0"/>
          </a:p>
        </p:txBody>
      </p:sp>
      <p:sp>
        <p:nvSpPr>
          <p:cNvPr id="32" name="Text 30"/>
          <p:cNvSpPr txBox="1"/>
          <p:nvPr/>
        </p:nvSpPr>
        <p:spPr>
          <a:xfrm>
            <a:off x="457200" y="4709160"/>
            <a:ext cx="8229600" cy="274320"/>
          </a:xfrm>
          <a:prstGeom prst="rect">
            <a:avLst/>
          </a:prstGeom>
          <a:noFill/>
          <a:ln/>
        </p:spPr>
        <p:txBody>
          <a:bodyPr wrap="square" lIns="0" tIns="0" rIns="0" bIns="0" rtlCol="0" anchor="ctr"/>
          <a:lstStyle/>
          <a:p>
            <a:pPr indent="0" marL="0">
              <a:buNone/>
            </a:pPr>
            <a:r>
              <a:rPr lang="en-US" sz="1000" i="1" dirty="0">
                <a:solidFill>
                  <a:srgbClr val="8FA3BD"/>
                </a:solidFill>
                <a:latin typeface="Calibri" pitchFamily="34" charset="0"/>
                <a:ea typeface="Calibri" pitchFamily="34" charset="-122"/>
                <a:cs typeface="Calibri" pitchFamily="34" charset="-120"/>
              </a:rPr>
              <a:t>Énoncé complet dans le guide stagiaire · corrigé projeté après recherche</a:t>
            </a:r>
            <a:endParaRPr lang="en-US" sz="10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822960"/>
            <a:ext cx="7863840" cy="64008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Lundi matin</a:t>
            </a:r>
            <a:endParaRPr lang="en-US" sz="3200" dirty="0"/>
          </a:p>
        </p:txBody>
      </p:sp>
      <p:sp>
        <p:nvSpPr>
          <p:cNvPr id="3" name="Text 1"/>
          <p:cNvSpPr txBox="1"/>
          <p:nvPr/>
        </p:nvSpPr>
        <p:spPr>
          <a:xfrm>
            <a:off x="640080" y="1554480"/>
            <a:ext cx="7863840" cy="1463040"/>
          </a:xfrm>
          <a:prstGeom prst="rect">
            <a:avLst/>
          </a:prstGeom>
          <a:noFill/>
          <a:ln/>
        </p:spPr>
        <p:txBody>
          <a:bodyPr wrap="square" lIns="0" tIns="0" rIns="0" bIns="0" rtlCol="0" anchor="ctr"/>
          <a:lstStyle/>
          <a:p>
            <a:pPr indent="0" marL="0">
              <a:buNone/>
            </a:pPr>
            <a:r>
              <a:rPr lang="en-US" sz="2000" dirty="0">
                <a:solidFill>
                  <a:srgbClr val="DBE6F3"/>
                </a:solidFill>
                <a:latin typeface="Calibri" pitchFamily="34" charset="0"/>
                <a:ea typeface="Calibri" pitchFamily="34" charset="-122"/>
                <a:cs typeface="Calibri" pitchFamily="34" charset="-120"/>
              </a:rPr>
              <a:t>Choisissez un service. Un seul.</a:t>
            </a:r>
            <a:endParaRPr lang="en-US" sz="2000" dirty="0"/>
          </a:p>
          <a:p>
            <a:pPr indent="0" marL="0">
              <a:buNone/>
            </a:pPr>
            <a:r>
              <a:rPr lang="en-US" sz="2000" dirty="0">
                <a:solidFill>
                  <a:srgbClr val="DBE6F3"/>
                </a:solidFill>
                <a:latin typeface="Calibri" pitchFamily="34" charset="0"/>
                <a:ea typeface="Calibri" pitchFamily="34" charset="-122"/>
                <a:cs typeface="Calibri" pitchFamily="34" charset="-120"/>
              </a:rPr>
              <a:t>Instrumentez-le en RED. Un dashboard. Deux alertes symptômes. Un runbook.</a:t>
            </a:r>
            <a:endParaRPr lang="en-US" sz="2000" dirty="0"/>
          </a:p>
          <a:p>
            <a:pPr indent="0" marL="0">
              <a:buNone/>
            </a:pPr>
            <a:r>
              <a:rPr lang="en-US" sz="2000" dirty="0">
                <a:solidFill>
                  <a:srgbClr val="DBE6F3"/>
                </a:solidFill>
                <a:latin typeface="Calibri" pitchFamily="34" charset="0"/>
                <a:ea typeface="Calibri" pitchFamily="34" charset="-122"/>
                <a:cs typeface="Calibri" pitchFamily="34" charset="-120"/>
              </a:rPr>
              <a:t>Pas plus. Le reste viendra.</a:t>
            </a:r>
            <a:endParaRPr lang="en-US" sz="2000" dirty="0"/>
          </a:p>
        </p:txBody>
      </p:sp>
      <p:sp>
        <p:nvSpPr>
          <p:cNvPr id="4" name="Text 2"/>
          <p:cNvSpPr txBox="1"/>
          <p:nvPr/>
        </p:nvSpPr>
        <p:spPr>
          <a:xfrm>
            <a:off x="640080" y="3200400"/>
            <a:ext cx="7863840" cy="822960"/>
          </a:xfrm>
          <a:prstGeom prst="rect">
            <a:avLst/>
          </a:prstGeom>
          <a:noFill/>
          <a:ln/>
        </p:spPr>
        <p:txBody>
          <a:bodyPr wrap="square" lIns="0" tIns="0" rIns="0" bIns="0" rtlCol="0" anchor="ctr"/>
          <a:lstStyle/>
          <a:p>
            <a:pPr indent="0" marL="0">
              <a:buNone/>
            </a:pPr>
            <a:r>
              <a:rPr lang="en-US" sz="1200" dirty="0">
                <a:solidFill>
                  <a:srgbClr val="FFB48F"/>
                </a:solidFill>
                <a:latin typeface="Calibri" pitchFamily="34" charset="0"/>
                <a:ea typeface="Calibri" pitchFamily="34" charset="-122"/>
                <a:cs typeface="Calibri" pitchFamily="34" charset="-120"/>
              </a:rPr>
              <a:t>Le dépôt : github.com/yparent/formation-observabilite-lab (branche formation-2026)</a:t>
            </a:r>
            <a:endParaRPr lang="en-US" sz="1200" dirty="0"/>
          </a:p>
          <a:p>
            <a:pPr indent="0" marL="0">
              <a:buNone/>
            </a:pPr>
            <a:r>
              <a:rPr lang="en-US" sz="1200" dirty="0">
                <a:solidFill>
                  <a:srgbClr val="FFB48F"/>
                </a:solidFill>
                <a:latin typeface="Calibri" pitchFamily="34" charset="0"/>
                <a:ea typeface="Calibri" pitchFamily="34" charset="-122"/>
                <a:cs typeface="Calibri" pitchFamily="34" charset="-120"/>
              </a:rPr>
              <a:t>prometheus.io/docs · grafana.com/docs · samber.github.io/awesome-prometheus-alerts · grafana.com/grafana/dashboards</a:t>
            </a:r>
            <a:endParaRPr lang="en-US" sz="1200" dirty="0"/>
          </a:p>
        </p:txBody>
      </p:sp>
      <p:sp>
        <p:nvSpPr>
          <p:cNvPr id="5" name="Text 3"/>
          <p:cNvSpPr txBox="1"/>
          <p:nvPr/>
        </p:nvSpPr>
        <p:spPr>
          <a:xfrm>
            <a:off x="640080" y="4114800"/>
            <a:ext cx="658368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Merci. Questionnaire d'évaluation, puis je reste pour vos questions.</a:t>
            </a:r>
            <a:endParaRPr lang="en-US" sz="1400" dirty="0"/>
          </a:p>
        </p:txBody>
      </p:sp>
      <p:sp>
        <p:nvSpPr>
          <p:cNvPr id="6" name="Shape 4"/>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7"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96</Slides>
  <Notes>96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96</vt:i4>
      </vt:variant>
    </vt:vector>
  </HeadingPairs>
  <TitlesOfParts>
    <vt:vector size="9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Formation Prometheus &amp; Grafana</dc:title>
  <dc:subject>PptxGenJS Presentation</dc:subject>
  <dc:creator>Yohan Parent</dc:creator>
  <cp:lastModifiedBy>Yohan Parent</cp:lastModifiedBy>
  <cp:revision>1</cp:revision>
  <dcterms:created xsi:type="dcterms:W3CDTF">2026-09-26T08:13:33Z</dcterms:created>
  <dcterms:modified xsi:type="dcterms:W3CDTF">2026-09-26T08:13:33Z</dcterms:modified>
</cp:coreProperties>
</file>